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5119" r:id="rId2"/>
  </p:sldMasterIdLst>
  <p:notesMasterIdLst>
    <p:notesMasterId r:id="rId5"/>
  </p:notesMasterIdLst>
  <p:handoutMasterIdLst>
    <p:handoutMasterId r:id="rId6"/>
  </p:handoutMasterIdLst>
  <p:sldIdLst>
    <p:sldId id="6099" r:id="rId3"/>
    <p:sldId id="6100" r:id="rId4"/>
  </p:sldIdLst>
  <p:sldSz cx="9906000" cy="6858000" type="A4"/>
  <p:notesSz cx="6889750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1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8" userDrawn="1">
          <p15:clr>
            <a:srgbClr val="A4A3A4"/>
          </p15:clr>
        </p15:guide>
        <p15:guide id="2" pos="217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oy Onyenucheya Duru" initials="AD" lastIdx="2" clrIdx="0">
    <p:extLst>
      <p:ext uri="{19B8F6BF-5375-455C-9EA6-DF929625EA0E}">
        <p15:presenceInfo xmlns:p15="http://schemas.microsoft.com/office/powerpoint/2012/main" userId="6ba0ebf28dc85d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66FF66"/>
    <a:srgbClr val="00CC66"/>
    <a:srgbClr val="0033CC"/>
    <a:srgbClr val="33CC33"/>
    <a:srgbClr val="00CCFF"/>
    <a:srgbClr val="0000FF"/>
    <a:srgbClr val="00FF00"/>
    <a:srgbClr val="E46D0A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77" autoAdjust="0"/>
    <p:restoredTop sz="96374" autoAdjust="0"/>
  </p:normalViewPr>
  <p:slideViewPr>
    <p:cSldViewPr>
      <p:cViewPr>
        <p:scale>
          <a:sx n="110" d="100"/>
          <a:sy n="110" d="100"/>
        </p:scale>
        <p:origin x="60" y="-804"/>
      </p:cViewPr>
      <p:guideLst>
        <p:guide orient="horz" pos="2928"/>
        <p:guide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-1908" y="-114"/>
      </p:cViewPr>
      <p:guideLst>
        <p:guide orient="horz" pos="3158"/>
        <p:guide pos="217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7"/>
            <a:ext cx="2985735" cy="501498"/>
          </a:xfrm>
          <a:prstGeom prst="rect">
            <a:avLst/>
          </a:prstGeom>
        </p:spPr>
        <p:txBody>
          <a:bodyPr vert="horz" lIns="97502" tIns="48753" rIns="97502" bIns="48753" rtlCol="0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04017" y="7"/>
            <a:ext cx="2984974" cy="501498"/>
          </a:xfrm>
          <a:prstGeom prst="rect">
            <a:avLst/>
          </a:prstGeom>
        </p:spPr>
        <p:txBody>
          <a:bodyPr vert="horz" lIns="97502" tIns="48753" rIns="97502" bIns="48753" rtlCol="0"/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fld id="{DA6A9BA0-8116-4984-B8E9-319203FA6887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7222"/>
            <a:ext cx="2985735" cy="499892"/>
          </a:xfrm>
          <a:prstGeom prst="rect">
            <a:avLst/>
          </a:prstGeom>
        </p:spPr>
        <p:txBody>
          <a:bodyPr vert="horz" lIns="97502" tIns="48753" rIns="97502" bIns="48753" rtlCol="0" anchor="b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04017" y="9517222"/>
            <a:ext cx="2984974" cy="499892"/>
          </a:xfrm>
          <a:prstGeom prst="rect">
            <a:avLst/>
          </a:prstGeom>
        </p:spPr>
        <p:txBody>
          <a:bodyPr vert="horz" wrap="square" lIns="97502" tIns="48753" rIns="97502" bIns="48753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FF9B5D4-56B2-439A-9498-E370F02DC8EF}" type="slidenum">
              <a:rPr lang="en-US" altLang="af-ZA"/>
              <a:pPr>
                <a:defRPr/>
              </a:pPr>
              <a:t>‹#›</a:t>
            </a:fld>
            <a:endParaRPr lang="en-US" altLang="af-ZA"/>
          </a:p>
        </p:txBody>
      </p:sp>
    </p:spTree>
    <p:extLst>
      <p:ext uri="{BB962C8B-B14F-4D97-AF65-F5344CB8AC3E}">
        <p14:creationId xmlns:p14="http://schemas.microsoft.com/office/powerpoint/2010/main" val="296259282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7"/>
            <a:ext cx="2985735" cy="501498"/>
          </a:xfrm>
          <a:prstGeom prst="rect">
            <a:avLst/>
          </a:prstGeom>
        </p:spPr>
        <p:txBody>
          <a:bodyPr vert="horz" lIns="100283" tIns="50139" rIns="100283" bIns="50139" rtlCol="0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4017" y="7"/>
            <a:ext cx="2984974" cy="501498"/>
          </a:xfrm>
          <a:prstGeom prst="rect">
            <a:avLst/>
          </a:prstGeom>
        </p:spPr>
        <p:txBody>
          <a:bodyPr vert="horz" lIns="100283" tIns="50139" rIns="100283" bIns="50139" rtlCol="0"/>
          <a:lstStyle>
            <a:lvl1pPr algn="r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fld id="{4ACF7FB0-FBF9-4CE8-B811-78FAB35905FB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7075" y="747713"/>
            <a:ext cx="5435600" cy="3763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3" tIns="50139" rIns="100283" bIns="5013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377" y="4757012"/>
            <a:ext cx="5515001" cy="4508661"/>
          </a:xfrm>
          <a:prstGeom prst="rect">
            <a:avLst/>
          </a:prstGeom>
        </p:spPr>
        <p:txBody>
          <a:bodyPr vert="horz" lIns="100283" tIns="50139" rIns="100283" bIns="50139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517222"/>
            <a:ext cx="2985735" cy="499892"/>
          </a:xfrm>
          <a:prstGeom prst="rect">
            <a:avLst/>
          </a:prstGeom>
        </p:spPr>
        <p:txBody>
          <a:bodyPr vert="horz" lIns="100283" tIns="50139" rIns="100283" bIns="50139" rtlCol="0" anchor="b"/>
          <a:lstStyle>
            <a:lvl1pPr algn="l" eaLnBrk="1" hangingPunct="1">
              <a:defRPr sz="1200"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4017" y="9517222"/>
            <a:ext cx="2984974" cy="499892"/>
          </a:xfrm>
          <a:prstGeom prst="rect">
            <a:avLst/>
          </a:prstGeom>
        </p:spPr>
        <p:txBody>
          <a:bodyPr vert="horz" wrap="square" lIns="100283" tIns="50139" rIns="100283" bIns="50139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7049CE5-3B1C-49F9-8E74-8222B4BAA423}" type="slidenum">
              <a:rPr lang="en-US" altLang="af-ZA"/>
              <a:pPr>
                <a:defRPr/>
              </a:pPr>
              <a:t>‹#›</a:t>
            </a:fld>
            <a:endParaRPr lang="en-US" altLang="af-ZA"/>
          </a:p>
        </p:txBody>
      </p:sp>
    </p:spTree>
    <p:extLst>
      <p:ext uri="{BB962C8B-B14F-4D97-AF65-F5344CB8AC3E}">
        <p14:creationId xmlns:p14="http://schemas.microsoft.com/office/powerpoint/2010/main" val="229508550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6139B-F89F-98A4-DCFD-B0BFBA4F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3E81D90D-460D-606E-8AC4-A91FA83DC73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87425" y="698500"/>
            <a:ext cx="5086350" cy="3522663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NG"/>
          </a:p>
        </p:txBody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301A971E-E1F6-922C-1F04-06641C130C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7B727B66-E2DF-A050-81B4-F32C9341C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1pPr>
            <a:lvl2pPr marL="504738" indent="-193464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2pPr>
            <a:lvl3pPr marL="777102" indent="-154557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3pPr>
            <a:lvl4pPr marL="1088373" indent="-154557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4pPr>
            <a:lvl5pPr marL="1399647" indent="-154557" eaLnBrk="0" hangingPunct="0">
              <a:spcBef>
                <a:spcPct val="30000"/>
              </a:spcBef>
              <a:defRPr sz="800">
                <a:solidFill>
                  <a:schemeClr val="tx1"/>
                </a:solidFill>
                <a:latin typeface="Calibri" pitchFamily="34" charset="0"/>
              </a:defRPr>
            </a:lvl5pPr>
            <a:lvl6pPr marL="1710919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6pPr>
            <a:lvl7pPr marL="2022192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7pPr>
            <a:lvl8pPr marL="2333465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8pPr>
            <a:lvl9pPr marL="2644738" indent="-154557" eaLnBrk="0" fontAlgn="base" hangingPunct="0">
              <a:spcBef>
                <a:spcPct val="3000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924001" eaLnBrk="1" hangingPunct="1">
              <a:spcBef>
                <a:spcPct val="0"/>
              </a:spcBef>
              <a:defRPr/>
            </a:pPr>
            <a:fld id="{ABB3E405-46A8-4C8D-A825-12F1859414F7}" type="slidenum">
              <a:rPr lang="en-US" altLang="en-US" sz="1200">
                <a:solidFill>
                  <a:prstClr val="black"/>
                </a:solidFill>
              </a:rPr>
              <a:pPr defTabSz="924001" eaLnBrk="1" hangingPunct="1">
                <a:spcBef>
                  <a:spcPct val="0"/>
                </a:spcBef>
                <a:defRPr/>
              </a:pPr>
              <a:t>1</a:t>
            </a:fld>
            <a:endParaRPr lang="en-US" altLang="en-US" sz="12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20226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95327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6CF5B-393C-41C0-AFBD-BC7617FF43D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C878C-99D2-496D-92AB-40B6E732F7F9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C4CFD-B2B0-4359-AE1B-178C2A027A2C}"/>
              </a:ext>
            </a:extLst>
          </p:cNvPr>
          <p:cNvSpPr/>
          <p:nvPr userDrawn="1"/>
        </p:nvSpPr>
        <p:spPr>
          <a:xfrm>
            <a:off x="0" y="6438900"/>
            <a:ext cx="1427232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72AA2-BB7F-4C17-AD28-9CB0AF5FE2EB}"/>
              </a:ext>
            </a:extLst>
          </p:cNvPr>
          <p:cNvSpPr/>
          <p:nvPr userDrawn="1"/>
        </p:nvSpPr>
        <p:spPr>
          <a:xfrm>
            <a:off x="8436486" y="6438900"/>
            <a:ext cx="1469513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0C01F-3B09-47DB-B297-CDDF80762CC6}"/>
              </a:ext>
            </a:extLst>
          </p:cNvPr>
          <p:cNvSpPr/>
          <p:nvPr userDrawn="1"/>
        </p:nvSpPr>
        <p:spPr>
          <a:xfrm>
            <a:off x="1427232" y="6438900"/>
            <a:ext cx="7009255" cy="4191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EA-DSV-BFPCL-GGPL-FEED-PSE-SCH-01-R01 – BFD Scope Definition 20May2026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to Gas Hub / Gas Processing Plant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69DA843-84F5-4266-A74D-EB6481813C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82100" y="6464969"/>
            <a:ext cx="647700" cy="318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6A705C3-FEDB-4658-A946-EC4C552B76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200" y="6518217"/>
            <a:ext cx="461682" cy="248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C73DE7-25BF-49C8-A7F7-4EF07F4BAB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02" y="6502990"/>
            <a:ext cx="643998" cy="282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C7435B-CEE7-4F7B-BF49-9072162146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87" y="6536394"/>
            <a:ext cx="647700" cy="24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9572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B91F39-E015-428F-9D3D-3E0009643C2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F7381-FC93-438D-8E2F-B296E72095B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FA4E1-C083-47D3-8D18-E77C8A5D9168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DF3D-3E89-460C-84B6-B69F42C7D9E5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CE752-D7CC-460B-824E-C81211AE369F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EA-BFPCL-GPMC-GGPL-FEED-PSE-SCH-01-R01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28DDA4-8353-4D9D-AD4C-DEAFABDFEF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BD66319-1353-42D6-86F4-BCC3DAC8A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205848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F4EABE-4CE4-AFB3-5F79-317E5C926526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4DD22-1D70-0D10-C442-6E4FE2CEB0D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CD570-020A-3F62-CAFB-B2BBE40C43BF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D950F0-9668-F0D5-5FC2-37B0710B163F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2E863-3343-6BDB-5D9C-6F195CE35F19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EA-BFPCL-GPMC-GGPL-FEED-PSE-SCH-02-R01 – 04 Feb 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 err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Oknu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</a:t>
            </a:r>
            <a:r>
              <a:rPr lang="en-US" altLang="en-US" sz="1200" b="1" baseline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&amp; Phase-1 </a:t>
            </a:r>
            <a:r>
              <a:rPr lang="en-US" altLang="en-US" sz="1200" b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06F27-5082-A2A9-EEB6-4E90A7DA73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0EA4655-34F8-208D-00BF-E516FAB08E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5683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466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7122CA52-1BE2-402B-B6D1-38FE073023E3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107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AE6886FB-CE90-4888-94FA-B66D4269A915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014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39D172E7-E362-4458-90A3-73219F4FDDFC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822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7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27921E71-378B-4A1E-B96E-9204A43CA5B0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153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4" indent="0">
              <a:buNone/>
              <a:defRPr sz="2800"/>
            </a:lvl2pPr>
            <a:lvl3pPr marL="914406" indent="0">
              <a:buNone/>
              <a:defRPr sz="2399"/>
            </a:lvl3pPr>
            <a:lvl4pPr marL="1371608" indent="0">
              <a:buNone/>
              <a:defRPr sz="2000"/>
            </a:lvl4pPr>
            <a:lvl5pPr marL="1828812" indent="0">
              <a:buNone/>
              <a:defRPr sz="2000"/>
            </a:lvl5pPr>
            <a:lvl6pPr marL="2286014" indent="0">
              <a:buNone/>
              <a:defRPr sz="2000"/>
            </a:lvl6pPr>
            <a:lvl7pPr marL="2743217" indent="0">
              <a:buNone/>
              <a:defRPr sz="2000"/>
            </a:lvl7pPr>
            <a:lvl8pPr marL="3200420" indent="0">
              <a:buNone/>
              <a:defRPr sz="2000"/>
            </a:lvl8pPr>
            <a:lvl9pPr marL="3657622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9EA1AF58-C82A-473D-85EE-2B357B1A6587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17202008-DE3D-41CD-B274-792BE8345197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07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DE90C324-728B-4F80-B8CD-5FAEEA68E6F5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lIns="127993" tIns="63997" rIns="127993" bIns="6399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lIns="127993" tIns="63997" rIns="127993" bIns="63997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60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56CF5B-393C-41C0-AFBD-BC7617FF43D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3C878C-99D2-496D-92AB-40B6E732F7F9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CC4CFD-B2B0-4359-AE1B-178C2A027A2C}"/>
              </a:ext>
            </a:extLst>
          </p:cNvPr>
          <p:cNvSpPr/>
          <p:nvPr userDrawn="1"/>
        </p:nvSpPr>
        <p:spPr>
          <a:xfrm>
            <a:off x="0" y="6438900"/>
            <a:ext cx="1427232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D72AA2-BB7F-4C17-AD28-9CB0AF5FE2EB}"/>
              </a:ext>
            </a:extLst>
          </p:cNvPr>
          <p:cNvSpPr/>
          <p:nvPr userDrawn="1"/>
        </p:nvSpPr>
        <p:spPr>
          <a:xfrm>
            <a:off x="8436486" y="6438900"/>
            <a:ext cx="1469513" cy="419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E0C01F-3B09-47DB-B297-CDDF80762CC6}"/>
              </a:ext>
            </a:extLst>
          </p:cNvPr>
          <p:cNvSpPr/>
          <p:nvPr userDrawn="1"/>
        </p:nvSpPr>
        <p:spPr>
          <a:xfrm>
            <a:off x="1427232" y="6438900"/>
            <a:ext cx="7009255" cy="419100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EA-DSV-BFPCL-GGPL-FEED-PSE-SCH-01-R01 – BFD Scope Definition 20May2026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to Gas Hub / Gas Processing Plant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F69DA843-84F5-4266-A74D-EB6481813C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82100" y="6464969"/>
            <a:ext cx="647700" cy="3181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6A705C3-FEDB-4658-A946-EC4C552B76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200" y="6518217"/>
            <a:ext cx="461682" cy="248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C73DE7-25BF-49C8-A7F7-4EF07F4BAB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02" y="6502990"/>
            <a:ext cx="643998" cy="282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C7435B-CEE7-4F7B-BF49-9072162146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87" y="6536394"/>
            <a:ext cx="647700" cy="246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311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B91F39-E015-428F-9D3D-3E0009643C21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F7381-FC93-438D-8E2F-B296E72095B0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6FA4E1-C083-47D3-8D18-E77C8A5D9168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CDF3D-3E89-460C-84B6-B69F42C7D9E5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4CE752-D7CC-460B-824E-C81211AE369F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EA-BFPCL-GPMC-GGPL-FEED-PSE-SCH-01-R01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Wellhead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28DDA4-8353-4D9D-AD4C-DEAFABDFEF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BD66319-1353-42D6-86F4-BCC3DAC8AF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2258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5F4EABE-4CE4-AFB3-5F79-317E5C926526}"/>
              </a:ext>
            </a:extLst>
          </p:cNvPr>
          <p:cNvSpPr/>
          <p:nvPr userDrawn="1"/>
        </p:nvSpPr>
        <p:spPr>
          <a:xfrm>
            <a:off x="0" y="0"/>
            <a:ext cx="9906000" cy="1143000"/>
          </a:xfrm>
          <a:prstGeom prst="rect">
            <a:avLst/>
          </a:prstGeom>
          <a:noFill/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4DD22-1D70-0D10-C442-6E4FE2CEB0D7}"/>
              </a:ext>
            </a:extLst>
          </p:cNvPr>
          <p:cNvSpPr/>
          <p:nvPr userDrawn="1"/>
        </p:nvSpPr>
        <p:spPr>
          <a:xfrm>
            <a:off x="0" y="0"/>
            <a:ext cx="9906000" cy="68580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ECD570-020A-3F62-CAFB-B2BBE40C43BF}"/>
              </a:ext>
            </a:extLst>
          </p:cNvPr>
          <p:cNvSpPr/>
          <p:nvPr userDrawn="1"/>
        </p:nvSpPr>
        <p:spPr>
          <a:xfrm>
            <a:off x="0" y="6438900"/>
            <a:ext cx="1073150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D950F0-9668-F0D5-5FC2-37B0710B163F}"/>
              </a:ext>
            </a:extLst>
          </p:cNvPr>
          <p:cNvSpPr/>
          <p:nvPr userDrawn="1"/>
        </p:nvSpPr>
        <p:spPr>
          <a:xfrm>
            <a:off x="8791577" y="6438900"/>
            <a:ext cx="1114425" cy="419100"/>
          </a:xfrm>
          <a:prstGeom prst="rect">
            <a:avLst/>
          </a:prstGeom>
          <a:noFill/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02E863-3343-6BDB-5D9C-6F195CE35F19}"/>
              </a:ext>
            </a:extLst>
          </p:cNvPr>
          <p:cNvSpPr/>
          <p:nvPr userDrawn="1"/>
        </p:nvSpPr>
        <p:spPr>
          <a:xfrm>
            <a:off x="1073152" y="6438900"/>
            <a:ext cx="7718425" cy="419100"/>
          </a:xfrm>
          <a:prstGeom prst="rect">
            <a:avLst/>
          </a:prstGeom>
          <a:solidFill>
            <a:srgbClr val="99FF33"/>
          </a:solidFill>
          <a:ln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EA-BFPCL-GPMC-GGPL-FEED-PSE-SCH-02-R01 – 04 Feb 2026</a:t>
            </a:r>
          </a:p>
          <a:p>
            <a:pPr marL="0" marR="0" indent="0" algn="ctr" defTabSz="91440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b="1" baseline="0" dirty="0" err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Oknu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</a:t>
            </a:r>
            <a:r>
              <a:rPr lang="en-US" altLang="en-US" sz="1200" b="1" baseline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&amp; Phase-1 </a:t>
            </a:r>
            <a:r>
              <a:rPr lang="en-US" altLang="en-US" sz="1200" b="1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Gas </a:t>
            </a:r>
            <a:r>
              <a:rPr lang="en-US" altLang="en-US" sz="1200" b="1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Gathering</a:t>
            </a:r>
            <a:r>
              <a:rPr lang="en-US" altLang="en-US" sz="1200" b="1" baseline="0" dirty="0">
                <a:solidFill>
                  <a:schemeClr val="tx1"/>
                </a:solidFill>
                <a:latin typeface="Futura Md"/>
                <a:cs typeface="Times New Roman" panose="02020603050405020304" pitchFamily="18" charset="0"/>
              </a:rPr>
              <a:t> Schematics &amp; Flow Parameters to Gas Processing Plant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B06F27-5082-A2A9-EEB6-4E90A7DA73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7951" y="6469069"/>
            <a:ext cx="800100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C0EA4655-34F8-208D-00BF-E516FAB08E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86176" y="6462329"/>
            <a:ext cx="643477" cy="346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29489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530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5550" y="1600206"/>
            <a:ext cx="437515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399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10281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301" y="1535113"/>
            <a:ext cx="437687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399" b="1"/>
            </a:lvl1pPr>
            <a:lvl2pPr marL="457204" indent="0">
              <a:buNone/>
              <a:defRPr sz="2000" b="1"/>
            </a:lvl2pPr>
            <a:lvl3pPr marL="914406" indent="0">
              <a:buNone/>
              <a:defRPr sz="1800" b="1"/>
            </a:lvl3pPr>
            <a:lvl4pPr marL="1371608" indent="0">
              <a:buNone/>
              <a:defRPr sz="1600" b="1"/>
            </a:lvl4pPr>
            <a:lvl5pPr marL="1828812" indent="0">
              <a:buNone/>
              <a:defRPr sz="1600" b="1"/>
            </a:lvl5pPr>
            <a:lvl6pPr marL="2286014" indent="0">
              <a:buNone/>
              <a:defRPr sz="1600" b="1"/>
            </a:lvl6pPr>
            <a:lvl7pPr marL="2743217" indent="0">
              <a:buNone/>
              <a:defRPr sz="1600" b="1"/>
            </a:lvl7pPr>
            <a:lvl8pPr marL="3200420" indent="0">
              <a:buNone/>
              <a:defRPr sz="1600" b="1"/>
            </a:lvl8pPr>
            <a:lvl9pPr marL="3657622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  <a:prstGeom prst="rect">
            <a:avLst/>
          </a:prstGeom>
        </p:spPr>
        <p:txBody>
          <a:bodyPr/>
          <a:lstStyle>
            <a:lvl1pPr>
              <a:defRPr sz="2399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7122CA52-1BE2-402B-B6D1-38FE073023E3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67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AE6886FB-CE90-4888-94FA-B66D4269A915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44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39D172E7-E362-4458-90A3-73219F4FDDFC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536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2971" y="273057"/>
            <a:ext cx="5537729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99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" y="1435103"/>
            <a:ext cx="3259006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27921E71-378B-4A1E-B96E-9204A43CA5B0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891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4" indent="0">
              <a:buNone/>
              <a:defRPr sz="2800"/>
            </a:lvl2pPr>
            <a:lvl3pPr marL="914406" indent="0">
              <a:buNone/>
              <a:defRPr sz="2399"/>
            </a:lvl3pPr>
            <a:lvl4pPr marL="1371608" indent="0">
              <a:buNone/>
              <a:defRPr sz="2000"/>
            </a:lvl4pPr>
            <a:lvl5pPr marL="1828812" indent="0">
              <a:buNone/>
              <a:defRPr sz="2000"/>
            </a:lvl5pPr>
            <a:lvl6pPr marL="2286014" indent="0">
              <a:buNone/>
              <a:defRPr sz="2000"/>
            </a:lvl6pPr>
            <a:lvl7pPr marL="2743217" indent="0">
              <a:buNone/>
              <a:defRPr sz="2000"/>
            </a:lvl7pPr>
            <a:lvl8pPr marL="3200420" indent="0">
              <a:buNone/>
              <a:defRPr sz="2000"/>
            </a:lvl8pPr>
            <a:lvl9pPr marL="3657622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4" indent="0">
              <a:buNone/>
              <a:defRPr sz="1200"/>
            </a:lvl2pPr>
            <a:lvl3pPr marL="914406" indent="0">
              <a:buNone/>
              <a:defRPr sz="1000"/>
            </a:lvl3pPr>
            <a:lvl4pPr marL="1371608" indent="0">
              <a:buNone/>
              <a:defRPr sz="900"/>
            </a:lvl4pPr>
            <a:lvl5pPr marL="1828812" indent="0">
              <a:buNone/>
              <a:defRPr sz="900"/>
            </a:lvl5pPr>
            <a:lvl6pPr marL="2286014" indent="0">
              <a:buNone/>
              <a:defRPr sz="900"/>
            </a:lvl6pPr>
            <a:lvl7pPr marL="2743217" indent="0">
              <a:buNone/>
              <a:defRPr sz="900"/>
            </a:lvl7pPr>
            <a:lvl8pPr marL="3200420" indent="0">
              <a:buNone/>
              <a:defRPr sz="900"/>
            </a:lvl8pPr>
            <a:lvl9pPr marL="3657622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9EA1AF58-C82A-473D-85EE-2B357B1A6587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635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17202008-DE3D-41CD-B274-792BE8345197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39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95300" y="6356356"/>
            <a:ext cx="2311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fld id="{DE90C324-728B-4F80-B8CD-5FAEEA68E6F5}" type="datetimeFigureOut">
              <a:rPr lang="en-US"/>
              <a:pPr>
                <a:defRPr/>
              </a:pPr>
              <a:t>5/23/2026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84550" y="6356356"/>
            <a:ext cx="31369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992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lIns="127993" tIns="63997" rIns="127993" bIns="63997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lIns="127993" tIns="63997" rIns="127993" bIns="63997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489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5107" r:id="rId1"/>
    <p:sldLayoutId id="2147485108" r:id="rId2"/>
    <p:sldLayoutId id="2147485109" r:id="rId3"/>
    <p:sldLayoutId id="2147485110" r:id="rId4"/>
    <p:sldLayoutId id="2147485111" r:id="rId5"/>
    <p:sldLayoutId id="2147485112" r:id="rId6"/>
    <p:sldLayoutId id="2147485113" r:id="rId7"/>
    <p:sldLayoutId id="2147485114" r:id="rId8"/>
    <p:sldLayoutId id="2147485115" r:id="rId9"/>
    <p:sldLayoutId id="2147485116" r:id="rId10"/>
    <p:sldLayoutId id="2147485117" r:id="rId11"/>
    <p:sldLayoutId id="2147485118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5pPr>
      <a:lvl6pPr marL="457204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6pPr>
      <a:lvl7pPr marL="914406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7pPr>
      <a:lvl8pPr marL="1371608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8pPr>
      <a:lvl9pPr marL="1828812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9pPr>
    </p:titleStyle>
    <p:bodyStyle>
      <a:lvl1pPr marL="342901" indent="-34290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5" indent="-28575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6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0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3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6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1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4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7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7136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0" r:id="rId1"/>
    <p:sldLayoutId id="2147485121" r:id="rId2"/>
    <p:sldLayoutId id="2147485122" r:id="rId3"/>
    <p:sldLayoutId id="2147485123" r:id="rId4"/>
    <p:sldLayoutId id="2147485124" r:id="rId5"/>
    <p:sldLayoutId id="2147485125" r:id="rId6"/>
    <p:sldLayoutId id="2147485126" r:id="rId7"/>
    <p:sldLayoutId id="2147485127" r:id="rId8"/>
    <p:sldLayoutId id="2147485128" r:id="rId9"/>
    <p:sldLayoutId id="2147485129" r:id="rId10"/>
    <p:sldLayoutId id="2147485130" r:id="rId11"/>
    <p:sldLayoutId id="2147485131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5pPr>
      <a:lvl6pPr marL="457204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6pPr>
      <a:lvl7pPr marL="914406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7pPr>
      <a:lvl8pPr marL="1371608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8pPr>
      <a:lvl9pPr marL="1828812" algn="ctr" rtl="0" fontAlgn="base">
        <a:spcBef>
          <a:spcPct val="0"/>
        </a:spcBef>
        <a:spcAft>
          <a:spcPct val="0"/>
        </a:spcAft>
        <a:defRPr sz="4401">
          <a:solidFill>
            <a:schemeClr val="tx1"/>
          </a:solidFill>
          <a:latin typeface="Calibri" pitchFamily="34" charset="0"/>
        </a:defRPr>
      </a:lvl9pPr>
    </p:titleStyle>
    <p:bodyStyle>
      <a:lvl1pPr marL="342901" indent="-342901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5" indent="-28575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6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10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3" indent="-22860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6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9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21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4" indent="-228602" algn="l" defTabSz="914406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8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4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7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0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2" algn="l" defTabSz="91440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CDBDC-C0F7-DCF9-9C76-6387AAB48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39CA60B-9017-BD5E-744E-ECE42B0C975F}"/>
              </a:ext>
            </a:extLst>
          </p:cNvPr>
          <p:cNvGrpSpPr/>
          <p:nvPr/>
        </p:nvGrpSpPr>
        <p:grpSpPr>
          <a:xfrm>
            <a:off x="3465661" y="3990023"/>
            <a:ext cx="64298" cy="196603"/>
            <a:chOff x="559898" y="2830538"/>
            <a:chExt cx="64298" cy="196603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F08F35EB-A109-268E-5B79-31BE64BBDEE9}"/>
                </a:ext>
              </a:extLst>
            </p:cNvPr>
            <p:cNvCxnSpPr/>
            <p:nvPr/>
          </p:nvCxnSpPr>
          <p:spPr bwMode="auto">
            <a:xfrm flipV="1">
              <a:off x="595756" y="2884944"/>
              <a:ext cx="0" cy="1421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5107427-05C6-78E6-50C7-CC6BA562A835}"/>
                </a:ext>
              </a:extLst>
            </p:cNvPr>
            <p:cNvSpPr/>
            <p:nvPr/>
          </p:nvSpPr>
          <p:spPr bwMode="auto">
            <a:xfrm>
              <a:off x="559898" y="2830538"/>
              <a:ext cx="64298" cy="593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633D52E-2C78-EC77-6377-B94DEBC9A7F0}"/>
              </a:ext>
            </a:extLst>
          </p:cNvPr>
          <p:cNvGrpSpPr/>
          <p:nvPr/>
        </p:nvGrpSpPr>
        <p:grpSpPr>
          <a:xfrm>
            <a:off x="3582670" y="3990023"/>
            <a:ext cx="64298" cy="196603"/>
            <a:chOff x="559898" y="2830538"/>
            <a:chExt cx="64298" cy="196603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778BDE8-6F02-D96E-D060-D24C9ABC4FE3}"/>
                </a:ext>
              </a:extLst>
            </p:cNvPr>
            <p:cNvCxnSpPr/>
            <p:nvPr/>
          </p:nvCxnSpPr>
          <p:spPr bwMode="auto">
            <a:xfrm flipV="1">
              <a:off x="595756" y="2884944"/>
              <a:ext cx="0" cy="1421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9D8207D-730D-F4D6-35EB-92CEB1C5DB75}"/>
                </a:ext>
              </a:extLst>
            </p:cNvPr>
            <p:cNvSpPr/>
            <p:nvPr/>
          </p:nvSpPr>
          <p:spPr bwMode="auto">
            <a:xfrm>
              <a:off x="559898" y="2830538"/>
              <a:ext cx="64298" cy="593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524A07F-42DF-EAF5-A9D4-6A6B1CAA3836}"/>
              </a:ext>
            </a:extLst>
          </p:cNvPr>
          <p:cNvGrpSpPr/>
          <p:nvPr/>
        </p:nvGrpSpPr>
        <p:grpSpPr>
          <a:xfrm>
            <a:off x="3695344" y="3990023"/>
            <a:ext cx="64298" cy="196603"/>
            <a:chOff x="559898" y="2830538"/>
            <a:chExt cx="64298" cy="196603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924AAE4-7377-DEE1-5AF5-3F28679F3F9E}"/>
                </a:ext>
              </a:extLst>
            </p:cNvPr>
            <p:cNvCxnSpPr/>
            <p:nvPr/>
          </p:nvCxnSpPr>
          <p:spPr bwMode="auto">
            <a:xfrm flipV="1">
              <a:off x="595756" y="2884944"/>
              <a:ext cx="0" cy="142197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33EF67D-3909-4D87-E678-EF4ED5C320DD}"/>
                </a:ext>
              </a:extLst>
            </p:cNvPr>
            <p:cNvSpPr/>
            <p:nvPr/>
          </p:nvSpPr>
          <p:spPr bwMode="auto">
            <a:xfrm>
              <a:off x="559898" y="2830538"/>
              <a:ext cx="64298" cy="59351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5D4F87-258B-2264-2B37-DF903F60483C}"/>
              </a:ext>
            </a:extLst>
          </p:cNvPr>
          <p:cNvGrpSpPr/>
          <p:nvPr/>
        </p:nvGrpSpPr>
        <p:grpSpPr>
          <a:xfrm>
            <a:off x="504371" y="783625"/>
            <a:ext cx="319984" cy="196612"/>
            <a:chOff x="703856" y="690494"/>
            <a:chExt cx="319984" cy="19661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8917145-93AB-201E-D584-8E57803AD62C}"/>
                </a:ext>
              </a:extLst>
            </p:cNvPr>
            <p:cNvGrpSpPr/>
            <p:nvPr/>
          </p:nvGrpSpPr>
          <p:grpSpPr>
            <a:xfrm>
              <a:off x="825906" y="695043"/>
              <a:ext cx="64298" cy="185474"/>
              <a:chOff x="838200" y="635906"/>
              <a:chExt cx="64298" cy="185474"/>
            </a:xfrm>
          </p:grpSpPr>
          <p:cxnSp>
            <p:nvCxnSpPr>
              <p:cNvPr id="9307" name="Straight Connector 9306">
                <a:extLst>
                  <a:ext uri="{FF2B5EF4-FFF2-40B4-BE49-F238E27FC236}">
                    <a16:creationId xmlns:a16="http://schemas.microsoft.com/office/drawing/2014/main" id="{44EBC24B-4F36-D85C-7879-ABADA89C9EC3}"/>
                  </a:ext>
                </a:extLst>
              </p:cNvPr>
              <p:cNvCxnSpPr/>
              <p:nvPr/>
            </p:nvCxnSpPr>
            <p:spPr bwMode="auto">
              <a:xfrm flipV="1">
                <a:off x="867876" y="679183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09" name="Oval 9308">
                <a:extLst>
                  <a:ext uri="{FF2B5EF4-FFF2-40B4-BE49-F238E27FC236}">
                    <a16:creationId xmlns:a16="http://schemas.microsoft.com/office/drawing/2014/main" id="{A83A6C5B-EB68-BF2E-3A72-BCA91C69DC18}"/>
                  </a:ext>
                </a:extLst>
              </p:cNvPr>
              <p:cNvSpPr/>
              <p:nvPr/>
            </p:nvSpPr>
            <p:spPr bwMode="auto">
              <a:xfrm>
                <a:off x="838200" y="635906"/>
                <a:ext cx="64298" cy="5935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56DF1CF-F791-C755-7215-B5E0351278C3}"/>
                </a:ext>
              </a:extLst>
            </p:cNvPr>
            <p:cNvGrpSpPr/>
            <p:nvPr/>
          </p:nvGrpSpPr>
          <p:grpSpPr>
            <a:xfrm>
              <a:off x="959542" y="701632"/>
              <a:ext cx="64298" cy="185474"/>
              <a:chOff x="838200" y="635906"/>
              <a:chExt cx="64298" cy="185474"/>
            </a:xfrm>
          </p:grpSpPr>
          <p:cxnSp>
            <p:nvCxnSpPr>
              <p:cNvPr id="9304" name="Straight Connector 9303">
                <a:extLst>
                  <a:ext uri="{FF2B5EF4-FFF2-40B4-BE49-F238E27FC236}">
                    <a16:creationId xmlns:a16="http://schemas.microsoft.com/office/drawing/2014/main" id="{B13024CD-47EC-6DCC-50E1-507755CA8790}"/>
                  </a:ext>
                </a:extLst>
              </p:cNvPr>
              <p:cNvCxnSpPr/>
              <p:nvPr/>
            </p:nvCxnSpPr>
            <p:spPr bwMode="auto">
              <a:xfrm flipV="1">
                <a:off x="867876" y="679183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05" name="Oval 9304">
                <a:extLst>
                  <a:ext uri="{FF2B5EF4-FFF2-40B4-BE49-F238E27FC236}">
                    <a16:creationId xmlns:a16="http://schemas.microsoft.com/office/drawing/2014/main" id="{095FFBD9-261E-FFA2-3E18-EA21876BB234}"/>
                  </a:ext>
                </a:extLst>
              </p:cNvPr>
              <p:cNvSpPr/>
              <p:nvPr/>
            </p:nvSpPr>
            <p:spPr bwMode="auto">
              <a:xfrm>
                <a:off x="838200" y="635906"/>
                <a:ext cx="64298" cy="5935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grpSp>
          <p:nvGrpSpPr>
            <p:cNvPr id="9284" name="Group 9283">
              <a:extLst>
                <a:ext uri="{FF2B5EF4-FFF2-40B4-BE49-F238E27FC236}">
                  <a16:creationId xmlns:a16="http://schemas.microsoft.com/office/drawing/2014/main" id="{84D89784-13B7-AE76-2946-CE13F5730FBC}"/>
                </a:ext>
              </a:extLst>
            </p:cNvPr>
            <p:cNvGrpSpPr/>
            <p:nvPr/>
          </p:nvGrpSpPr>
          <p:grpSpPr>
            <a:xfrm>
              <a:off x="703856" y="690494"/>
              <a:ext cx="64298" cy="185474"/>
              <a:chOff x="838200" y="635906"/>
              <a:chExt cx="64298" cy="185474"/>
            </a:xfrm>
          </p:grpSpPr>
          <p:cxnSp>
            <p:nvCxnSpPr>
              <p:cNvPr id="9298" name="Straight Connector 9297">
                <a:extLst>
                  <a:ext uri="{FF2B5EF4-FFF2-40B4-BE49-F238E27FC236}">
                    <a16:creationId xmlns:a16="http://schemas.microsoft.com/office/drawing/2014/main" id="{C70C3032-8B2C-0E5F-9ADB-5A7397261213}"/>
                  </a:ext>
                </a:extLst>
              </p:cNvPr>
              <p:cNvCxnSpPr/>
              <p:nvPr/>
            </p:nvCxnSpPr>
            <p:spPr bwMode="auto">
              <a:xfrm flipV="1">
                <a:off x="867876" y="679183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299" name="Oval 9298">
                <a:extLst>
                  <a:ext uri="{FF2B5EF4-FFF2-40B4-BE49-F238E27FC236}">
                    <a16:creationId xmlns:a16="http://schemas.microsoft.com/office/drawing/2014/main" id="{75CFFF7C-396F-581F-788E-8B9FA4D49E85}"/>
                  </a:ext>
                </a:extLst>
              </p:cNvPr>
              <p:cNvSpPr/>
              <p:nvPr/>
            </p:nvSpPr>
            <p:spPr bwMode="auto">
              <a:xfrm>
                <a:off x="838200" y="635906"/>
                <a:ext cx="64298" cy="59352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9311" name="Straight Connector 9310">
            <a:extLst>
              <a:ext uri="{FF2B5EF4-FFF2-40B4-BE49-F238E27FC236}">
                <a16:creationId xmlns:a16="http://schemas.microsoft.com/office/drawing/2014/main" id="{A3C355F7-524E-273A-DFB6-F46F71D539E3}"/>
              </a:ext>
            </a:extLst>
          </p:cNvPr>
          <p:cNvCxnSpPr>
            <a:cxnSpLocks/>
          </p:cNvCxnSpPr>
          <p:nvPr/>
        </p:nvCxnSpPr>
        <p:spPr>
          <a:xfrm>
            <a:off x="3128769" y="4498385"/>
            <a:ext cx="252000" cy="0"/>
          </a:xfrm>
          <a:prstGeom prst="line">
            <a:avLst/>
          </a:prstGeom>
          <a:ln w="25400">
            <a:solidFill>
              <a:srgbClr val="00B05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EC455C0-4914-C5E2-2963-E00A413011ED}"/>
              </a:ext>
            </a:extLst>
          </p:cNvPr>
          <p:cNvCxnSpPr>
            <a:cxnSpLocks/>
          </p:cNvCxnSpPr>
          <p:nvPr/>
        </p:nvCxnSpPr>
        <p:spPr>
          <a:xfrm>
            <a:off x="4801672" y="4640938"/>
            <a:ext cx="1162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F8A2974-D2B8-9DA1-3D6B-071C0532904B}"/>
              </a:ext>
            </a:extLst>
          </p:cNvPr>
          <p:cNvCxnSpPr/>
          <p:nvPr/>
        </p:nvCxnSpPr>
        <p:spPr>
          <a:xfrm>
            <a:off x="4809378" y="4591739"/>
            <a:ext cx="1162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2355FC7-377C-5791-9A97-F7C30AB67E74}"/>
              </a:ext>
            </a:extLst>
          </p:cNvPr>
          <p:cNvCxnSpPr>
            <a:cxnSpLocks/>
          </p:cNvCxnSpPr>
          <p:nvPr/>
        </p:nvCxnSpPr>
        <p:spPr bwMode="auto">
          <a:xfrm>
            <a:off x="4852065" y="4648473"/>
            <a:ext cx="0" cy="72000"/>
          </a:xfrm>
          <a:prstGeom prst="line">
            <a:avLst/>
          </a:prstGeom>
          <a:ln w="31750">
            <a:solidFill>
              <a:srgbClr val="00B05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FFE8B09-44ED-E2C5-69CF-6A69E54FC3B8}"/>
              </a:ext>
            </a:extLst>
          </p:cNvPr>
          <p:cNvCxnSpPr>
            <a:cxnSpLocks/>
          </p:cNvCxnSpPr>
          <p:nvPr/>
        </p:nvCxnSpPr>
        <p:spPr bwMode="auto">
          <a:xfrm>
            <a:off x="4863639" y="4493493"/>
            <a:ext cx="0" cy="95440"/>
          </a:xfrm>
          <a:prstGeom prst="line">
            <a:avLst/>
          </a:prstGeom>
          <a:ln w="444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1DA7B9E-227F-7D44-118E-2D0C283A2016}"/>
              </a:ext>
            </a:extLst>
          </p:cNvPr>
          <p:cNvCxnSpPr/>
          <p:nvPr/>
        </p:nvCxnSpPr>
        <p:spPr bwMode="auto">
          <a:xfrm>
            <a:off x="4881054" y="4348595"/>
            <a:ext cx="0" cy="35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89DF688-0332-EAC3-A0D6-6D0C0461A120}"/>
              </a:ext>
            </a:extLst>
          </p:cNvPr>
          <p:cNvCxnSpPr/>
          <p:nvPr/>
        </p:nvCxnSpPr>
        <p:spPr bwMode="auto">
          <a:xfrm>
            <a:off x="4638701" y="4330050"/>
            <a:ext cx="0" cy="717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A9E93A87-4246-DCE7-7F61-339F9A00C13E}"/>
              </a:ext>
            </a:extLst>
          </p:cNvPr>
          <p:cNvSpPr>
            <a:spLocks/>
          </p:cNvSpPr>
          <p:nvPr/>
        </p:nvSpPr>
        <p:spPr bwMode="auto">
          <a:xfrm rot="16200000">
            <a:off x="4704511" y="4182722"/>
            <a:ext cx="276988" cy="411072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49CBF4F-724E-55C8-9C60-05860409A863}"/>
              </a:ext>
            </a:extLst>
          </p:cNvPr>
          <p:cNvCxnSpPr/>
          <p:nvPr/>
        </p:nvCxnSpPr>
        <p:spPr bwMode="auto">
          <a:xfrm>
            <a:off x="4637465" y="4253386"/>
            <a:ext cx="0" cy="766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56" name="TextBox 704">
            <a:extLst>
              <a:ext uri="{FF2B5EF4-FFF2-40B4-BE49-F238E27FC236}">
                <a16:creationId xmlns:a16="http://schemas.microsoft.com/office/drawing/2014/main" id="{36E0C467-9611-9CCA-C223-3AE9B09BB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6114" y="4227630"/>
            <a:ext cx="4358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ELEP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E-MF</a:t>
            </a:r>
          </a:p>
        </p:txBody>
      </p:sp>
      <p:sp>
        <p:nvSpPr>
          <p:cNvPr id="57" name="TextBox 156">
            <a:extLst>
              <a:ext uri="{FF2B5EF4-FFF2-40B4-BE49-F238E27FC236}">
                <a16:creationId xmlns:a16="http://schemas.microsoft.com/office/drawing/2014/main" id="{434DFF9D-9BA5-64D0-805C-EDC53059B8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5264" y="4718648"/>
            <a:ext cx="1103051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af-ZA" sz="700" u="sng" dirty="0">
                <a:solidFill>
                  <a:prstClr val="black"/>
                </a:solidFill>
                <a:latin typeface="Futura Std Book" panose="020B0502020204020303"/>
              </a:rPr>
              <a:t>30</a:t>
            </a:r>
            <a:r>
              <a:rPr kumimoji="0" lang="en-US" altLang="af-ZA" sz="7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’’ x 32km</a:t>
            </a:r>
          </a:p>
        </p:txBody>
      </p:sp>
      <p:sp>
        <p:nvSpPr>
          <p:cNvPr id="58" name="TextBox 155">
            <a:extLst>
              <a:ext uri="{FF2B5EF4-FFF2-40B4-BE49-F238E27FC236}">
                <a16:creationId xmlns:a16="http://schemas.microsoft.com/office/drawing/2014/main" id="{49C611F0-226C-824E-E134-0999A838EF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3397" y="4482492"/>
            <a:ext cx="876008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24” x 8km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22422E0-1329-40BF-FEB9-FB137DB6AD1A}"/>
              </a:ext>
            </a:extLst>
          </p:cNvPr>
          <p:cNvSpPr>
            <a:spLocks/>
          </p:cNvSpPr>
          <p:nvPr/>
        </p:nvSpPr>
        <p:spPr bwMode="auto">
          <a:xfrm rot="16200000">
            <a:off x="3470154" y="4335728"/>
            <a:ext cx="213930" cy="389120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37D3C81-4289-95CE-BD06-77C104767D2D}"/>
              </a:ext>
            </a:extLst>
          </p:cNvPr>
          <p:cNvCxnSpPr/>
          <p:nvPr/>
        </p:nvCxnSpPr>
        <p:spPr bwMode="auto">
          <a:xfrm>
            <a:off x="3596920" y="4377583"/>
            <a:ext cx="0" cy="395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B86DCD7-9B47-0A02-780E-06340453F2D2}"/>
              </a:ext>
            </a:extLst>
          </p:cNvPr>
          <p:cNvCxnSpPr/>
          <p:nvPr/>
        </p:nvCxnSpPr>
        <p:spPr bwMode="auto">
          <a:xfrm>
            <a:off x="3380769" y="4347908"/>
            <a:ext cx="0" cy="778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928192B-0D13-B033-D022-E1808F0EEB46}"/>
              </a:ext>
            </a:extLst>
          </p:cNvPr>
          <p:cNvSpPr>
            <a:spLocks/>
          </p:cNvSpPr>
          <p:nvPr/>
        </p:nvSpPr>
        <p:spPr bwMode="auto">
          <a:xfrm rot="16200000">
            <a:off x="3500841" y="4010088"/>
            <a:ext cx="154562" cy="392484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42D533C-1BFB-3070-A989-137BF5669EC3}"/>
              </a:ext>
            </a:extLst>
          </p:cNvPr>
          <p:cNvCxnSpPr/>
          <p:nvPr/>
        </p:nvCxnSpPr>
        <p:spPr bwMode="auto">
          <a:xfrm>
            <a:off x="3537142" y="4330596"/>
            <a:ext cx="1075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ADD3348-1934-7A3C-9241-43A7296F6897}"/>
              </a:ext>
            </a:extLst>
          </p:cNvPr>
          <p:cNvCxnSpPr/>
          <p:nvPr/>
        </p:nvCxnSpPr>
        <p:spPr bwMode="auto">
          <a:xfrm>
            <a:off x="3542035" y="4375110"/>
            <a:ext cx="10757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87" name="TextBox 133">
            <a:extLst>
              <a:ext uri="{FF2B5EF4-FFF2-40B4-BE49-F238E27FC236}">
                <a16:creationId xmlns:a16="http://schemas.microsoft.com/office/drawing/2014/main" id="{12504DF6-0752-8BDD-9B4E-E35D7E48D2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7764" y="4089775"/>
            <a:ext cx="45802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BBOU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0C90BCC6-D3ED-7D51-7573-FDD9D7BD8B07}"/>
              </a:ext>
            </a:extLst>
          </p:cNvPr>
          <p:cNvCxnSpPr>
            <a:cxnSpLocks/>
          </p:cNvCxnSpPr>
          <p:nvPr/>
        </p:nvCxnSpPr>
        <p:spPr bwMode="auto">
          <a:xfrm>
            <a:off x="3381881" y="4345434"/>
            <a:ext cx="389479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482C0726-3E92-6BB2-E095-F1E21E527B26}"/>
              </a:ext>
            </a:extLst>
          </p:cNvPr>
          <p:cNvCxnSpPr/>
          <p:nvPr/>
        </p:nvCxnSpPr>
        <p:spPr bwMode="auto">
          <a:xfrm>
            <a:off x="3771357" y="4347908"/>
            <a:ext cx="0" cy="778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D1954B99-9979-ACD0-F094-A418335E6202}"/>
              </a:ext>
            </a:extLst>
          </p:cNvPr>
          <p:cNvCxnSpPr/>
          <p:nvPr/>
        </p:nvCxnSpPr>
        <p:spPr bwMode="auto">
          <a:xfrm>
            <a:off x="3381088" y="4277426"/>
            <a:ext cx="0" cy="754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42AAC3B-9A00-8109-337C-60C4044503CD}"/>
              </a:ext>
            </a:extLst>
          </p:cNvPr>
          <p:cNvCxnSpPr/>
          <p:nvPr/>
        </p:nvCxnSpPr>
        <p:spPr bwMode="auto">
          <a:xfrm>
            <a:off x="3771675" y="4273721"/>
            <a:ext cx="0" cy="754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22498991-D425-798C-3B59-206C2ADB6789}"/>
              </a:ext>
            </a:extLst>
          </p:cNvPr>
          <p:cNvCxnSpPr/>
          <p:nvPr/>
        </p:nvCxnSpPr>
        <p:spPr>
          <a:xfrm>
            <a:off x="3591666" y="4279889"/>
            <a:ext cx="0" cy="43278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05" name="Group 655">
            <a:extLst>
              <a:ext uri="{FF2B5EF4-FFF2-40B4-BE49-F238E27FC236}">
                <a16:creationId xmlns:a16="http://schemas.microsoft.com/office/drawing/2014/main" id="{03FBE13B-6228-6FD9-F6C5-9C74A96C6A11}"/>
              </a:ext>
            </a:extLst>
          </p:cNvPr>
          <p:cNvGrpSpPr>
            <a:grpSpLocks/>
          </p:cNvGrpSpPr>
          <p:nvPr/>
        </p:nvGrpSpPr>
        <p:grpSpPr bwMode="auto">
          <a:xfrm>
            <a:off x="3687542" y="4221179"/>
            <a:ext cx="722271" cy="238311"/>
            <a:chOff x="7620000" y="2750561"/>
            <a:chExt cx="927305" cy="304715"/>
          </a:xfrm>
        </p:grpSpPr>
        <p:grpSp>
          <p:nvGrpSpPr>
            <p:cNvPr id="106" name="Group 657">
              <a:extLst>
                <a:ext uri="{FF2B5EF4-FFF2-40B4-BE49-F238E27FC236}">
                  <a16:creationId xmlns:a16="http://schemas.microsoft.com/office/drawing/2014/main" id="{5F29375D-A2F2-6AEE-4618-A2CF482825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0" y="2750561"/>
              <a:ext cx="927305" cy="295152"/>
              <a:chOff x="7620000" y="2750561"/>
              <a:chExt cx="927305" cy="295152"/>
            </a:xfrm>
          </p:grpSpPr>
          <p:sp>
            <p:nvSpPr>
              <p:cNvPr id="108" name="TextBox 471">
                <a:extLst>
                  <a:ext uri="{FF2B5EF4-FFF2-40B4-BE49-F238E27FC236}">
                    <a16:creationId xmlns:a16="http://schemas.microsoft.com/office/drawing/2014/main" id="{D50DCA80-E47F-86EE-5FFB-E91A849404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34519" y="2750561"/>
                <a:ext cx="712786" cy="2951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af-ZA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haroni" pitchFamily="2" charset="-79"/>
                  </a:rPr>
                  <a:t> CTP</a:t>
                </a:r>
              </a:p>
            </p:txBody>
          </p:sp>
          <p:grpSp>
            <p:nvGrpSpPr>
              <p:cNvPr id="109" name="Group 662">
                <a:extLst>
                  <a:ext uri="{FF2B5EF4-FFF2-40B4-BE49-F238E27FC236}">
                    <a16:creationId xmlns:a16="http://schemas.microsoft.com/office/drawing/2014/main" id="{45B92730-E41B-DF88-0D42-A614A705D3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0000" y="2819320"/>
                <a:ext cx="347663" cy="164429"/>
                <a:chOff x="8084132" y="2347198"/>
                <a:chExt cx="347663" cy="164429"/>
              </a:xfrm>
            </p:grpSpPr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D24ECE01-8E36-8E0D-F20E-BAF720E07DB9}"/>
                    </a:ext>
                  </a:extLst>
                </p:cNvPr>
                <p:cNvCxnSpPr/>
                <p:nvPr/>
              </p:nvCxnSpPr>
              <p:spPr bwMode="auto">
                <a:xfrm>
                  <a:off x="8084132" y="2438897"/>
                  <a:ext cx="158750" cy="0"/>
                </a:xfrm>
                <a:prstGeom prst="line">
                  <a:avLst/>
                </a:prstGeom>
                <a:ln w="381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112" name="Rounded Rectangle 371">
                  <a:extLst>
                    <a:ext uri="{FF2B5EF4-FFF2-40B4-BE49-F238E27FC236}">
                      <a16:creationId xmlns:a16="http://schemas.microsoft.com/office/drawing/2014/main" id="{D16C4619-B4E8-09E5-2586-C74D2AD60241}"/>
                    </a:ext>
                  </a:extLst>
                </p:cNvPr>
                <p:cNvSpPr/>
                <p:nvPr/>
              </p:nvSpPr>
              <p:spPr bwMode="auto">
                <a:xfrm>
                  <a:off x="8249232" y="2347197"/>
                  <a:ext cx="182562" cy="164428"/>
                </a:xfrm>
                <a:prstGeom prst="roundRect">
                  <a:avLst/>
                </a:prstGeom>
                <a:solidFill>
                  <a:srgbClr val="FFC000"/>
                </a:solidFill>
                <a:ln w="12700">
                  <a:solidFill>
                    <a:srgbClr val="99663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07" name="TextBox 1002">
              <a:extLst>
                <a:ext uri="{FF2B5EF4-FFF2-40B4-BE49-F238E27FC236}">
                  <a16:creationId xmlns:a16="http://schemas.microsoft.com/office/drawing/2014/main" id="{C7921959-881D-B342-B5AE-0E8525CF03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79800"/>
              <a:ext cx="205957" cy="275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af-ZA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M</a:t>
              </a:r>
            </a:p>
          </p:txBody>
        </p:sp>
      </p:grp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727DD3F-779B-BBB7-CAA2-DAB63B463778}"/>
              </a:ext>
            </a:extLst>
          </p:cNvPr>
          <p:cNvCxnSpPr/>
          <p:nvPr/>
        </p:nvCxnSpPr>
        <p:spPr bwMode="auto">
          <a:xfrm flipH="1">
            <a:off x="3778383" y="4492035"/>
            <a:ext cx="70480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2F828A2B-4CC4-81B1-D7E4-4A133EDB942D}"/>
              </a:ext>
            </a:extLst>
          </p:cNvPr>
          <p:cNvSpPr/>
          <p:nvPr/>
        </p:nvSpPr>
        <p:spPr>
          <a:xfrm>
            <a:off x="4476009" y="3922449"/>
            <a:ext cx="138753" cy="1387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2</a:t>
            </a:r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42112D42-1861-DF67-53F3-A1A2CB441A01}"/>
              </a:ext>
            </a:extLst>
          </p:cNvPr>
          <p:cNvSpPr/>
          <p:nvPr/>
        </p:nvSpPr>
        <p:spPr>
          <a:xfrm>
            <a:off x="3211520" y="4139477"/>
            <a:ext cx="138753" cy="1387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1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2ED0577-5966-D561-C304-A90DD7258C1A}"/>
              </a:ext>
            </a:extLst>
          </p:cNvPr>
          <p:cNvSpPr txBox="1"/>
          <p:nvPr/>
        </p:nvSpPr>
        <p:spPr>
          <a:xfrm>
            <a:off x="1835703" y="558575"/>
            <a:ext cx="1554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CFF99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Facilities East of River Niger</a:t>
            </a:r>
            <a:endParaRPr kumimoji="0" lang="x-non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CFF99"/>
              </a:highlight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508CA8E8-265E-6FA5-A6CD-800CDFA16A1C}"/>
              </a:ext>
            </a:extLst>
          </p:cNvPr>
          <p:cNvCxnSpPr>
            <a:cxnSpLocks/>
          </p:cNvCxnSpPr>
          <p:nvPr/>
        </p:nvCxnSpPr>
        <p:spPr>
          <a:xfrm>
            <a:off x="1599360" y="578456"/>
            <a:ext cx="0" cy="5004000"/>
          </a:xfrm>
          <a:prstGeom prst="line">
            <a:avLst/>
          </a:prstGeom>
          <a:ln w="19050">
            <a:solidFill>
              <a:srgbClr val="FFC00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C4B41960-CD55-48FF-DE77-9B916A6A81C1}"/>
              </a:ext>
            </a:extLst>
          </p:cNvPr>
          <p:cNvCxnSpPr>
            <a:cxnSpLocks/>
          </p:cNvCxnSpPr>
          <p:nvPr/>
        </p:nvCxnSpPr>
        <p:spPr>
          <a:xfrm>
            <a:off x="72904" y="741685"/>
            <a:ext cx="1532066" cy="0"/>
          </a:xfrm>
          <a:prstGeom prst="straightConnector1">
            <a:avLst/>
          </a:prstGeom>
          <a:ln w="9525">
            <a:solidFill>
              <a:schemeClr val="tx1"/>
            </a:solidFill>
            <a:headEnd type="diamond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1204FE13-6D4C-9FBC-11AA-27CA4E544C0B}"/>
              </a:ext>
            </a:extLst>
          </p:cNvPr>
          <p:cNvCxnSpPr>
            <a:cxnSpLocks/>
          </p:cNvCxnSpPr>
          <p:nvPr/>
        </p:nvCxnSpPr>
        <p:spPr>
          <a:xfrm flipH="1" flipV="1">
            <a:off x="1604970" y="741687"/>
            <a:ext cx="2276443" cy="2625"/>
          </a:xfrm>
          <a:prstGeom prst="straightConnector1">
            <a:avLst/>
          </a:prstGeom>
          <a:ln w="9525">
            <a:solidFill>
              <a:schemeClr val="tx1"/>
            </a:solidFill>
            <a:headEnd type="diamond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6FCEF118-6109-2CDB-1EBE-21033635A888}"/>
              </a:ext>
            </a:extLst>
          </p:cNvPr>
          <p:cNvSpPr txBox="1"/>
          <p:nvPr/>
        </p:nvSpPr>
        <p:spPr>
          <a:xfrm>
            <a:off x="3389805" y="4423420"/>
            <a:ext cx="391137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Calibri" panose="020F0502020204030204" pitchFamily="34" charset="0"/>
                <a:cs typeface="Times New Roman" panose="02020603050405020304" pitchFamily="18" charset="0"/>
              </a:rPr>
              <a:t>BBOU</a:t>
            </a:r>
            <a:b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Calibri" panose="020F0502020204030204" pitchFamily="34" charset="0"/>
                <a:cs typeface="Times New Roman" panose="02020603050405020304" pitchFamily="18" charset="0"/>
              </a:rPr>
              <a:t>S-MF</a:t>
            </a:r>
          </a:p>
        </p:txBody>
      </p:sp>
      <p:sp>
        <p:nvSpPr>
          <p:cNvPr id="125" name="TextBox 156">
            <a:extLst>
              <a:ext uri="{FF2B5EF4-FFF2-40B4-BE49-F238E27FC236}">
                <a16:creationId xmlns:a16="http://schemas.microsoft.com/office/drawing/2014/main" id="{53E244EB-9E79-CE21-820A-E53192CA5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784" y="4146925"/>
            <a:ext cx="392481" cy="8579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6384" tIns="8193" rIns="16384" bIns="819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4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331 MMscfd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E5748A2-C703-94F5-F117-0F3573C5286A}"/>
              </a:ext>
            </a:extLst>
          </p:cNvPr>
          <p:cNvCxnSpPr/>
          <p:nvPr/>
        </p:nvCxnSpPr>
        <p:spPr bwMode="auto">
          <a:xfrm>
            <a:off x="660895" y="1142037"/>
            <a:ext cx="0" cy="35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F9D982D1-2ECD-A9F3-677A-8A042FD8F4E6}"/>
              </a:ext>
            </a:extLst>
          </p:cNvPr>
          <p:cNvCxnSpPr/>
          <p:nvPr/>
        </p:nvCxnSpPr>
        <p:spPr bwMode="auto">
          <a:xfrm>
            <a:off x="474764" y="1124883"/>
            <a:ext cx="0" cy="717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07A2DBCF-A8E5-19BD-B7A7-FA38E1F3B2F4}"/>
              </a:ext>
            </a:extLst>
          </p:cNvPr>
          <p:cNvCxnSpPr>
            <a:cxnSpLocks/>
          </p:cNvCxnSpPr>
          <p:nvPr/>
        </p:nvCxnSpPr>
        <p:spPr bwMode="auto">
          <a:xfrm>
            <a:off x="666683" y="1058335"/>
            <a:ext cx="0" cy="3585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A5C0C2F9-4A58-E8AC-7E4A-1014CE08DDB9}"/>
              </a:ext>
            </a:extLst>
          </p:cNvPr>
          <p:cNvCxnSpPr/>
          <p:nvPr/>
        </p:nvCxnSpPr>
        <p:spPr bwMode="auto">
          <a:xfrm>
            <a:off x="602780" y="1102831"/>
            <a:ext cx="116231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A69996EE-C43E-02B0-D376-5A8608CE21BE}"/>
              </a:ext>
            </a:extLst>
          </p:cNvPr>
          <p:cNvCxnSpPr/>
          <p:nvPr/>
        </p:nvCxnSpPr>
        <p:spPr bwMode="auto">
          <a:xfrm>
            <a:off x="605251" y="1137659"/>
            <a:ext cx="1080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42" name="Rectangle 141">
            <a:extLst>
              <a:ext uri="{FF2B5EF4-FFF2-40B4-BE49-F238E27FC236}">
                <a16:creationId xmlns:a16="http://schemas.microsoft.com/office/drawing/2014/main" id="{146A7D35-7E9C-6BE6-8C6B-06DC9306012D}"/>
              </a:ext>
            </a:extLst>
          </p:cNvPr>
          <p:cNvSpPr>
            <a:spLocks/>
          </p:cNvSpPr>
          <p:nvPr/>
        </p:nvSpPr>
        <p:spPr bwMode="auto">
          <a:xfrm rot="16200000">
            <a:off x="553339" y="1109368"/>
            <a:ext cx="229489" cy="38663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13829FE6-ED36-9115-003D-215CD5B4AC12}"/>
              </a:ext>
            </a:extLst>
          </p:cNvPr>
          <p:cNvCxnSpPr/>
          <p:nvPr/>
        </p:nvCxnSpPr>
        <p:spPr bwMode="auto">
          <a:xfrm>
            <a:off x="464476" y="1116905"/>
            <a:ext cx="396000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07709321-EA74-7391-A8D4-7CB27647C976}"/>
              </a:ext>
            </a:extLst>
          </p:cNvPr>
          <p:cNvCxnSpPr/>
          <p:nvPr/>
        </p:nvCxnSpPr>
        <p:spPr bwMode="auto">
          <a:xfrm>
            <a:off x="856640" y="1124883"/>
            <a:ext cx="0" cy="717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971F0F56-9342-DAD5-74D2-6E4D7B6CD853}"/>
              </a:ext>
            </a:extLst>
          </p:cNvPr>
          <p:cNvCxnSpPr/>
          <p:nvPr/>
        </p:nvCxnSpPr>
        <p:spPr bwMode="auto">
          <a:xfrm>
            <a:off x="474764" y="1053165"/>
            <a:ext cx="0" cy="7048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D5D66362-0BD8-B0C4-03D5-5A770D0809F5}"/>
              </a:ext>
            </a:extLst>
          </p:cNvPr>
          <p:cNvCxnSpPr/>
          <p:nvPr/>
        </p:nvCxnSpPr>
        <p:spPr bwMode="auto">
          <a:xfrm>
            <a:off x="856640" y="1053165"/>
            <a:ext cx="0" cy="7048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816B725C-BDAC-5850-EBF4-88D575520E6D}"/>
              </a:ext>
            </a:extLst>
          </p:cNvPr>
          <p:cNvCxnSpPr/>
          <p:nvPr/>
        </p:nvCxnSpPr>
        <p:spPr bwMode="auto">
          <a:xfrm>
            <a:off x="788923" y="1122913"/>
            <a:ext cx="76662" cy="0"/>
          </a:xfrm>
          <a:prstGeom prst="line">
            <a:avLst/>
          </a:prstGeom>
          <a:ln w="381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8" name="TextBox 133">
            <a:extLst>
              <a:ext uri="{FF2B5EF4-FFF2-40B4-BE49-F238E27FC236}">
                <a16:creationId xmlns:a16="http://schemas.microsoft.com/office/drawing/2014/main" id="{701175ED-EC0A-789B-6592-2BE7A2C54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765" y="1166281"/>
            <a:ext cx="390820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OKNU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CF-MF</a:t>
            </a:r>
          </a:p>
        </p:txBody>
      </p:sp>
      <p:sp>
        <p:nvSpPr>
          <p:cNvPr id="149" name="TextBox 156">
            <a:extLst>
              <a:ext uri="{FF2B5EF4-FFF2-40B4-BE49-F238E27FC236}">
                <a16:creationId xmlns:a16="http://schemas.microsoft.com/office/drawing/2014/main" id="{AA3FF113-C2E0-5F82-BDEE-2C34F5B5D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3" y="956440"/>
            <a:ext cx="463294" cy="9541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8288" tIns="9144" rIns="18288" bIns="914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200 MMscfd </a:t>
            </a:r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76E832E4-8A1D-640B-847E-90DBD35BFE96}"/>
              </a:ext>
            </a:extLst>
          </p:cNvPr>
          <p:cNvSpPr/>
          <p:nvPr/>
        </p:nvSpPr>
        <p:spPr>
          <a:xfrm>
            <a:off x="886940" y="933134"/>
            <a:ext cx="138753" cy="13875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6</a:t>
            </a: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C9FB292F-7129-4E6A-D6F2-E106284EAE42}"/>
              </a:ext>
            </a:extLst>
          </p:cNvPr>
          <p:cNvSpPr>
            <a:spLocks/>
          </p:cNvSpPr>
          <p:nvPr/>
        </p:nvSpPr>
        <p:spPr bwMode="auto">
          <a:xfrm rot="16200000">
            <a:off x="596254" y="810953"/>
            <a:ext cx="144768" cy="385523"/>
          </a:xfrm>
          <a:prstGeom prst="rect">
            <a:avLst/>
          </a:prstGeom>
          <a:solidFill>
            <a:srgbClr val="92D050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vert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rPr>
              <a:t>OKNU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040E095-728D-E3FC-263E-AEEE41F93C5D}"/>
              </a:ext>
            </a:extLst>
          </p:cNvPr>
          <p:cNvGrpSpPr/>
          <p:nvPr/>
        </p:nvGrpSpPr>
        <p:grpSpPr>
          <a:xfrm>
            <a:off x="867378" y="1312665"/>
            <a:ext cx="77216" cy="83275"/>
            <a:chOff x="2556199" y="1989769"/>
            <a:chExt cx="77216" cy="83275"/>
          </a:xfrm>
        </p:grpSpPr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CAF8BB17-E556-5859-A73E-66EBB256BB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9702" y="1989769"/>
              <a:ext cx="0" cy="828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AD76020-CE46-CAFA-AFED-900059C4DD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56199" y="2031260"/>
              <a:ext cx="47489" cy="0"/>
            </a:xfrm>
            <a:prstGeom prst="line">
              <a:avLst/>
            </a:prstGeom>
            <a:ln w="3810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BADE96AD-3108-2D0A-030F-103513571E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33415" y="1990199"/>
              <a:ext cx="0" cy="8284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</p:grp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0186EBF0-0A18-F26B-4D1C-343F9E92E39B}"/>
              </a:ext>
            </a:extLst>
          </p:cNvPr>
          <p:cNvCxnSpPr>
            <a:cxnSpLocks/>
          </p:cNvCxnSpPr>
          <p:nvPr/>
        </p:nvCxnSpPr>
        <p:spPr>
          <a:xfrm>
            <a:off x="951782" y="1348485"/>
            <a:ext cx="72000" cy="0"/>
          </a:xfrm>
          <a:prstGeom prst="line">
            <a:avLst/>
          </a:prstGeom>
          <a:ln w="317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0ACC672D-0FF0-EB01-08A0-BC2B4C7C5A39}"/>
              </a:ext>
            </a:extLst>
          </p:cNvPr>
          <p:cNvCxnSpPr>
            <a:cxnSpLocks/>
          </p:cNvCxnSpPr>
          <p:nvPr/>
        </p:nvCxnSpPr>
        <p:spPr>
          <a:xfrm flipV="1">
            <a:off x="4925611" y="4718649"/>
            <a:ext cx="1323661" cy="905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7DD07A4B-BE67-50AC-A02B-D4E5CFE4F312}"/>
              </a:ext>
            </a:extLst>
          </p:cNvPr>
          <p:cNvGrpSpPr/>
          <p:nvPr/>
        </p:nvGrpSpPr>
        <p:grpSpPr>
          <a:xfrm>
            <a:off x="4759555" y="3791981"/>
            <a:ext cx="238262" cy="187352"/>
            <a:chOff x="1781818" y="3527862"/>
            <a:chExt cx="238262" cy="187352"/>
          </a:xfrm>
        </p:grpSpPr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1391E98-D74B-163E-0500-9583C38AFE4C}"/>
                </a:ext>
              </a:extLst>
            </p:cNvPr>
            <p:cNvCxnSpPr/>
            <p:nvPr/>
          </p:nvCxnSpPr>
          <p:spPr bwMode="auto">
            <a:xfrm flipV="1">
              <a:off x="1985458" y="3561889"/>
              <a:ext cx="0" cy="1533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C035E3D3-B079-3D86-38D8-0D543B11ABE5}"/>
                </a:ext>
              </a:extLst>
            </p:cNvPr>
            <p:cNvSpPr/>
            <p:nvPr/>
          </p:nvSpPr>
          <p:spPr bwMode="auto">
            <a:xfrm>
              <a:off x="1960728" y="3527862"/>
              <a:ext cx="59352" cy="6429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BF053C1-A537-08FE-82C1-AFA2151BF22E}"/>
                </a:ext>
              </a:extLst>
            </p:cNvPr>
            <p:cNvCxnSpPr/>
            <p:nvPr/>
          </p:nvCxnSpPr>
          <p:spPr bwMode="auto">
            <a:xfrm flipV="1">
              <a:off x="1815203" y="3558179"/>
              <a:ext cx="0" cy="15456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B8F91C6D-BA20-C843-0046-AE8FC25D4537}"/>
                </a:ext>
              </a:extLst>
            </p:cNvPr>
            <p:cNvSpPr/>
            <p:nvPr/>
          </p:nvSpPr>
          <p:spPr bwMode="auto">
            <a:xfrm>
              <a:off x="1781818" y="3528456"/>
              <a:ext cx="59352" cy="6429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grpSp>
        <p:nvGrpSpPr>
          <p:cNvPr id="165" name="Group 655">
            <a:extLst>
              <a:ext uri="{FF2B5EF4-FFF2-40B4-BE49-F238E27FC236}">
                <a16:creationId xmlns:a16="http://schemas.microsoft.com/office/drawing/2014/main" id="{A97497B4-AF8E-78E4-AFB5-EA7FB88021AA}"/>
              </a:ext>
            </a:extLst>
          </p:cNvPr>
          <p:cNvGrpSpPr>
            <a:grpSpLocks/>
          </p:cNvGrpSpPr>
          <p:nvPr/>
        </p:nvGrpSpPr>
        <p:grpSpPr bwMode="auto">
          <a:xfrm>
            <a:off x="4258194" y="4061192"/>
            <a:ext cx="494711" cy="230832"/>
            <a:chOff x="7634598" y="2781624"/>
            <a:chExt cx="749410" cy="277770"/>
          </a:xfrm>
        </p:grpSpPr>
        <p:grpSp>
          <p:nvGrpSpPr>
            <p:cNvPr id="166" name="Group 657">
              <a:extLst>
                <a:ext uri="{FF2B5EF4-FFF2-40B4-BE49-F238E27FC236}">
                  <a16:creationId xmlns:a16="http://schemas.microsoft.com/office/drawing/2014/main" id="{9511AEB0-8C8E-5940-1084-B3EBDF9B25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5020" y="2781624"/>
              <a:ext cx="728988" cy="277770"/>
              <a:chOff x="7655020" y="2781624"/>
              <a:chExt cx="728988" cy="277770"/>
            </a:xfrm>
          </p:grpSpPr>
          <p:sp>
            <p:nvSpPr>
              <p:cNvPr id="168" name="TextBox 732">
                <a:extLst>
                  <a:ext uri="{FF2B5EF4-FFF2-40B4-BE49-F238E27FC236}">
                    <a16:creationId xmlns:a16="http://schemas.microsoft.com/office/drawing/2014/main" id="{9B2D41DD-6AB5-5055-9679-D8170F3CD4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671221" y="2781624"/>
                <a:ext cx="712787" cy="2777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af-ZA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haroni" pitchFamily="2" charset="-79"/>
                  </a:rPr>
                  <a:t> CTP</a:t>
                </a:r>
              </a:p>
            </p:txBody>
          </p:sp>
          <p:sp>
            <p:nvSpPr>
              <p:cNvPr id="169" name="Rounded Rectangle 735">
                <a:extLst>
                  <a:ext uri="{FF2B5EF4-FFF2-40B4-BE49-F238E27FC236}">
                    <a16:creationId xmlns:a16="http://schemas.microsoft.com/office/drawing/2014/main" id="{6B13E07E-1DC9-811B-42CF-11307BC9D6E1}"/>
                  </a:ext>
                </a:extLst>
              </p:cNvPr>
              <p:cNvSpPr/>
              <p:nvPr/>
            </p:nvSpPr>
            <p:spPr bwMode="auto">
              <a:xfrm>
                <a:off x="7655020" y="2814237"/>
                <a:ext cx="182561" cy="164428"/>
              </a:xfrm>
              <a:prstGeom prst="roundRect">
                <a:avLst/>
              </a:prstGeom>
              <a:solidFill>
                <a:srgbClr val="FFC000"/>
              </a:solidFill>
              <a:ln w="12700">
                <a:solidFill>
                  <a:srgbClr val="9966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167" name="TextBox 1002">
              <a:extLst>
                <a:ext uri="{FF2B5EF4-FFF2-40B4-BE49-F238E27FC236}">
                  <a16:creationId xmlns:a16="http://schemas.microsoft.com/office/drawing/2014/main" id="{C3C6582E-DBB1-BEAC-64EF-34EA999F0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4598" y="2793086"/>
              <a:ext cx="205957" cy="259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af-ZA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M</a:t>
              </a:r>
            </a:p>
          </p:txBody>
        </p:sp>
      </p:grp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ADE1E28A-5730-862D-E0BA-8BC694333A02}"/>
              </a:ext>
            </a:extLst>
          </p:cNvPr>
          <p:cNvCxnSpPr/>
          <p:nvPr/>
        </p:nvCxnSpPr>
        <p:spPr bwMode="auto">
          <a:xfrm>
            <a:off x="4881054" y="4161300"/>
            <a:ext cx="0" cy="35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2DA03119-711E-A3C7-EB0A-B1BB95691EF1}"/>
              </a:ext>
            </a:extLst>
          </p:cNvPr>
          <p:cNvCxnSpPr/>
          <p:nvPr/>
        </p:nvCxnSpPr>
        <p:spPr bwMode="auto">
          <a:xfrm>
            <a:off x="4635412" y="4142755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2" name="Rectangle 171">
            <a:extLst>
              <a:ext uri="{FF2B5EF4-FFF2-40B4-BE49-F238E27FC236}">
                <a16:creationId xmlns:a16="http://schemas.microsoft.com/office/drawing/2014/main" id="{59C83F6B-86AC-A4C1-54DB-DDB450B0E194}"/>
              </a:ext>
            </a:extLst>
          </p:cNvPr>
          <p:cNvSpPr>
            <a:spLocks/>
          </p:cNvSpPr>
          <p:nvPr/>
        </p:nvSpPr>
        <p:spPr bwMode="auto">
          <a:xfrm rot="16200000">
            <a:off x="4771904" y="3800018"/>
            <a:ext cx="142197" cy="411070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132EEEEF-229B-CA86-D031-7A3179857539}"/>
              </a:ext>
            </a:extLst>
          </p:cNvPr>
          <p:cNvCxnSpPr/>
          <p:nvPr/>
        </p:nvCxnSpPr>
        <p:spPr bwMode="auto">
          <a:xfrm>
            <a:off x="4878581" y="4056200"/>
            <a:ext cx="0" cy="358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33946A74-8B02-67B6-90C6-1D17C17138A9}"/>
              </a:ext>
            </a:extLst>
          </p:cNvPr>
          <p:cNvCxnSpPr/>
          <p:nvPr/>
        </p:nvCxnSpPr>
        <p:spPr bwMode="auto">
          <a:xfrm>
            <a:off x="4817994" y="4122067"/>
            <a:ext cx="11623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4559628-42D0-2035-05E8-F70AB92329D0}"/>
              </a:ext>
            </a:extLst>
          </p:cNvPr>
          <p:cNvCxnSpPr/>
          <p:nvPr/>
        </p:nvCxnSpPr>
        <p:spPr bwMode="auto">
          <a:xfrm>
            <a:off x="4821703" y="4203626"/>
            <a:ext cx="11623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78" name="TextBox 133">
            <a:extLst>
              <a:ext uri="{FF2B5EF4-FFF2-40B4-BE49-F238E27FC236}">
                <a16:creationId xmlns:a16="http://schemas.microsoft.com/office/drawing/2014/main" id="{F7A22258-B73B-F83E-C8F2-9FD075AC8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9998" y="3905856"/>
            <a:ext cx="40854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ELEP</a:t>
            </a:r>
          </a:p>
        </p:txBody>
      </p: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3032153F-6AF8-402F-FE23-F750272F3C7E}"/>
              </a:ext>
            </a:extLst>
          </p:cNvPr>
          <p:cNvCxnSpPr>
            <a:cxnSpLocks/>
          </p:cNvCxnSpPr>
          <p:nvPr/>
        </p:nvCxnSpPr>
        <p:spPr bwMode="auto">
          <a:xfrm>
            <a:off x="4631703" y="4151570"/>
            <a:ext cx="416837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84AB5770-B2B4-0E80-5F4D-A3DD92ADA012}"/>
              </a:ext>
            </a:extLst>
          </p:cNvPr>
          <p:cNvCxnSpPr/>
          <p:nvPr/>
        </p:nvCxnSpPr>
        <p:spPr bwMode="auto">
          <a:xfrm>
            <a:off x="5049811" y="4154997"/>
            <a:ext cx="0" cy="1080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C71F9094-1263-A6BC-6839-E800E9826322}"/>
              </a:ext>
            </a:extLst>
          </p:cNvPr>
          <p:cNvCxnSpPr/>
          <p:nvPr/>
        </p:nvCxnSpPr>
        <p:spPr bwMode="auto">
          <a:xfrm>
            <a:off x="4637465" y="4066091"/>
            <a:ext cx="0" cy="7666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FD7609F6-978E-3446-023E-60A727567DF0}"/>
              </a:ext>
            </a:extLst>
          </p:cNvPr>
          <p:cNvCxnSpPr/>
          <p:nvPr/>
        </p:nvCxnSpPr>
        <p:spPr bwMode="auto">
          <a:xfrm>
            <a:off x="5049812" y="4077890"/>
            <a:ext cx="0" cy="7789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3" name="TextBox 156">
            <a:extLst>
              <a:ext uri="{FF2B5EF4-FFF2-40B4-BE49-F238E27FC236}">
                <a16:creationId xmlns:a16="http://schemas.microsoft.com/office/drawing/2014/main" id="{0DCDF3D4-A851-6ACE-4832-93CE9A8CD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0769" y="3960549"/>
            <a:ext cx="472783" cy="9541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8288" tIns="9144" rIns="18288" bIns="914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180 MMscfd </a:t>
            </a:r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C5D9D292-74C1-C21D-C8D9-D7EC0993B570}"/>
              </a:ext>
            </a:extLst>
          </p:cNvPr>
          <p:cNvCxnSpPr>
            <a:cxnSpLocks/>
          </p:cNvCxnSpPr>
          <p:nvPr/>
        </p:nvCxnSpPr>
        <p:spPr>
          <a:xfrm flipV="1">
            <a:off x="3841977" y="4454871"/>
            <a:ext cx="0" cy="82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404B187C-120D-9047-F963-E253E5D09F32}"/>
              </a:ext>
            </a:extLst>
          </p:cNvPr>
          <p:cNvCxnSpPr>
            <a:cxnSpLocks/>
          </p:cNvCxnSpPr>
          <p:nvPr/>
        </p:nvCxnSpPr>
        <p:spPr>
          <a:xfrm flipV="1">
            <a:off x="3864570" y="4455301"/>
            <a:ext cx="0" cy="82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87" name="TextBox 156">
            <a:extLst>
              <a:ext uri="{FF2B5EF4-FFF2-40B4-BE49-F238E27FC236}">
                <a16:creationId xmlns:a16="http://schemas.microsoft.com/office/drawing/2014/main" id="{DB8C51AB-2DCF-D023-41DD-D82AB95346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941" y="4526750"/>
            <a:ext cx="731736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540 MMscfd</a:t>
            </a:r>
          </a:p>
        </p:txBody>
      </p:sp>
      <p:sp>
        <p:nvSpPr>
          <p:cNvPr id="189" name="TextBox 141">
            <a:extLst>
              <a:ext uri="{FF2B5EF4-FFF2-40B4-BE49-F238E27FC236}">
                <a16:creationId xmlns:a16="http://schemas.microsoft.com/office/drawing/2014/main" id="{C6DD0CFC-F32B-9838-F355-A7CD0638F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3302" y="3276600"/>
            <a:ext cx="70727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af-ZA" sz="1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97847548-6F99-8B2B-89A2-FED582087196}"/>
              </a:ext>
            </a:extLst>
          </p:cNvPr>
          <p:cNvCxnSpPr>
            <a:cxnSpLocks/>
          </p:cNvCxnSpPr>
          <p:nvPr/>
        </p:nvCxnSpPr>
        <p:spPr>
          <a:xfrm>
            <a:off x="3880147" y="4493169"/>
            <a:ext cx="757318" cy="0"/>
          </a:xfrm>
          <a:prstGeom prst="straightConnector1">
            <a:avLst/>
          </a:prstGeom>
          <a:ln w="25400">
            <a:solidFill>
              <a:srgbClr val="00B05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93" name="TextBox 103">
            <a:extLst>
              <a:ext uri="{FF2B5EF4-FFF2-40B4-BE49-F238E27FC236}">
                <a16:creationId xmlns:a16="http://schemas.microsoft.com/office/drawing/2014/main" id="{0B6B1905-1B33-01F2-1A76-2DA527BF5B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811" y="2291211"/>
            <a:ext cx="2010787" cy="402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20” x 85km OKNU-BBOU Gas Pipeline:</a:t>
            </a:r>
          </a:p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Capacity of 200 MMscfd or 2</a:t>
            </a:r>
            <a:r>
              <a:rPr lang="en-US" altLang="en-US" sz="800" dirty="0">
                <a:solidFill>
                  <a:prstClr val="black"/>
                </a:solidFill>
                <a:latin typeface="Futura Std Book" panose="020B0502020204020303"/>
              </a:rPr>
              <a:t>7</a:t>
            </a: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0, if the make-up gas will come from OKNU</a:t>
            </a: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485BC627-C141-D167-72A8-9FE685C78B11}"/>
              </a:ext>
            </a:extLst>
          </p:cNvPr>
          <p:cNvGrpSpPr/>
          <p:nvPr/>
        </p:nvGrpSpPr>
        <p:grpSpPr>
          <a:xfrm>
            <a:off x="995973" y="1253222"/>
            <a:ext cx="466829" cy="267444"/>
            <a:chOff x="4343400" y="4686300"/>
            <a:chExt cx="514818" cy="267444"/>
          </a:xfrm>
        </p:grpSpPr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8E6B5009-2784-62D3-444B-AB250FF6657F}"/>
                </a:ext>
              </a:extLst>
            </p:cNvPr>
            <p:cNvGrpSpPr/>
            <p:nvPr/>
          </p:nvGrpSpPr>
          <p:grpSpPr>
            <a:xfrm>
              <a:off x="4343400" y="4686300"/>
              <a:ext cx="514818" cy="186690"/>
              <a:chOff x="0" y="0"/>
              <a:chExt cx="1225472" cy="434195"/>
            </a:xfrm>
          </p:grpSpPr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4F8316D0-775C-45CF-0C49-8F7B3B35169B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5472" cy="434195"/>
                <a:chOff x="0" y="0"/>
                <a:chExt cx="1393403" cy="567773"/>
              </a:xfrm>
            </p:grpSpPr>
            <p:sp>
              <p:nvSpPr>
                <p:cNvPr id="199" name="Chord 198">
                  <a:extLst>
                    <a:ext uri="{FF2B5EF4-FFF2-40B4-BE49-F238E27FC236}">
                      <a16:creationId xmlns:a16="http://schemas.microsoft.com/office/drawing/2014/main" id="{2E89E102-8C0C-209F-8C74-8A15F6E5FC53}"/>
                    </a:ext>
                  </a:extLst>
                </p:cNvPr>
                <p:cNvSpPr/>
                <p:nvPr/>
              </p:nvSpPr>
              <p:spPr>
                <a:xfrm rot="16200000" flipV="1">
                  <a:off x="-31858" y="31859"/>
                  <a:ext cx="567771" cy="504055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Chord 199">
                  <a:extLst>
                    <a:ext uri="{FF2B5EF4-FFF2-40B4-BE49-F238E27FC236}">
                      <a16:creationId xmlns:a16="http://schemas.microsoft.com/office/drawing/2014/main" id="{DB203DD5-977F-42CB-B137-3BD3186593E6}"/>
                    </a:ext>
                  </a:extLst>
                </p:cNvPr>
                <p:cNvSpPr/>
                <p:nvPr/>
              </p:nvSpPr>
              <p:spPr>
                <a:xfrm rot="16200000">
                  <a:off x="874901" y="49270"/>
                  <a:ext cx="567772" cy="469233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38000">
                      <a:schemeClr val="bg1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Rectangle 200">
                  <a:extLst>
                    <a:ext uri="{FF2B5EF4-FFF2-40B4-BE49-F238E27FC236}">
                      <a16:creationId xmlns:a16="http://schemas.microsoft.com/office/drawing/2014/main" id="{EF8100F7-5BFC-5AFF-5253-A59A6B5B9710}"/>
                    </a:ext>
                  </a:extLst>
                </p:cNvPr>
                <p:cNvSpPr/>
                <p:nvPr/>
              </p:nvSpPr>
              <p:spPr>
                <a:xfrm>
                  <a:off x="255082" y="0"/>
                  <a:ext cx="914400" cy="56777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7A6D9CC4-DCD7-7F1A-4C32-927A95C3F388}"/>
                  </a:ext>
                </a:extLst>
              </p:cNvPr>
              <p:cNvSpPr/>
              <p:nvPr/>
            </p:nvSpPr>
            <p:spPr>
              <a:xfrm>
                <a:off x="526211" y="32021"/>
                <a:ext cx="469291" cy="102969"/>
              </a:xfrm>
              <a:prstGeom prst="rect">
                <a:avLst/>
              </a:prstGeom>
              <a:pattFill prst="lgCheck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08DE0646-7207-84EC-C714-C6757A195985}"/>
                </a:ext>
              </a:extLst>
            </p:cNvPr>
            <p:cNvSpPr txBox="1"/>
            <p:nvPr/>
          </p:nvSpPr>
          <p:spPr>
            <a:xfrm>
              <a:off x="4495800" y="4722912"/>
              <a:ext cx="228600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Slug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Catcher</a:t>
              </a:r>
            </a:p>
          </p:txBody>
        </p:sp>
      </p:grpSp>
      <p:sp>
        <p:nvSpPr>
          <p:cNvPr id="202" name="Rectangle 201">
            <a:extLst>
              <a:ext uri="{FF2B5EF4-FFF2-40B4-BE49-F238E27FC236}">
                <a16:creationId xmlns:a16="http://schemas.microsoft.com/office/drawing/2014/main" id="{1A7150B9-5E0D-331C-F3E4-188F431A6A4A}"/>
              </a:ext>
            </a:extLst>
          </p:cNvPr>
          <p:cNvSpPr>
            <a:spLocks/>
          </p:cNvSpPr>
          <p:nvPr/>
        </p:nvSpPr>
        <p:spPr bwMode="auto">
          <a:xfrm rot="16200000">
            <a:off x="731595" y="896355"/>
            <a:ext cx="529749" cy="106960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102F4111-4EB8-2AD2-DB9E-7F601465A76B}"/>
              </a:ext>
            </a:extLst>
          </p:cNvPr>
          <p:cNvCxnSpPr>
            <a:cxnSpLocks/>
          </p:cNvCxnSpPr>
          <p:nvPr/>
        </p:nvCxnSpPr>
        <p:spPr>
          <a:xfrm>
            <a:off x="1522881" y="1330405"/>
            <a:ext cx="1620000" cy="3168000"/>
          </a:xfrm>
          <a:prstGeom prst="straightConnector1">
            <a:avLst/>
          </a:prstGeom>
          <a:ln w="31750">
            <a:solidFill>
              <a:srgbClr val="00CC66"/>
            </a:solidFill>
            <a:headEnd type="none" w="med" len="med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B763CA6F-F728-45BC-66E6-7CD947393CA5}"/>
              </a:ext>
            </a:extLst>
          </p:cNvPr>
          <p:cNvGrpSpPr/>
          <p:nvPr/>
        </p:nvGrpSpPr>
        <p:grpSpPr>
          <a:xfrm>
            <a:off x="1115595" y="1442099"/>
            <a:ext cx="178340" cy="215444"/>
            <a:chOff x="4542707" y="4885454"/>
            <a:chExt cx="334093" cy="296146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68CE4C8-5E13-8FFC-A407-BB37659A2F23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37100" y="4885454"/>
              <a:ext cx="0" cy="216000"/>
            </a:xfrm>
            <a:prstGeom prst="line">
              <a:avLst/>
            </a:prstGeom>
            <a:ln w="25400">
              <a:solidFill>
                <a:srgbClr val="FF9900"/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sp>
          <p:nvSpPr>
            <p:cNvPr id="206" name="Flowchart: Magnetic Disk 205">
              <a:extLst>
                <a:ext uri="{FF2B5EF4-FFF2-40B4-BE49-F238E27FC236}">
                  <a16:creationId xmlns:a16="http://schemas.microsoft.com/office/drawing/2014/main" id="{DC1D9627-65DA-8AA6-91DD-27A2AFAC3AAB}"/>
                </a:ext>
              </a:extLst>
            </p:cNvPr>
            <p:cNvSpPr/>
            <p:nvPr/>
          </p:nvSpPr>
          <p:spPr>
            <a:xfrm>
              <a:off x="4542707" y="4981545"/>
              <a:ext cx="334093" cy="200055"/>
            </a:xfrm>
            <a:prstGeom prst="flowChartMagneticDisk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</p:grp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3BAF8277-009C-8085-8384-E2717E8044C0}"/>
              </a:ext>
            </a:extLst>
          </p:cNvPr>
          <p:cNvCxnSpPr>
            <a:cxnSpLocks/>
          </p:cNvCxnSpPr>
          <p:nvPr/>
        </p:nvCxnSpPr>
        <p:spPr>
          <a:xfrm>
            <a:off x="4836982" y="4725300"/>
            <a:ext cx="115366" cy="0"/>
          </a:xfrm>
          <a:prstGeom prst="line">
            <a:avLst/>
          </a:prstGeom>
          <a:ln w="317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32A43C49-73C8-9A0B-6D8C-4550F508DC5E}"/>
              </a:ext>
            </a:extLst>
          </p:cNvPr>
          <p:cNvCxnSpPr>
            <a:cxnSpLocks/>
          </p:cNvCxnSpPr>
          <p:nvPr/>
        </p:nvCxnSpPr>
        <p:spPr>
          <a:xfrm>
            <a:off x="1470237" y="1340681"/>
            <a:ext cx="72000" cy="0"/>
          </a:xfrm>
          <a:prstGeom prst="line">
            <a:avLst/>
          </a:prstGeom>
          <a:ln w="31750">
            <a:solidFill>
              <a:srgbClr val="00B05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10" name="Connector: Elbow 209">
            <a:extLst>
              <a:ext uri="{FF2B5EF4-FFF2-40B4-BE49-F238E27FC236}">
                <a16:creationId xmlns:a16="http://schemas.microsoft.com/office/drawing/2014/main" id="{F53ACCC4-759E-4848-6446-DCAD787653D5}"/>
              </a:ext>
            </a:extLst>
          </p:cNvPr>
          <p:cNvCxnSpPr>
            <a:cxnSpLocks/>
          </p:cNvCxnSpPr>
          <p:nvPr/>
        </p:nvCxnSpPr>
        <p:spPr>
          <a:xfrm>
            <a:off x="8558484" y="4583513"/>
            <a:ext cx="1017140" cy="467106"/>
          </a:xfrm>
          <a:prstGeom prst="bentConnector3">
            <a:avLst>
              <a:gd name="adj1" fmla="val 1071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F5621DF7-5585-9C98-D9B6-1FB905878DB2}"/>
              </a:ext>
            </a:extLst>
          </p:cNvPr>
          <p:cNvSpPr/>
          <p:nvPr/>
        </p:nvSpPr>
        <p:spPr>
          <a:xfrm>
            <a:off x="7429361" y="5300898"/>
            <a:ext cx="106218" cy="89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5D48DF6-B3C8-495A-F93E-1CD47B19B28D}"/>
              </a:ext>
            </a:extLst>
          </p:cNvPr>
          <p:cNvGrpSpPr/>
          <p:nvPr/>
        </p:nvGrpSpPr>
        <p:grpSpPr>
          <a:xfrm>
            <a:off x="8597170" y="4540628"/>
            <a:ext cx="98718" cy="94983"/>
            <a:chOff x="5114917" y="2286000"/>
            <a:chExt cx="245015" cy="235744"/>
          </a:xfrm>
        </p:grpSpPr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27B49010-F9EC-6612-DAB6-99D266D5A918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3782219D-D504-51E2-A644-6C6CBC62161B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25F8A445-736F-854D-1C6D-5D39DF3AB85C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16" name="Isosceles Triangle 215">
                <a:extLst>
                  <a:ext uri="{FF2B5EF4-FFF2-40B4-BE49-F238E27FC236}">
                    <a16:creationId xmlns:a16="http://schemas.microsoft.com/office/drawing/2014/main" id="{736B3B1D-58CD-B16B-FF85-324BA4EE0DF7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17" name="Isosceles Triangle 216">
                <a:extLst>
                  <a:ext uri="{FF2B5EF4-FFF2-40B4-BE49-F238E27FC236}">
                    <a16:creationId xmlns:a16="http://schemas.microsoft.com/office/drawing/2014/main" id="{61FC9B11-D437-2ACE-EA9C-7809067C2258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77306700-DC1E-2449-D3ED-7C20F8E90260}"/>
              </a:ext>
            </a:extLst>
          </p:cNvPr>
          <p:cNvGrpSpPr/>
          <p:nvPr/>
        </p:nvGrpSpPr>
        <p:grpSpPr>
          <a:xfrm>
            <a:off x="8676231" y="5003700"/>
            <a:ext cx="98718" cy="94983"/>
            <a:chOff x="5114917" y="2286000"/>
            <a:chExt cx="245015" cy="235744"/>
          </a:xfrm>
        </p:grpSpPr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389A77D2-B855-F5C6-80BC-FBC109E2BB1D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6325BCE6-C868-72DB-5F31-C05C9B37FAAD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21" name="Group 220">
              <a:extLst>
                <a:ext uri="{FF2B5EF4-FFF2-40B4-BE49-F238E27FC236}">
                  <a16:creationId xmlns:a16="http://schemas.microsoft.com/office/drawing/2014/main" id="{89181661-AC94-3E68-9137-086CF1B823EE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22" name="Isosceles Triangle 221">
                <a:extLst>
                  <a:ext uri="{FF2B5EF4-FFF2-40B4-BE49-F238E27FC236}">
                    <a16:creationId xmlns:a16="http://schemas.microsoft.com/office/drawing/2014/main" id="{1B9F337C-39A2-C342-D0FA-A16A293C2C75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23" name="Isosceles Triangle 222">
                <a:extLst>
                  <a:ext uri="{FF2B5EF4-FFF2-40B4-BE49-F238E27FC236}">
                    <a16:creationId xmlns:a16="http://schemas.microsoft.com/office/drawing/2014/main" id="{8620105A-E31A-F45A-1C48-6C16E8BD0140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30" name="Connector: Elbow 229">
            <a:extLst>
              <a:ext uri="{FF2B5EF4-FFF2-40B4-BE49-F238E27FC236}">
                <a16:creationId xmlns:a16="http://schemas.microsoft.com/office/drawing/2014/main" id="{AE3FC7F3-AD68-6D7C-094A-A411491ACD9D}"/>
              </a:ext>
            </a:extLst>
          </p:cNvPr>
          <p:cNvCxnSpPr>
            <a:cxnSpLocks/>
          </p:cNvCxnSpPr>
          <p:nvPr/>
        </p:nvCxnSpPr>
        <p:spPr>
          <a:xfrm>
            <a:off x="8562488" y="4910465"/>
            <a:ext cx="540000" cy="432000"/>
          </a:xfrm>
          <a:prstGeom prst="bentConnector3">
            <a:avLst>
              <a:gd name="adj1" fmla="val -347"/>
            </a:avLst>
          </a:prstGeom>
          <a:ln w="254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AA7CA31E-797B-1EB2-F6B3-CD29831DFA63}"/>
              </a:ext>
            </a:extLst>
          </p:cNvPr>
          <p:cNvGrpSpPr/>
          <p:nvPr/>
        </p:nvGrpSpPr>
        <p:grpSpPr>
          <a:xfrm>
            <a:off x="8676231" y="5290382"/>
            <a:ext cx="98718" cy="94983"/>
            <a:chOff x="5114917" y="2286000"/>
            <a:chExt cx="245015" cy="235744"/>
          </a:xfrm>
        </p:grpSpPr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D01E8B6C-5CB8-6708-6AB4-928A17396ACE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84CCA2C1-9183-F7EA-38EC-ABC11F0BCEB0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42" name="Group 241">
              <a:extLst>
                <a:ext uri="{FF2B5EF4-FFF2-40B4-BE49-F238E27FC236}">
                  <a16:creationId xmlns:a16="http://schemas.microsoft.com/office/drawing/2014/main" id="{BCF5EC4A-E5DD-283B-B0AC-347E7164B707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44" name="Isosceles Triangle 243">
                <a:extLst>
                  <a:ext uri="{FF2B5EF4-FFF2-40B4-BE49-F238E27FC236}">
                    <a16:creationId xmlns:a16="http://schemas.microsoft.com/office/drawing/2014/main" id="{4FB5C9DE-FEC3-FBA6-7D84-F643CCC73241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48" name="Isosceles Triangle 247">
                <a:extLst>
                  <a:ext uri="{FF2B5EF4-FFF2-40B4-BE49-F238E27FC236}">
                    <a16:creationId xmlns:a16="http://schemas.microsoft.com/office/drawing/2014/main" id="{F5435DA2-5FB3-D309-818B-3996756532FA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E7EABE39-7FC2-B8D7-05D2-A6A9F20FE12C}"/>
              </a:ext>
            </a:extLst>
          </p:cNvPr>
          <p:cNvGrpSpPr/>
          <p:nvPr/>
        </p:nvGrpSpPr>
        <p:grpSpPr>
          <a:xfrm>
            <a:off x="6801012" y="4452548"/>
            <a:ext cx="100011" cy="92014"/>
            <a:chOff x="5715000" y="4748213"/>
            <a:chExt cx="176211" cy="92014"/>
          </a:xfrm>
        </p:grpSpPr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155BE90F-A548-9CA6-C244-C7FF79687BA9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51" name="Group 250">
              <a:extLst>
                <a:ext uri="{FF2B5EF4-FFF2-40B4-BE49-F238E27FC236}">
                  <a16:creationId xmlns:a16="http://schemas.microsoft.com/office/drawing/2014/main" id="{2199462A-9CA5-D5C5-6421-92091B3CF24B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252" name="Isosceles Triangle 251">
                <a:extLst>
                  <a:ext uri="{FF2B5EF4-FFF2-40B4-BE49-F238E27FC236}">
                    <a16:creationId xmlns:a16="http://schemas.microsoft.com/office/drawing/2014/main" id="{33EADAE3-332A-2C7C-7B4A-FEC831ABCCC7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53" name="Isosceles Triangle 252">
                <a:extLst>
                  <a:ext uri="{FF2B5EF4-FFF2-40B4-BE49-F238E27FC236}">
                    <a16:creationId xmlns:a16="http://schemas.microsoft.com/office/drawing/2014/main" id="{2B97F0EB-A1D6-E455-AA6F-1E73AF6B3C78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52CFD456-A391-938C-30B5-A0290FB1C7AD}"/>
              </a:ext>
            </a:extLst>
          </p:cNvPr>
          <p:cNvCxnSpPr>
            <a:cxnSpLocks/>
          </p:cNvCxnSpPr>
          <p:nvPr/>
        </p:nvCxnSpPr>
        <p:spPr>
          <a:xfrm>
            <a:off x="7924803" y="4724021"/>
            <a:ext cx="625021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712D629A-8608-84E9-4BF1-082B69E83F6C}"/>
              </a:ext>
            </a:extLst>
          </p:cNvPr>
          <p:cNvGrpSpPr/>
          <p:nvPr/>
        </p:nvGrpSpPr>
        <p:grpSpPr>
          <a:xfrm>
            <a:off x="8053981" y="4665465"/>
            <a:ext cx="109538" cy="92014"/>
            <a:chOff x="5267327" y="4748213"/>
            <a:chExt cx="176211" cy="92014"/>
          </a:xfrm>
        </p:grpSpPr>
        <p:sp>
          <p:nvSpPr>
            <p:cNvPr id="320" name="Rectangle 319">
              <a:extLst>
                <a:ext uri="{FF2B5EF4-FFF2-40B4-BE49-F238E27FC236}">
                  <a16:creationId xmlns:a16="http://schemas.microsoft.com/office/drawing/2014/main" id="{F0CAED9E-310A-596D-8DE8-BD90AAFCE37D}"/>
                </a:ext>
              </a:extLst>
            </p:cNvPr>
            <p:cNvSpPr/>
            <p:nvPr/>
          </p:nvSpPr>
          <p:spPr>
            <a:xfrm>
              <a:off x="5272090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04FD6670-A61F-F432-677B-37CD0F8B3698}"/>
                </a:ext>
              </a:extLst>
            </p:cNvPr>
            <p:cNvGrpSpPr/>
            <p:nvPr/>
          </p:nvGrpSpPr>
          <p:grpSpPr>
            <a:xfrm>
              <a:off x="5267327" y="4754283"/>
              <a:ext cx="176211" cy="85944"/>
              <a:chOff x="6661011" y="5251855"/>
              <a:chExt cx="131341" cy="64059"/>
            </a:xfrm>
          </p:grpSpPr>
          <p:sp>
            <p:nvSpPr>
              <p:cNvPr id="322" name="Isosceles Triangle 321">
                <a:extLst>
                  <a:ext uri="{FF2B5EF4-FFF2-40B4-BE49-F238E27FC236}">
                    <a16:creationId xmlns:a16="http://schemas.microsoft.com/office/drawing/2014/main" id="{17C4B289-8491-3C63-C7C0-790283726B4C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23" name="Isosceles Triangle 322">
                <a:extLst>
                  <a:ext uri="{FF2B5EF4-FFF2-40B4-BE49-F238E27FC236}">
                    <a16:creationId xmlns:a16="http://schemas.microsoft.com/office/drawing/2014/main" id="{E851BDB6-0589-2D38-04CE-C1B22A36C45B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8C6D8226-65BE-28A6-EDD7-74661F3BECA4}"/>
              </a:ext>
            </a:extLst>
          </p:cNvPr>
          <p:cNvGrpSpPr/>
          <p:nvPr/>
        </p:nvGrpSpPr>
        <p:grpSpPr>
          <a:xfrm>
            <a:off x="6256131" y="4625604"/>
            <a:ext cx="514818" cy="267444"/>
            <a:chOff x="4343400" y="4686300"/>
            <a:chExt cx="514818" cy="267444"/>
          </a:xfrm>
        </p:grpSpPr>
        <p:grpSp>
          <p:nvGrpSpPr>
            <p:cNvPr id="325" name="Group 324">
              <a:extLst>
                <a:ext uri="{FF2B5EF4-FFF2-40B4-BE49-F238E27FC236}">
                  <a16:creationId xmlns:a16="http://schemas.microsoft.com/office/drawing/2014/main" id="{DE60ACC9-B46C-A309-5B74-1C01CCAD9019}"/>
                </a:ext>
              </a:extLst>
            </p:cNvPr>
            <p:cNvGrpSpPr/>
            <p:nvPr/>
          </p:nvGrpSpPr>
          <p:grpSpPr>
            <a:xfrm>
              <a:off x="4343400" y="4686300"/>
              <a:ext cx="514818" cy="186690"/>
              <a:chOff x="0" y="0"/>
              <a:chExt cx="1225472" cy="434195"/>
            </a:xfrm>
          </p:grpSpPr>
          <p:grpSp>
            <p:nvGrpSpPr>
              <p:cNvPr id="327" name="Group 326">
                <a:extLst>
                  <a:ext uri="{FF2B5EF4-FFF2-40B4-BE49-F238E27FC236}">
                    <a16:creationId xmlns:a16="http://schemas.microsoft.com/office/drawing/2014/main" id="{4801DCAE-386E-38DC-C2BD-0D336BE8B01C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5472" cy="434195"/>
                <a:chOff x="0" y="0"/>
                <a:chExt cx="1393403" cy="567773"/>
              </a:xfrm>
            </p:grpSpPr>
            <p:sp>
              <p:nvSpPr>
                <p:cNvPr id="329" name="Chord 328">
                  <a:extLst>
                    <a:ext uri="{FF2B5EF4-FFF2-40B4-BE49-F238E27FC236}">
                      <a16:creationId xmlns:a16="http://schemas.microsoft.com/office/drawing/2014/main" id="{E4F5A5D9-846C-B6CC-FDD8-36146C689A13}"/>
                    </a:ext>
                  </a:extLst>
                </p:cNvPr>
                <p:cNvSpPr/>
                <p:nvPr/>
              </p:nvSpPr>
              <p:spPr>
                <a:xfrm rot="16200000" flipV="1">
                  <a:off x="-31858" y="31859"/>
                  <a:ext cx="567771" cy="504055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30" name="Chord 329">
                  <a:extLst>
                    <a:ext uri="{FF2B5EF4-FFF2-40B4-BE49-F238E27FC236}">
                      <a16:creationId xmlns:a16="http://schemas.microsoft.com/office/drawing/2014/main" id="{A2BDB68B-62B7-2A7A-8F58-18D9E5797EA2}"/>
                    </a:ext>
                  </a:extLst>
                </p:cNvPr>
                <p:cNvSpPr/>
                <p:nvPr/>
              </p:nvSpPr>
              <p:spPr>
                <a:xfrm rot="16200000">
                  <a:off x="874901" y="49270"/>
                  <a:ext cx="567772" cy="469233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38000">
                      <a:schemeClr val="bg1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31" name="Rectangle 330">
                  <a:extLst>
                    <a:ext uri="{FF2B5EF4-FFF2-40B4-BE49-F238E27FC236}">
                      <a16:creationId xmlns:a16="http://schemas.microsoft.com/office/drawing/2014/main" id="{F68DD881-6D0B-4112-88C8-790515EE5925}"/>
                    </a:ext>
                  </a:extLst>
                </p:cNvPr>
                <p:cNvSpPr/>
                <p:nvPr/>
              </p:nvSpPr>
              <p:spPr>
                <a:xfrm>
                  <a:off x="255082" y="0"/>
                  <a:ext cx="914400" cy="56777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28" name="Rectangle 327">
                <a:extLst>
                  <a:ext uri="{FF2B5EF4-FFF2-40B4-BE49-F238E27FC236}">
                    <a16:creationId xmlns:a16="http://schemas.microsoft.com/office/drawing/2014/main" id="{2E9886BA-8D10-EC0E-0C11-272611E45E13}"/>
                  </a:ext>
                </a:extLst>
              </p:cNvPr>
              <p:cNvSpPr/>
              <p:nvPr/>
            </p:nvSpPr>
            <p:spPr>
              <a:xfrm>
                <a:off x="526211" y="32021"/>
                <a:ext cx="469291" cy="102969"/>
              </a:xfrm>
              <a:prstGeom prst="rect">
                <a:avLst/>
              </a:prstGeom>
              <a:pattFill prst="lgCheck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2BC5ABD5-5D6E-E188-99EA-F769FBEF6958}"/>
                </a:ext>
              </a:extLst>
            </p:cNvPr>
            <p:cNvSpPr txBox="1"/>
            <p:nvPr/>
          </p:nvSpPr>
          <p:spPr>
            <a:xfrm>
              <a:off x="4495800" y="4722912"/>
              <a:ext cx="228600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Slug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Catcher</a:t>
              </a:r>
            </a:p>
          </p:txBody>
        </p:sp>
      </p:grpSp>
      <p:cxnSp>
        <p:nvCxnSpPr>
          <p:cNvPr id="334" name="Straight Arrow Connector 333">
            <a:extLst>
              <a:ext uri="{FF2B5EF4-FFF2-40B4-BE49-F238E27FC236}">
                <a16:creationId xmlns:a16="http://schemas.microsoft.com/office/drawing/2014/main" id="{8B56236F-245A-A5EA-22B1-3C66ADB369AB}"/>
              </a:ext>
            </a:extLst>
          </p:cNvPr>
          <p:cNvCxnSpPr>
            <a:cxnSpLocks/>
          </p:cNvCxnSpPr>
          <p:nvPr/>
        </p:nvCxnSpPr>
        <p:spPr>
          <a:xfrm rot="360000" flipH="1" flipV="1">
            <a:off x="6618534" y="4501617"/>
            <a:ext cx="20781" cy="14400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Straight Arrow Connector 334">
            <a:extLst>
              <a:ext uri="{FF2B5EF4-FFF2-40B4-BE49-F238E27FC236}">
                <a16:creationId xmlns:a16="http://schemas.microsoft.com/office/drawing/2014/main" id="{0FE9F376-73CF-5EA5-7AB0-CD097D48F882}"/>
              </a:ext>
            </a:extLst>
          </p:cNvPr>
          <p:cNvCxnSpPr>
            <a:cxnSpLocks/>
          </p:cNvCxnSpPr>
          <p:nvPr/>
        </p:nvCxnSpPr>
        <p:spPr>
          <a:xfrm>
            <a:off x="6578349" y="4816126"/>
            <a:ext cx="0" cy="339064"/>
          </a:xfrm>
          <a:prstGeom prst="straightConnector1">
            <a:avLst/>
          </a:prstGeom>
          <a:ln w="254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B8F8B205-B6FA-BA73-E67D-ACB826EF0F6D}"/>
              </a:ext>
            </a:extLst>
          </p:cNvPr>
          <p:cNvGrpSpPr/>
          <p:nvPr/>
        </p:nvGrpSpPr>
        <p:grpSpPr>
          <a:xfrm rot="5280000">
            <a:off x="6537121" y="4901034"/>
            <a:ext cx="100011" cy="92014"/>
            <a:chOff x="5715000" y="4748213"/>
            <a:chExt cx="176211" cy="92014"/>
          </a:xfrm>
        </p:grpSpPr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BFAD9301-6A52-1DDF-5E31-346CDEBFD2AA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338" name="Group 337">
              <a:extLst>
                <a:ext uri="{FF2B5EF4-FFF2-40B4-BE49-F238E27FC236}">
                  <a16:creationId xmlns:a16="http://schemas.microsoft.com/office/drawing/2014/main" id="{5F7CA3C3-D0FE-6357-F7B1-38C65DF56B1B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339" name="Isosceles Triangle 338">
                <a:extLst>
                  <a:ext uri="{FF2B5EF4-FFF2-40B4-BE49-F238E27FC236}">
                    <a16:creationId xmlns:a16="http://schemas.microsoft.com/office/drawing/2014/main" id="{A116F875-ECC1-1FED-FE3F-FC8CF34B7B0D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40" name="Isosceles Triangle 339">
                <a:extLst>
                  <a:ext uri="{FF2B5EF4-FFF2-40B4-BE49-F238E27FC236}">
                    <a16:creationId xmlns:a16="http://schemas.microsoft.com/office/drawing/2014/main" id="{20BFF2F1-8FA9-73D3-330B-4FBFF49D673C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sp>
        <p:nvSpPr>
          <p:cNvPr id="341" name="Flowchart: Magnetic Disk 340">
            <a:extLst>
              <a:ext uri="{FF2B5EF4-FFF2-40B4-BE49-F238E27FC236}">
                <a16:creationId xmlns:a16="http://schemas.microsoft.com/office/drawing/2014/main" id="{EFF019B4-A218-A252-31E0-CD45B071E573}"/>
              </a:ext>
            </a:extLst>
          </p:cNvPr>
          <p:cNvSpPr/>
          <p:nvPr/>
        </p:nvSpPr>
        <p:spPr>
          <a:xfrm>
            <a:off x="6425951" y="5129940"/>
            <a:ext cx="334093" cy="200055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sp>
        <p:nvSpPr>
          <p:cNvPr id="342" name="TextBox 135">
            <a:extLst>
              <a:ext uri="{FF2B5EF4-FFF2-40B4-BE49-F238E27FC236}">
                <a16:creationId xmlns:a16="http://schemas.microsoft.com/office/drawing/2014/main" id="{69D3492D-4AE2-FF9F-92C1-CDB3D0B46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2595" y="5324111"/>
            <a:ext cx="1185528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GPP Liquid Processing / Water Disposal System</a:t>
            </a:r>
          </a:p>
        </p:txBody>
      </p:sp>
      <p:sp>
        <p:nvSpPr>
          <p:cNvPr id="343" name="TextBox 103">
            <a:extLst>
              <a:ext uri="{FF2B5EF4-FFF2-40B4-BE49-F238E27FC236}">
                <a16:creationId xmlns:a16="http://schemas.microsoft.com/office/drawing/2014/main" id="{97A06CC7-C958-19BD-4434-FCFDA4DC6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50613" y="4961463"/>
            <a:ext cx="355389" cy="19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IPP</a:t>
            </a:r>
          </a:p>
        </p:txBody>
      </p: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165BB959-D9BD-9C87-D8A5-9949B699C128}"/>
              </a:ext>
            </a:extLst>
          </p:cNvPr>
          <p:cNvCxnSpPr>
            <a:cxnSpLocks/>
          </p:cNvCxnSpPr>
          <p:nvPr/>
        </p:nvCxnSpPr>
        <p:spPr>
          <a:xfrm>
            <a:off x="7757755" y="4934884"/>
            <a:ext cx="10404" cy="488488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Flowchart: Magnetic Disk 344">
            <a:extLst>
              <a:ext uri="{FF2B5EF4-FFF2-40B4-BE49-F238E27FC236}">
                <a16:creationId xmlns:a16="http://schemas.microsoft.com/office/drawing/2014/main" id="{FA167170-DA38-2CB8-2C8A-EF4D02C7520D}"/>
              </a:ext>
            </a:extLst>
          </p:cNvPr>
          <p:cNvSpPr/>
          <p:nvPr/>
        </p:nvSpPr>
        <p:spPr>
          <a:xfrm>
            <a:off x="7620002" y="5408034"/>
            <a:ext cx="334093" cy="251481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346" name="Group 345">
            <a:extLst>
              <a:ext uri="{FF2B5EF4-FFF2-40B4-BE49-F238E27FC236}">
                <a16:creationId xmlns:a16="http://schemas.microsoft.com/office/drawing/2014/main" id="{B64BF1B6-397A-1764-D341-220BA07B3183}"/>
              </a:ext>
            </a:extLst>
          </p:cNvPr>
          <p:cNvGrpSpPr/>
          <p:nvPr/>
        </p:nvGrpSpPr>
        <p:grpSpPr>
          <a:xfrm>
            <a:off x="8904771" y="5459781"/>
            <a:ext cx="304800" cy="276999"/>
            <a:chOff x="4876800" y="5752186"/>
            <a:chExt cx="304800" cy="276999"/>
          </a:xfrm>
        </p:grpSpPr>
        <p:sp>
          <p:nvSpPr>
            <p:cNvPr id="347" name="TextBox 52">
              <a:extLst>
                <a:ext uri="{FF2B5EF4-FFF2-40B4-BE49-F238E27FC236}">
                  <a16:creationId xmlns:a16="http://schemas.microsoft.com/office/drawing/2014/main" id="{06C2CF95-384F-A1B9-7686-661A08882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48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36CBD229-5AE7-EFDA-2759-D8760A7E5D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62626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9" name="Group 348">
            <a:extLst>
              <a:ext uri="{FF2B5EF4-FFF2-40B4-BE49-F238E27FC236}">
                <a16:creationId xmlns:a16="http://schemas.microsoft.com/office/drawing/2014/main" id="{C36FB618-FA8A-F584-9379-B8E6A696229F}"/>
              </a:ext>
            </a:extLst>
          </p:cNvPr>
          <p:cNvGrpSpPr/>
          <p:nvPr/>
        </p:nvGrpSpPr>
        <p:grpSpPr>
          <a:xfrm>
            <a:off x="9514369" y="5778414"/>
            <a:ext cx="304800" cy="279115"/>
            <a:chOff x="4876800" y="5750070"/>
            <a:chExt cx="304800" cy="279115"/>
          </a:xfrm>
        </p:grpSpPr>
        <p:sp>
          <p:nvSpPr>
            <p:cNvPr id="350" name="TextBox 52">
              <a:extLst>
                <a:ext uri="{FF2B5EF4-FFF2-40B4-BE49-F238E27FC236}">
                  <a16:creationId xmlns:a16="http://schemas.microsoft.com/office/drawing/2014/main" id="{FC8B618A-AA68-F5DF-E7E1-3AECF92F1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51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5EAF11B1-56D4-EA39-AC24-D70E31C1D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54675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52" name="Straight Arrow Connector 351">
            <a:extLst>
              <a:ext uri="{FF2B5EF4-FFF2-40B4-BE49-F238E27FC236}">
                <a16:creationId xmlns:a16="http://schemas.microsoft.com/office/drawing/2014/main" id="{D173BC45-1119-FFA7-918E-7291EAEF139D}"/>
              </a:ext>
            </a:extLst>
          </p:cNvPr>
          <p:cNvCxnSpPr>
            <a:cxnSpLocks/>
            <a:endCxn id="348" idx="0"/>
          </p:cNvCxnSpPr>
          <p:nvPr/>
        </p:nvCxnSpPr>
        <p:spPr>
          <a:xfrm>
            <a:off x="7995548" y="5596565"/>
            <a:ext cx="932815" cy="0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TextBox 135">
            <a:extLst>
              <a:ext uri="{FF2B5EF4-FFF2-40B4-BE49-F238E27FC236}">
                <a16:creationId xmlns:a16="http://schemas.microsoft.com/office/drawing/2014/main" id="{FDAFE782-6B78-E7A4-1704-A03A2903AE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8924" y="5623586"/>
            <a:ext cx="1114409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Storage Tanks</a:t>
            </a:r>
          </a:p>
        </p:txBody>
      </p:sp>
      <p:sp>
        <p:nvSpPr>
          <p:cNvPr id="354" name="TextBox 135">
            <a:extLst>
              <a:ext uri="{FF2B5EF4-FFF2-40B4-BE49-F238E27FC236}">
                <a16:creationId xmlns:a16="http://schemas.microsoft.com/office/drawing/2014/main" id="{01471EC9-F540-89F9-5AFB-C259CACC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9327" y="5466508"/>
            <a:ext cx="469398" cy="19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55" name="TextBox 135">
            <a:extLst>
              <a:ext uri="{FF2B5EF4-FFF2-40B4-BE49-F238E27FC236}">
                <a16:creationId xmlns:a16="http://schemas.microsoft.com/office/drawing/2014/main" id="{D163B54F-DD83-1698-F239-2C09161D9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8163" y="5423983"/>
            <a:ext cx="397866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56" name="TextBox 188">
            <a:extLst>
              <a:ext uri="{FF2B5EF4-FFF2-40B4-BE49-F238E27FC236}">
                <a16:creationId xmlns:a16="http://schemas.microsoft.com/office/drawing/2014/main" id="{852EE5BB-D14C-15E1-22B3-B039BCC17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3139" y="5681650"/>
            <a:ext cx="9650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Export  Jetty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(at </a:t>
            </a:r>
            <a:r>
              <a:rPr kumimoji="0" lang="en-US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Akabel</a:t>
            </a: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)</a:t>
            </a:r>
          </a:p>
        </p:txBody>
      </p:sp>
      <p:sp>
        <p:nvSpPr>
          <p:cNvPr id="357" name="TextBox 188">
            <a:extLst>
              <a:ext uri="{FF2B5EF4-FFF2-40B4-BE49-F238E27FC236}">
                <a16:creationId xmlns:a16="http://schemas.microsoft.com/office/drawing/2014/main" id="{7CBEA3CE-E127-0F26-574D-4520CF4FA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7946" y="5853377"/>
            <a:ext cx="435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1C2B4EA6-6228-F6BF-AFC6-DB81A42D6648}"/>
              </a:ext>
            </a:extLst>
          </p:cNvPr>
          <p:cNvGrpSpPr/>
          <p:nvPr/>
        </p:nvGrpSpPr>
        <p:grpSpPr>
          <a:xfrm>
            <a:off x="6078306" y="4104422"/>
            <a:ext cx="3928860" cy="2259258"/>
            <a:chOff x="6346104" y="3805121"/>
            <a:chExt cx="4117310" cy="2367623"/>
          </a:xfrm>
        </p:grpSpPr>
        <p:sp>
          <p:nvSpPr>
            <p:cNvPr id="359" name="TextBox 103">
              <a:extLst>
                <a:ext uri="{FF2B5EF4-FFF2-40B4-BE49-F238E27FC236}">
                  <a16:creationId xmlns:a16="http://schemas.microsoft.com/office/drawing/2014/main" id="{61AC9D78-22E3-A712-2FDC-EA082080D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6104" y="3806173"/>
              <a:ext cx="1996372" cy="205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Gas Processing Facility (at </a:t>
              </a:r>
              <a:r>
                <a:rPr kumimoji="0" lang="en-US" alt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Akabel</a:t>
              </a: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)</a:t>
              </a:r>
            </a:p>
          </p:txBody>
        </p:sp>
        <p:grpSp>
          <p:nvGrpSpPr>
            <p:cNvPr id="360" name="Group 359">
              <a:extLst>
                <a:ext uri="{FF2B5EF4-FFF2-40B4-BE49-F238E27FC236}">
                  <a16:creationId xmlns:a16="http://schemas.microsoft.com/office/drawing/2014/main" id="{932E2A69-5C34-39B0-7A52-1226A46447A9}"/>
                </a:ext>
              </a:extLst>
            </p:cNvPr>
            <p:cNvGrpSpPr/>
            <p:nvPr/>
          </p:nvGrpSpPr>
          <p:grpSpPr>
            <a:xfrm>
              <a:off x="6416015" y="3805121"/>
              <a:ext cx="4047399" cy="2367623"/>
              <a:chOff x="6416015" y="3805121"/>
              <a:chExt cx="4047399" cy="2367623"/>
            </a:xfrm>
          </p:grpSpPr>
          <p:cxnSp>
            <p:nvCxnSpPr>
              <p:cNvPr id="361" name="Straight Arrow Connector 360">
                <a:extLst>
                  <a:ext uri="{FF2B5EF4-FFF2-40B4-BE49-F238E27FC236}">
                    <a16:creationId xmlns:a16="http://schemas.microsoft.com/office/drawing/2014/main" id="{5CE6B58C-7CF8-F123-E861-F7BB8D352B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4489" y="4691447"/>
                <a:ext cx="15350" cy="867715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Arrow Connector 361">
                <a:extLst>
                  <a:ext uri="{FF2B5EF4-FFF2-40B4-BE49-F238E27FC236}">
                    <a16:creationId xmlns:a16="http://schemas.microsoft.com/office/drawing/2014/main" id="{7F8280E3-7AE4-5FB3-DC0C-899EE3EA47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287" y="5738274"/>
                <a:ext cx="2001997" cy="0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3" name="Rectangle 28">
                <a:extLst>
                  <a:ext uri="{FF2B5EF4-FFF2-40B4-BE49-F238E27FC236}">
                    <a16:creationId xmlns:a16="http://schemas.microsoft.com/office/drawing/2014/main" id="{78A10305-A371-9080-D965-77BECDFBE5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16015" y="3805121"/>
                <a:ext cx="2475503" cy="2365235"/>
              </a:xfrm>
              <a:prstGeom prst="rect">
                <a:avLst/>
              </a:prstGeom>
              <a:noFill/>
              <a:ln w="19050" algn="ctr">
                <a:solidFill>
                  <a:srgbClr val="7030A0"/>
                </a:solidFill>
                <a:prstDash val="sysDot"/>
                <a:round/>
                <a:headEnd/>
                <a:tailEnd/>
              </a:ln>
            </p:spPr>
            <p:txBody>
              <a:bodyPr lIns="36000" r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64" name="Rectangle 363">
                <a:extLst>
                  <a:ext uri="{FF2B5EF4-FFF2-40B4-BE49-F238E27FC236}">
                    <a16:creationId xmlns:a16="http://schemas.microsoft.com/office/drawing/2014/main" id="{59135E33-F553-FFEE-364F-5CA5EE22DA7F}"/>
                  </a:ext>
                </a:extLst>
              </p:cNvPr>
              <p:cNvSpPr/>
              <p:nvPr/>
            </p:nvSpPr>
            <p:spPr>
              <a:xfrm>
                <a:off x="9246690" y="4066557"/>
                <a:ext cx="816398" cy="474579"/>
              </a:xfrm>
              <a:prstGeom prst="rect">
                <a:avLst/>
              </a:prstGeom>
              <a:noFill/>
              <a:ln w="952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BFPCL Methanol Plant</a:t>
                </a:r>
              </a:p>
            </p:txBody>
          </p:sp>
          <p:cxnSp>
            <p:nvCxnSpPr>
              <p:cNvPr id="365" name="Straight Arrow Connector 364">
                <a:extLst>
                  <a:ext uri="{FF2B5EF4-FFF2-40B4-BE49-F238E27FC236}">
                    <a16:creationId xmlns:a16="http://schemas.microsoft.com/office/drawing/2014/main" id="{70674AE9-0FF0-2A99-AD1C-4F03BDF1FA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2310" y="4301572"/>
                <a:ext cx="300570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6" name="TextBox 365">
                <a:extLst>
                  <a:ext uri="{FF2B5EF4-FFF2-40B4-BE49-F238E27FC236}">
                    <a16:creationId xmlns:a16="http://schemas.microsoft.com/office/drawing/2014/main" id="{F4699830-6D3F-5110-F5A0-224AFC22AD23}"/>
                  </a:ext>
                </a:extLst>
              </p:cNvPr>
              <p:cNvSpPr txBox="1"/>
              <p:nvPr/>
            </p:nvSpPr>
            <p:spPr bwMode="auto">
              <a:xfrm>
                <a:off x="9993477" y="4682812"/>
                <a:ext cx="304285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67" name="TextBox 366">
                <a:extLst>
                  <a:ext uri="{FF2B5EF4-FFF2-40B4-BE49-F238E27FC236}">
                    <a16:creationId xmlns:a16="http://schemas.microsoft.com/office/drawing/2014/main" id="{F7275A0E-BB29-E5D2-C1F3-ACB526B9453B}"/>
                  </a:ext>
                </a:extLst>
              </p:cNvPr>
              <p:cNvSpPr txBox="1"/>
              <p:nvPr/>
            </p:nvSpPr>
            <p:spPr bwMode="auto">
              <a:xfrm>
                <a:off x="10230285" y="4461282"/>
                <a:ext cx="59838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68" name="TextBox 149">
                <a:extLst>
                  <a:ext uri="{FF2B5EF4-FFF2-40B4-BE49-F238E27FC236}">
                    <a16:creationId xmlns:a16="http://schemas.microsoft.com/office/drawing/2014/main" id="{A62FD09D-B0DA-81A1-61A4-A96D4BE6BAA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61187" y="4584377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69" name="TextBox 149">
                <a:extLst>
                  <a:ext uri="{FF2B5EF4-FFF2-40B4-BE49-F238E27FC236}">
                    <a16:creationId xmlns:a16="http://schemas.microsoft.com/office/drawing/2014/main" id="{7BFC5E65-09B0-4AE7-DCAD-643DC7804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5389" y="3995746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70" name="TextBox 188">
                <a:extLst>
                  <a:ext uri="{FF2B5EF4-FFF2-40B4-BE49-F238E27FC236}">
                    <a16:creationId xmlns:a16="http://schemas.microsoft.com/office/drawing/2014/main" id="{230EE316-694D-3BEF-C3B2-79E348F4B1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05214" y="5817951"/>
                <a:ext cx="1258200" cy="3547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 Export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 Jetty (at </a:t>
                </a:r>
                <a:r>
                  <a:rPr kumimoji="0" lang="en-US" alt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Akabel</a:t>
                </a: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)</a:t>
                </a:r>
              </a:p>
            </p:txBody>
          </p:sp>
          <p:cxnSp>
            <p:nvCxnSpPr>
              <p:cNvPr id="371" name="Straight Connector 370">
                <a:extLst>
                  <a:ext uri="{FF2B5EF4-FFF2-40B4-BE49-F238E27FC236}">
                    <a16:creationId xmlns:a16="http://schemas.microsoft.com/office/drawing/2014/main" id="{53E9768D-A0A3-F3D9-1439-852F25538B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9559" y="5547077"/>
                <a:ext cx="387161" cy="0"/>
              </a:xfrm>
              <a:prstGeom prst="line">
                <a:avLst/>
              </a:prstGeom>
              <a:ln w="63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Arrow Connector 371">
                <a:extLst>
                  <a:ext uri="{FF2B5EF4-FFF2-40B4-BE49-F238E27FC236}">
                    <a16:creationId xmlns:a16="http://schemas.microsoft.com/office/drawing/2014/main" id="{8558FFFF-80BA-ABCE-1834-B1FABB9AE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1488" y="4221718"/>
                <a:ext cx="603628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3" name="Flowchart: Magnetic Disk 372">
                <a:extLst>
                  <a:ext uri="{FF2B5EF4-FFF2-40B4-BE49-F238E27FC236}">
                    <a16:creationId xmlns:a16="http://schemas.microsoft.com/office/drawing/2014/main" id="{4239019A-C39D-8387-F4A2-942DD23AC0D5}"/>
                  </a:ext>
                </a:extLst>
              </p:cNvPr>
              <p:cNvSpPr/>
              <p:nvPr/>
            </p:nvSpPr>
            <p:spPr>
              <a:xfrm>
                <a:off x="7544779" y="5536011"/>
                <a:ext cx="350118" cy="263543"/>
              </a:xfrm>
              <a:prstGeom prst="flowChartMagneticDisk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74" name="TextBox 135">
                <a:extLst>
                  <a:ext uri="{FF2B5EF4-FFF2-40B4-BE49-F238E27FC236}">
                    <a16:creationId xmlns:a16="http://schemas.microsoft.com/office/drawing/2014/main" id="{8A0B15C4-7E2E-44E3-62A1-C790F27777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4020" y="5765457"/>
                <a:ext cx="914197" cy="338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Storage Tanks</a:t>
                </a:r>
              </a:p>
            </p:txBody>
          </p:sp>
          <p:sp>
            <p:nvSpPr>
              <p:cNvPr id="375" name="TextBox 149">
                <a:extLst>
                  <a:ext uri="{FF2B5EF4-FFF2-40B4-BE49-F238E27FC236}">
                    <a16:creationId xmlns:a16="http://schemas.microsoft.com/office/drawing/2014/main" id="{EC725D3D-1BA7-89E2-25CA-5EDF352DE9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37505" y="5686697"/>
                <a:ext cx="764687" cy="2096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</p:txBody>
          </p:sp>
          <p:sp>
            <p:nvSpPr>
              <p:cNvPr id="376" name="Rounded Rectangle 55">
                <a:extLst>
                  <a:ext uri="{FF2B5EF4-FFF2-40B4-BE49-F238E27FC236}">
                    <a16:creationId xmlns:a16="http://schemas.microsoft.com/office/drawing/2014/main" id="{BBE9C790-1A30-19CE-497E-FCC2B3F2956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354" y="4062008"/>
                <a:ext cx="735427" cy="616214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Gas</a:t>
                </a:r>
                <a:b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</a:b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Processing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Facility 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(60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barg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500 MMscfd</a:t>
                </a:r>
              </a:p>
            </p:txBody>
          </p:sp>
          <p:sp>
            <p:nvSpPr>
              <p:cNvPr id="377" name="TextBox 149">
                <a:extLst>
                  <a:ext uri="{FF2B5EF4-FFF2-40B4-BE49-F238E27FC236}">
                    <a16:creationId xmlns:a16="http://schemas.microsoft.com/office/drawing/2014/main" id="{50976438-F1F2-52F1-BDE7-0337253100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58779" y="5046022"/>
                <a:ext cx="832063" cy="1128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Brass FLNG</a:t>
                </a:r>
              </a:p>
            </p:txBody>
          </p:sp>
        </p:grpSp>
      </p:grpSp>
      <p:sp>
        <p:nvSpPr>
          <p:cNvPr id="378" name="Rectangle 377">
            <a:extLst>
              <a:ext uri="{FF2B5EF4-FFF2-40B4-BE49-F238E27FC236}">
                <a16:creationId xmlns:a16="http://schemas.microsoft.com/office/drawing/2014/main" id="{EB1D943B-8278-E1CB-5352-51D4E745E578}"/>
              </a:ext>
            </a:extLst>
          </p:cNvPr>
          <p:cNvSpPr/>
          <p:nvPr/>
        </p:nvSpPr>
        <p:spPr>
          <a:xfrm>
            <a:off x="7496398" y="2824465"/>
            <a:ext cx="106218" cy="89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E52A60AD-08A1-D437-E51A-3C3B76E7204E}"/>
              </a:ext>
            </a:extLst>
          </p:cNvPr>
          <p:cNvSpPr txBox="1"/>
          <p:nvPr/>
        </p:nvSpPr>
        <p:spPr>
          <a:xfrm>
            <a:off x="50610" y="2500009"/>
            <a:ext cx="153206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OKNU Manifold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20” x 85km OKNU-BBOU P/L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BBOU Manifold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24” x 8km BBOU-ELEP P/L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ELEP Manifold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sz="1100">
                <a:solidFill>
                  <a:srgbClr val="00B050"/>
                </a:solidFill>
                <a:latin typeface="Futura Std Book" panose="020B0502020204020303"/>
              </a:rPr>
              <a:t>30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”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x 32km ELEP-AKAB P/L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PLEM at AKAB</a:t>
            </a:r>
            <a:endParaRPr kumimoji="0" lang="en-NG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628BA439-E9E6-CA47-0927-241ACA545908}"/>
              </a:ext>
            </a:extLst>
          </p:cNvPr>
          <p:cNvSpPr txBox="1"/>
          <p:nvPr/>
        </p:nvSpPr>
        <p:spPr>
          <a:xfrm>
            <a:off x="47359" y="562759"/>
            <a:ext cx="16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CCCCFF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Facilities West of River Niger</a:t>
            </a:r>
            <a:endParaRPr kumimoji="0" lang="x-none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CCCCFF"/>
              </a:highlight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382" name="TextBox 156">
            <a:extLst>
              <a:ext uri="{FF2B5EF4-FFF2-40B4-BE49-F238E27FC236}">
                <a16:creationId xmlns:a16="http://schemas.microsoft.com/office/drawing/2014/main" id="{401CFC5A-D80C-8762-58EB-30D0656AC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3833" y="5257800"/>
            <a:ext cx="402162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af-ZA" sz="14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Pressure required at Gas Plant inlet: 60 barg</a:t>
            </a:r>
            <a:endParaRPr kumimoji="0" lang="en-US" altLang="af-ZA" sz="14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385" name="TextBox 135">
            <a:extLst>
              <a:ext uri="{FF2B5EF4-FFF2-40B4-BE49-F238E27FC236}">
                <a16:creationId xmlns:a16="http://schemas.microsoft.com/office/drawing/2014/main" id="{47731002-7804-6BAD-A400-346817671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4832" y="5819552"/>
            <a:ext cx="609600" cy="19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sp>
        <p:nvSpPr>
          <p:cNvPr id="386" name="TextBox 69">
            <a:extLst>
              <a:ext uri="{FF2B5EF4-FFF2-40B4-BE49-F238E27FC236}">
                <a16:creationId xmlns:a16="http://schemas.microsoft.com/office/drawing/2014/main" id="{8C2EC6A0-B43E-3206-69C4-30E270D093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548" y="-15875"/>
            <a:ext cx="78822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RAEC 200 MMscfd Gas Supply From OKNU For The DSV Gas Hub</a:t>
            </a:r>
            <a:b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</a:br>
            <a: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Alongside RAEC Phase-1 GSPA 270 MMscfd Gas Supply to the BFPCL Gas Processing Plant</a:t>
            </a:r>
            <a:endParaRPr kumimoji="0" lang="en-US" altLang="en-US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455C5-5392-05EA-B192-99BEB09CD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1" y="555963"/>
            <a:ext cx="4267193" cy="3139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77F94A-4114-17AD-26BD-1447197F7E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025" y="921503"/>
            <a:ext cx="1759975" cy="29914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F5A814F-B183-6EC0-A4C5-2A5045E9C7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8635" y="715027"/>
            <a:ext cx="783000" cy="207749"/>
          </a:xfrm>
          <a:prstGeom prst="rect">
            <a:avLst/>
          </a:prstGeom>
          <a:noFill/>
          <a:ln w="12700">
            <a:solidFill>
              <a:srgbClr val="00CC66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SITE PLAN</a:t>
            </a:r>
          </a:p>
        </p:txBody>
      </p: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2F3A35F5-5001-14DA-FFEA-A108E9F794E1}"/>
              </a:ext>
            </a:extLst>
          </p:cNvPr>
          <p:cNvCxnSpPr>
            <a:cxnSpLocks/>
          </p:cNvCxnSpPr>
          <p:nvPr/>
        </p:nvCxnSpPr>
        <p:spPr>
          <a:xfrm flipH="1">
            <a:off x="7385117" y="838200"/>
            <a:ext cx="1050646" cy="2577252"/>
          </a:xfrm>
          <a:prstGeom prst="straightConnector1">
            <a:avLst/>
          </a:prstGeom>
          <a:ln w="12700">
            <a:solidFill>
              <a:srgbClr val="00B050"/>
            </a:solidFill>
            <a:prstDash val="sysDash"/>
            <a:headEnd type="none" w="med" len="med"/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extBox 135">
            <a:extLst>
              <a:ext uri="{FF2B5EF4-FFF2-40B4-BE49-F238E27FC236}">
                <a16:creationId xmlns:a16="http://schemas.microsoft.com/office/drawing/2014/main" id="{CE78DCB9-B42C-E402-A09D-1AC1D1F2CD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64" y="1660649"/>
            <a:ext cx="1532068" cy="66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Slug Catcher Concept Provision, c/w: Liquid Processing / Water Disposal System.</a:t>
            </a:r>
          </a:p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(Located at OKNU or BBOU or ELEP), or at AKAB, subject to </a:t>
            </a:r>
            <a:r>
              <a:rPr kumimoji="0" lang="en-US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benefit analysis</a:t>
            </a:r>
            <a:endParaRPr kumimoji="0" lang="en-US" altLang="en-US" sz="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sp>
        <p:nvSpPr>
          <p:cNvPr id="5" name="TextBox 156">
            <a:extLst>
              <a:ext uri="{FF2B5EF4-FFF2-40B4-BE49-F238E27FC236}">
                <a16:creationId xmlns:a16="http://schemas.microsoft.com/office/drawing/2014/main" id="{B56BB6B3-B8A4-C78C-A40B-C3B3F7FB1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9020" y="4348922"/>
            <a:ext cx="731736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af-ZA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Futura Std Book" panose="020B0502020204020303"/>
                <a:ea typeface="+mn-ea"/>
                <a:cs typeface="Arial" charset="0"/>
              </a:rPr>
              <a:t>470 MMscfd</a:t>
            </a:r>
          </a:p>
        </p:txBody>
      </p:sp>
      <p:sp>
        <p:nvSpPr>
          <p:cNvPr id="14" name="TextBox 156">
            <a:extLst>
              <a:ext uri="{FF2B5EF4-FFF2-40B4-BE49-F238E27FC236}">
                <a16:creationId xmlns:a16="http://schemas.microsoft.com/office/drawing/2014/main" id="{F1EF781C-2749-3FCF-AD35-9FB1AD631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0039" y="4856722"/>
            <a:ext cx="159163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altLang="af-ZA" sz="15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P/L Scope Limit</a:t>
            </a:r>
            <a:endParaRPr kumimoji="0" lang="en-US" altLang="af-ZA" sz="15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2B8B85-ADAE-F047-4406-CFEC69CCAE5E}"/>
              </a:ext>
            </a:extLst>
          </p:cNvPr>
          <p:cNvCxnSpPr>
            <a:cxnSpLocks/>
          </p:cNvCxnSpPr>
          <p:nvPr/>
        </p:nvCxnSpPr>
        <p:spPr>
          <a:xfrm rot="-60000">
            <a:off x="1603390" y="5043121"/>
            <a:ext cx="1620000" cy="16877"/>
          </a:xfrm>
          <a:prstGeom prst="line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585B99-29D3-97CF-AD32-00D79C1DE1A7}"/>
              </a:ext>
            </a:extLst>
          </p:cNvPr>
          <p:cNvCxnSpPr>
            <a:cxnSpLocks/>
          </p:cNvCxnSpPr>
          <p:nvPr/>
        </p:nvCxnSpPr>
        <p:spPr>
          <a:xfrm rot="60000" flipH="1">
            <a:off x="4750660" y="5026412"/>
            <a:ext cx="1368000" cy="16877"/>
          </a:xfrm>
          <a:prstGeom prst="line">
            <a:avLst/>
          </a:prstGeom>
          <a:ln w="31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TextBox 103">
            <a:extLst>
              <a:ext uri="{FF2B5EF4-FFF2-40B4-BE49-F238E27FC236}">
                <a16:creationId xmlns:a16="http://schemas.microsoft.com/office/drawing/2014/main" id="{8231449E-B9C0-E7BC-D465-E091D68E46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99" y="4794151"/>
            <a:ext cx="1469145" cy="6074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Pipeline diameters are provisional, pending FP Survey of new Pipeline Route, and update of the existing Pipeline Route</a:t>
            </a:r>
          </a:p>
        </p:txBody>
      </p:sp>
    </p:spTree>
    <p:extLst>
      <p:ext uri="{BB962C8B-B14F-4D97-AF65-F5344CB8AC3E}">
        <p14:creationId xmlns:p14="http://schemas.microsoft.com/office/powerpoint/2010/main" val="2815860451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C67A6-0B3B-C588-F343-2A48734A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: Elbow 1">
            <a:extLst>
              <a:ext uri="{FF2B5EF4-FFF2-40B4-BE49-F238E27FC236}">
                <a16:creationId xmlns:a16="http://schemas.microsoft.com/office/drawing/2014/main" id="{E917A7F5-0D12-624F-67B3-04A616D32767}"/>
              </a:ext>
            </a:extLst>
          </p:cNvPr>
          <p:cNvCxnSpPr>
            <a:cxnSpLocks/>
          </p:cNvCxnSpPr>
          <p:nvPr/>
        </p:nvCxnSpPr>
        <p:spPr>
          <a:xfrm>
            <a:off x="4433056" y="3540417"/>
            <a:ext cx="1027621" cy="279066"/>
          </a:xfrm>
          <a:prstGeom prst="bentConnector3">
            <a:avLst>
              <a:gd name="adj1" fmla="val 5631"/>
            </a:avLst>
          </a:prstGeom>
          <a:ln w="508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pSp>
        <p:nvGrpSpPr>
          <p:cNvPr id="3" name="Group 655">
            <a:extLst>
              <a:ext uri="{FF2B5EF4-FFF2-40B4-BE49-F238E27FC236}">
                <a16:creationId xmlns:a16="http://schemas.microsoft.com/office/drawing/2014/main" id="{8C402933-06AE-F174-453E-DA0368848E47}"/>
              </a:ext>
            </a:extLst>
          </p:cNvPr>
          <p:cNvGrpSpPr>
            <a:grpSpLocks/>
          </p:cNvGrpSpPr>
          <p:nvPr/>
        </p:nvGrpSpPr>
        <p:grpSpPr bwMode="auto">
          <a:xfrm>
            <a:off x="3339381" y="2791413"/>
            <a:ext cx="675665" cy="216534"/>
            <a:chOff x="7620000" y="2768520"/>
            <a:chExt cx="968237" cy="309036"/>
          </a:xfrm>
        </p:grpSpPr>
        <p:grpSp>
          <p:nvGrpSpPr>
            <p:cNvPr id="4" name="Group 657">
              <a:extLst>
                <a:ext uri="{FF2B5EF4-FFF2-40B4-BE49-F238E27FC236}">
                  <a16:creationId xmlns:a16="http://schemas.microsoft.com/office/drawing/2014/main" id="{E2C354BA-BB24-95AC-BCD6-38866BDE15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0" y="2768520"/>
              <a:ext cx="968237" cy="309036"/>
              <a:chOff x="7620000" y="2768520"/>
              <a:chExt cx="968237" cy="309036"/>
            </a:xfrm>
          </p:grpSpPr>
          <p:sp>
            <p:nvSpPr>
              <p:cNvPr id="6" name="TextBox 732">
                <a:extLst>
                  <a:ext uri="{FF2B5EF4-FFF2-40B4-BE49-F238E27FC236}">
                    <a16:creationId xmlns:a16="http://schemas.microsoft.com/office/drawing/2014/main" id="{C57BC102-F161-C52A-39F0-DC3C45A8FB3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75450" y="2768520"/>
                <a:ext cx="712787" cy="3090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af-ZA" sz="807" dirty="0">
                    <a:solidFill>
                      <a:srgbClr val="FF0000"/>
                    </a:solidFill>
                    <a:latin typeface="Futura Std Book" pitchFamily="34" charset="0"/>
                    <a:cs typeface="Aharoni" pitchFamily="2" charset="-79"/>
                  </a:rPr>
                  <a:t> CTP</a:t>
                </a:r>
              </a:p>
            </p:txBody>
          </p:sp>
          <p:grpSp>
            <p:nvGrpSpPr>
              <p:cNvPr id="7" name="Group 662">
                <a:extLst>
                  <a:ext uri="{FF2B5EF4-FFF2-40B4-BE49-F238E27FC236}">
                    <a16:creationId xmlns:a16="http://schemas.microsoft.com/office/drawing/2014/main" id="{057119CC-4857-B4E2-5C2A-70029A0F0D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0000" y="2819320"/>
                <a:ext cx="347663" cy="164429"/>
                <a:chOff x="8084132" y="2347198"/>
                <a:chExt cx="347663" cy="164429"/>
              </a:xfrm>
            </p:grpSpPr>
            <p:cxnSp>
              <p:nvCxnSpPr>
                <p:cNvPr id="8" name="Straight Connector 7">
                  <a:extLst>
                    <a:ext uri="{FF2B5EF4-FFF2-40B4-BE49-F238E27FC236}">
                      <a16:creationId xmlns:a16="http://schemas.microsoft.com/office/drawing/2014/main" id="{D5E30944-2868-4C51-A18F-1F4AA0DCC909}"/>
                    </a:ext>
                  </a:extLst>
                </p:cNvPr>
                <p:cNvCxnSpPr/>
                <p:nvPr/>
              </p:nvCxnSpPr>
              <p:spPr bwMode="auto">
                <a:xfrm>
                  <a:off x="8084132" y="2438897"/>
                  <a:ext cx="158750" cy="0"/>
                </a:xfrm>
                <a:prstGeom prst="line">
                  <a:avLst/>
                </a:prstGeom>
                <a:ln w="381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9" name="Rounded Rectangle 735">
                  <a:extLst>
                    <a:ext uri="{FF2B5EF4-FFF2-40B4-BE49-F238E27FC236}">
                      <a16:creationId xmlns:a16="http://schemas.microsoft.com/office/drawing/2014/main" id="{FD0471DF-C3DD-1DC4-D98F-D26B4A71DD39}"/>
                    </a:ext>
                  </a:extLst>
                </p:cNvPr>
                <p:cNvSpPr/>
                <p:nvPr/>
              </p:nvSpPr>
              <p:spPr bwMode="auto">
                <a:xfrm>
                  <a:off x="8249232" y="2347197"/>
                  <a:ext cx="182562" cy="164428"/>
                </a:xfrm>
                <a:prstGeom prst="roundRect">
                  <a:avLst/>
                </a:prstGeom>
                <a:solidFill>
                  <a:srgbClr val="FFC000"/>
                </a:solidFill>
                <a:ln w="12700">
                  <a:solidFill>
                    <a:srgbClr val="99663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613">
                    <a:latin typeface="Futura Std Book" pitchFamily="34" charset="0"/>
                  </a:endParaRPr>
                </a:p>
              </p:txBody>
            </p:sp>
          </p:grpSp>
        </p:grpSp>
        <p:sp>
          <p:nvSpPr>
            <p:cNvPr id="5" name="TextBox 1002">
              <a:extLst>
                <a:ext uri="{FF2B5EF4-FFF2-40B4-BE49-F238E27FC236}">
                  <a16:creationId xmlns:a16="http://schemas.microsoft.com/office/drawing/2014/main" id="{6802D26D-7EA4-5EA8-23E6-DB394769B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74928"/>
              <a:ext cx="205956" cy="289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af-ZA" sz="717" b="1" dirty="0">
                  <a:latin typeface="Futura Std Book" pitchFamily="34" charset="0"/>
                </a:rPr>
                <a:t>M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5851AB-D4AD-308D-B1DE-91CDFE773DC1}"/>
              </a:ext>
            </a:extLst>
          </p:cNvPr>
          <p:cNvGrpSpPr/>
          <p:nvPr/>
        </p:nvGrpSpPr>
        <p:grpSpPr>
          <a:xfrm>
            <a:off x="3249041" y="3302274"/>
            <a:ext cx="1611478" cy="258380"/>
            <a:chOff x="4052832" y="4534999"/>
            <a:chExt cx="1798670" cy="288394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5EF82CC-E337-A334-858E-A4ECE0ED067C}"/>
                </a:ext>
              </a:extLst>
            </p:cNvPr>
            <p:cNvCxnSpPr>
              <a:cxnSpLocks/>
            </p:cNvCxnSpPr>
            <p:nvPr/>
          </p:nvCxnSpPr>
          <p:spPr>
            <a:xfrm>
              <a:off x="4052832" y="4709342"/>
              <a:ext cx="1162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1D55635-09A0-93CC-6437-AD0291CD9B3D}"/>
                </a:ext>
              </a:extLst>
            </p:cNvPr>
            <p:cNvCxnSpPr/>
            <p:nvPr/>
          </p:nvCxnSpPr>
          <p:spPr>
            <a:xfrm>
              <a:off x="4060538" y="4657410"/>
              <a:ext cx="11623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</p:cxnSp>
        <p:grpSp>
          <p:nvGrpSpPr>
            <p:cNvPr id="13" name="Group 409">
              <a:extLst>
                <a:ext uri="{FF2B5EF4-FFF2-40B4-BE49-F238E27FC236}">
                  <a16:creationId xmlns:a16="http://schemas.microsoft.com/office/drawing/2014/main" id="{D67614E6-B07E-729D-DD78-99A15762FC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9909" y="4534999"/>
              <a:ext cx="1761593" cy="288394"/>
              <a:chOff x="4187337" y="7725696"/>
              <a:chExt cx="3006021" cy="350676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342C461C-54C2-D342-5141-B7155DCBC8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29810" y="7952936"/>
                <a:ext cx="0" cy="123436"/>
              </a:xfrm>
              <a:prstGeom prst="line">
                <a:avLst/>
              </a:prstGeom>
              <a:ln w="50800">
                <a:solidFill>
                  <a:srgbClr val="99FF6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CC7F47E-B61D-1B2D-167D-60C87EF627BC}"/>
                  </a:ext>
                </a:extLst>
              </p:cNvPr>
              <p:cNvCxnSpPr/>
              <p:nvPr/>
            </p:nvCxnSpPr>
            <p:spPr>
              <a:xfrm rot="5400000">
                <a:off x="4154328" y="7801178"/>
                <a:ext cx="150964" cy="0"/>
              </a:xfrm>
              <a:prstGeom prst="line">
                <a:avLst/>
              </a:prstGeom>
              <a:ln w="5080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273AECD2-303F-04CA-13DE-1F122CBFDF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87337" y="8048674"/>
                <a:ext cx="3006021" cy="0"/>
              </a:xfrm>
              <a:prstGeom prst="line">
                <a:avLst/>
              </a:prstGeom>
              <a:ln w="50800">
                <a:solidFill>
                  <a:srgbClr val="99FF66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04572-9DC3-4537-A17B-0311417C3738}"/>
              </a:ext>
            </a:extLst>
          </p:cNvPr>
          <p:cNvCxnSpPr/>
          <p:nvPr/>
        </p:nvCxnSpPr>
        <p:spPr bwMode="auto">
          <a:xfrm>
            <a:off x="3203121" y="2906782"/>
            <a:ext cx="0" cy="3212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18647AE-432C-3994-50B4-74B192EC2B69}"/>
              </a:ext>
            </a:extLst>
          </p:cNvPr>
          <p:cNvCxnSpPr/>
          <p:nvPr/>
        </p:nvCxnSpPr>
        <p:spPr bwMode="auto">
          <a:xfrm>
            <a:off x="2985990" y="2890165"/>
            <a:ext cx="0" cy="64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889DE705-A932-CFA6-D346-7AAD77C08688}"/>
              </a:ext>
            </a:extLst>
          </p:cNvPr>
          <p:cNvSpPr>
            <a:spLocks/>
          </p:cNvSpPr>
          <p:nvPr/>
        </p:nvSpPr>
        <p:spPr bwMode="auto">
          <a:xfrm rot="16200000">
            <a:off x="3137760" y="2527914"/>
            <a:ext cx="127399" cy="433151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latin typeface="Futura Std Book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DC75917-26B0-9C50-2D0E-D07E3E9E0C9E}"/>
              </a:ext>
            </a:extLst>
          </p:cNvPr>
          <p:cNvCxnSpPr/>
          <p:nvPr/>
        </p:nvCxnSpPr>
        <p:spPr bwMode="auto">
          <a:xfrm>
            <a:off x="3200905" y="2812619"/>
            <a:ext cx="0" cy="3212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293F339-3D3A-4B29-4470-4561D95ABAED}"/>
              </a:ext>
            </a:extLst>
          </p:cNvPr>
          <p:cNvCxnSpPr/>
          <p:nvPr/>
        </p:nvCxnSpPr>
        <p:spPr bwMode="auto">
          <a:xfrm>
            <a:off x="3146623" y="2860253"/>
            <a:ext cx="10413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313C6A-9EBB-A440-D41D-A69D7E2BBD72}"/>
              </a:ext>
            </a:extLst>
          </p:cNvPr>
          <p:cNvCxnSpPr/>
          <p:nvPr/>
        </p:nvCxnSpPr>
        <p:spPr bwMode="auto">
          <a:xfrm>
            <a:off x="3149947" y="2915644"/>
            <a:ext cx="10413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3" name="TextBox 133">
            <a:extLst>
              <a:ext uri="{FF2B5EF4-FFF2-40B4-BE49-F238E27FC236}">
                <a16:creationId xmlns:a16="http://schemas.microsoft.com/office/drawing/2014/main" id="{D9491E41-A150-A9A7-EAE6-FE283F426B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150" y="2655165"/>
            <a:ext cx="434208" cy="202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717" dirty="0">
                <a:latin typeface="Futura Std Book" pitchFamily="34" charset="0"/>
              </a:rPr>
              <a:t>ELEP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24E5E3-8744-B9F2-E8B1-2CC91BF0FC9D}"/>
              </a:ext>
            </a:extLst>
          </p:cNvPr>
          <p:cNvSpPr>
            <a:spLocks/>
          </p:cNvSpPr>
          <p:nvPr/>
        </p:nvSpPr>
        <p:spPr bwMode="auto">
          <a:xfrm rot="16200000">
            <a:off x="3014239" y="2933926"/>
            <a:ext cx="374439" cy="43315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solidFill>
                <a:schemeClr val="tx1"/>
              </a:solidFill>
              <a:latin typeface="Futura Std Book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DA8C30C-F658-3AF0-8B1B-B988D05D0108}"/>
              </a:ext>
            </a:extLst>
          </p:cNvPr>
          <p:cNvCxnSpPr/>
          <p:nvPr/>
        </p:nvCxnSpPr>
        <p:spPr bwMode="auto">
          <a:xfrm>
            <a:off x="2982668" y="2891272"/>
            <a:ext cx="436475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EDECED-44D6-6CCB-EDA9-1B301D104806}"/>
              </a:ext>
            </a:extLst>
          </p:cNvPr>
          <p:cNvCxnSpPr/>
          <p:nvPr/>
        </p:nvCxnSpPr>
        <p:spPr bwMode="auto">
          <a:xfrm>
            <a:off x="3419142" y="2890165"/>
            <a:ext cx="0" cy="6425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7F071E-A464-C8F6-9508-65D355AB8464}"/>
              </a:ext>
            </a:extLst>
          </p:cNvPr>
          <p:cNvCxnSpPr/>
          <p:nvPr/>
        </p:nvCxnSpPr>
        <p:spPr bwMode="auto">
          <a:xfrm>
            <a:off x="2984882" y="2821482"/>
            <a:ext cx="0" cy="6868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50CDDE0-5C8D-1329-74EC-3191C2BC1D4A}"/>
              </a:ext>
            </a:extLst>
          </p:cNvPr>
          <p:cNvCxnSpPr/>
          <p:nvPr/>
        </p:nvCxnSpPr>
        <p:spPr bwMode="auto">
          <a:xfrm>
            <a:off x="3419143" y="2809296"/>
            <a:ext cx="0" cy="6979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0" name="TextBox 704">
            <a:extLst>
              <a:ext uri="{FF2B5EF4-FFF2-40B4-BE49-F238E27FC236}">
                <a16:creationId xmlns:a16="http://schemas.microsoft.com/office/drawing/2014/main" id="{9F15EA7B-7DDF-13DF-3A6E-6968A0C1C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2727" y="2957742"/>
            <a:ext cx="47635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dirty="0">
                <a:latin typeface="Futura Std Book" pitchFamily="34" charset="0"/>
              </a:rPr>
              <a:t>ELEP</a:t>
            </a:r>
          </a:p>
          <a:p>
            <a:pPr algn="ctr" eaLnBrk="1" hangingPunct="1"/>
            <a:r>
              <a:rPr lang="en-US" altLang="af-ZA" sz="800" dirty="0">
                <a:latin typeface="Futura Std Book" pitchFamily="34" charset="0"/>
              </a:rPr>
              <a:t> E-MF</a:t>
            </a:r>
          </a:p>
        </p:txBody>
      </p:sp>
      <p:sp>
        <p:nvSpPr>
          <p:cNvPr id="31" name="TextBox 156">
            <a:extLst>
              <a:ext uri="{FF2B5EF4-FFF2-40B4-BE49-F238E27FC236}">
                <a16:creationId xmlns:a16="http://schemas.microsoft.com/office/drawing/2014/main" id="{7BEE14CD-ECE4-2512-A030-1B0731A6F0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066" y="3541536"/>
            <a:ext cx="98825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u="sng" dirty="0">
                <a:latin typeface="Futura Std Book" pitchFamily="34" charset="0"/>
              </a:rPr>
              <a:t>30’’ x 32km</a:t>
            </a:r>
          </a:p>
        </p:txBody>
      </p:sp>
      <p:sp>
        <p:nvSpPr>
          <p:cNvPr id="32" name="TextBox 156">
            <a:extLst>
              <a:ext uri="{FF2B5EF4-FFF2-40B4-BE49-F238E27FC236}">
                <a16:creationId xmlns:a16="http://schemas.microsoft.com/office/drawing/2014/main" id="{DD565D4B-0DE3-7D2B-5675-61491D347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5136" y="3322606"/>
            <a:ext cx="8504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dirty="0">
                <a:highlight>
                  <a:srgbClr val="FFFF00"/>
                </a:highlight>
                <a:latin typeface="Futura Std Book" pitchFamily="34" charset="0"/>
              </a:rPr>
              <a:t>540 MMscfd </a:t>
            </a:r>
          </a:p>
        </p:txBody>
      </p:sp>
      <p:sp>
        <p:nvSpPr>
          <p:cNvPr id="33" name="TextBox 155">
            <a:extLst>
              <a:ext uri="{FF2B5EF4-FFF2-40B4-BE49-F238E27FC236}">
                <a16:creationId xmlns:a16="http://schemas.microsoft.com/office/drawing/2014/main" id="{5E95B994-E62B-72D6-1C79-3BF59BA0F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078" y="3109977"/>
            <a:ext cx="7848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u="sng" dirty="0">
                <a:latin typeface="Futura Std Book" pitchFamily="34" charset="0"/>
              </a:rPr>
              <a:t>24” x 8km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CCC892A-5071-EDC4-6699-358F8CAA72B7}"/>
              </a:ext>
            </a:extLst>
          </p:cNvPr>
          <p:cNvSpPr>
            <a:spLocks/>
          </p:cNvSpPr>
          <p:nvPr/>
        </p:nvSpPr>
        <p:spPr bwMode="auto">
          <a:xfrm rot="16200000">
            <a:off x="1440074" y="2676846"/>
            <a:ext cx="319048" cy="433151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solidFill>
                <a:schemeClr val="accent2"/>
              </a:solidFill>
              <a:latin typeface="Futura Std Book" pitchFamily="34" charset="0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0D8358C-8960-1F0F-19B3-DFFC90717B0D}"/>
              </a:ext>
            </a:extLst>
          </p:cNvPr>
          <p:cNvCxnSpPr/>
          <p:nvPr/>
        </p:nvCxnSpPr>
        <p:spPr bwMode="auto">
          <a:xfrm>
            <a:off x="1621189" y="2692919"/>
            <a:ext cx="0" cy="3545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F20DDE0-53F4-D432-2545-1426068BC2E9}"/>
              </a:ext>
            </a:extLst>
          </p:cNvPr>
          <p:cNvCxnSpPr/>
          <p:nvPr/>
        </p:nvCxnSpPr>
        <p:spPr bwMode="auto">
          <a:xfrm>
            <a:off x="1388961" y="2666332"/>
            <a:ext cx="0" cy="697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DB9752C-BB98-96EE-667F-71642872EB3C}"/>
              </a:ext>
            </a:extLst>
          </p:cNvPr>
          <p:cNvSpPr>
            <a:spLocks/>
          </p:cNvSpPr>
          <p:nvPr/>
        </p:nvSpPr>
        <p:spPr bwMode="auto">
          <a:xfrm rot="16200000">
            <a:off x="1532564" y="2325127"/>
            <a:ext cx="138476" cy="428722"/>
          </a:xfrm>
          <a:prstGeom prst="rect">
            <a:avLst/>
          </a:prstGeom>
          <a:solidFill>
            <a:srgbClr val="99FF66"/>
          </a:solidFill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 sz="1613" dirty="0">
              <a:latin typeface="Futura Std Book" pitchFamily="34" charset="0"/>
            </a:endParaRP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EBF0702-F508-2913-0ECE-68A6DEFDE20B}"/>
              </a:ext>
            </a:extLst>
          </p:cNvPr>
          <p:cNvCxnSpPr/>
          <p:nvPr/>
        </p:nvCxnSpPr>
        <p:spPr bwMode="auto">
          <a:xfrm>
            <a:off x="1554722" y="2650821"/>
            <a:ext cx="963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6024FD4-CAD5-FAE9-D9CA-80F4C1CA9CF1}"/>
              </a:ext>
            </a:extLst>
          </p:cNvPr>
          <p:cNvCxnSpPr/>
          <p:nvPr/>
        </p:nvCxnSpPr>
        <p:spPr bwMode="auto">
          <a:xfrm>
            <a:off x="1556937" y="2690703"/>
            <a:ext cx="9637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40" name="TextBox 133">
            <a:extLst>
              <a:ext uri="{FF2B5EF4-FFF2-40B4-BE49-F238E27FC236}">
                <a16:creationId xmlns:a16="http://schemas.microsoft.com/office/drawing/2014/main" id="{0CBE23CE-39B1-8AFD-AB48-B29A50C72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5169" y="2434849"/>
            <a:ext cx="468279" cy="202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717" dirty="0">
                <a:latin typeface="Futura Std Book" pitchFamily="34" charset="0"/>
              </a:rPr>
              <a:t>BBOU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D74286-989D-2F49-A8AD-79BC87724518}"/>
              </a:ext>
            </a:extLst>
          </p:cNvPr>
          <p:cNvCxnSpPr/>
          <p:nvPr/>
        </p:nvCxnSpPr>
        <p:spPr bwMode="auto">
          <a:xfrm>
            <a:off x="1387442" y="2664115"/>
            <a:ext cx="427615" cy="0"/>
          </a:xfrm>
          <a:prstGeom prst="line">
            <a:avLst/>
          </a:prstGeom>
          <a:ln w="317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6F744488-7C9F-825B-D1D7-B94DFB8E6297}"/>
              </a:ext>
            </a:extLst>
          </p:cNvPr>
          <p:cNvCxnSpPr/>
          <p:nvPr/>
        </p:nvCxnSpPr>
        <p:spPr bwMode="auto">
          <a:xfrm>
            <a:off x="1816575" y="2666332"/>
            <a:ext cx="0" cy="697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38208D-DBB8-A333-A88C-DFA344795F5E}"/>
              </a:ext>
            </a:extLst>
          </p:cNvPr>
          <p:cNvCxnSpPr/>
          <p:nvPr/>
        </p:nvCxnSpPr>
        <p:spPr bwMode="auto">
          <a:xfrm>
            <a:off x="1389247" y="2603185"/>
            <a:ext cx="0" cy="67576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136C6F8-56A2-D989-6864-E83D1CB982BB}"/>
              </a:ext>
            </a:extLst>
          </p:cNvPr>
          <p:cNvCxnSpPr/>
          <p:nvPr/>
        </p:nvCxnSpPr>
        <p:spPr bwMode="auto">
          <a:xfrm>
            <a:off x="1816860" y="2599864"/>
            <a:ext cx="0" cy="675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57679A1-B3BB-8B5D-9B04-A33AE1691685}"/>
              </a:ext>
            </a:extLst>
          </p:cNvPr>
          <p:cNvCxnSpPr/>
          <p:nvPr/>
        </p:nvCxnSpPr>
        <p:spPr>
          <a:xfrm>
            <a:off x="1607906" y="2605392"/>
            <a:ext cx="0" cy="38774"/>
          </a:xfrm>
          <a:prstGeom prst="line">
            <a:avLst/>
          </a:prstGeom>
          <a:ln w="190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6" name="TextBox 703">
            <a:extLst>
              <a:ext uri="{FF2B5EF4-FFF2-40B4-BE49-F238E27FC236}">
                <a16:creationId xmlns:a16="http://schemas.microsoft.com/office/drawing/2014/main" id="{831CB4D9-5FF2-EF2D-A749-04566D82E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3393" y="2747436"/>
            <a:ext cx="622587" cy="435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af-ZA" sz="800" dirty="0">
                <a:latin typeface="Futura Std Book" pitchFamily="34" charset="0"/>
              </a:rPr>
              <a:t>BBOU</a:t>
            </a:r>
          </a:p>
          <a:p>
            <a:pPr>
              <a:defRPr/>
            </a:pPr>
            <a:r>
              <a:rPr lang="en-US" altLang="af-ZA" sz="800" dirty="0">
                <a:latin typeface="Futura Std Book" pitchFamily="34" charset="0"/>
              </a:rPr>
              <a:t>S-MF</a:t>
            </a:r>
          </a:p>
          <a:p>
            <a:pPr>
              <a:defRPr/>
            </a:pPr>
            <a:r>
              <a:rPr lang="en-US" altLang="af-ZA" sz="627" dirty="0">
                <a:highlight>
                  <a:srgbClr val="FFFF00"/>
                </a:highlight>
                <a:latin typeface="Futura Std Book" pitchFamily="34" charset="0"/>
              </a:rPr>
              <a:t> </a:t>
            </a:r>
          </a:p>
        </p:txBody>
      </p:sp>
      <p:grpSp>
        <p:nvGrpSpPr>
          <p:cNvPr id="47" name="Group 655">
            <a:extLst>
              <a:ext uri="{FF2B5EF4-FFF2-40B4-BE49-F238E27FC236}">
                <a16:creationId xmlns:a16="http://schemas.microsoft.com/office/drawing/2014/main" id="{D59FEA15-C9AD-E110-2DAB-02191077E6E9}"/>
              </a:ext>
            </a:extLst>
          </p:cNvPr>
          <p:cNvGrpSpPr>
            <a:grpSpLocks/>
          </p:cNvGrpSpPr>
          <p:nvPr/>
        </p:nvGrpSpPr>
        <p:grpSpPr bwMode="auto">
          <a:xfrm>
            <a:off x="1733087" y="2566344"/>
            <a:ext cx="669814" cy="216534"/>
            <a:chOff x="7620000" y="2769912"/>
            <a:chExt cx="959851" cy="309033"/>
          </a:xfrm>
        </p:grpSpPr>
        <p:grpSp>
          <p:nvGrpSpPr>
            <p:cNvPr id="48" name="Group 657">
              <a:extLst>
                <a:ext uri="{FF2B5EF4-FFF2-40B4-BE49-F238E27FC236}">
                  <a16:creationId xmlns:a16="http://schemas.microsoft.com/office/drawing/2014/main" id="{82BFEFFF-0A3F-A69C-D79D-9BAFAA660E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00" y="2769912"/>
              <a:ext cx="959851" cy="309033"/>
              <a:chOff x="7620000" y="2769912"/>
              <a:chExt cx="959851" cy="309033"/>
            </a:xfrm>
          </p:grpSpPr>
          <p:sp>
            <p:nvSpPr>
              <p:cNvPr id="50" name="TextBox 471">
                <a:extLst>
                  <a:ext uri="{FF2B5EF4-FFF2-40B4-BE49-F238E27FC236}">
                    <a16:creationId xmlns:a16="http://schemas.microsoft.com/office/drawing/2014/main" id="{F1AC4133-CA56-B6D2-3ECF-FC6E848EA96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67064" y="2769912"/>
                <a:ext cx="712787" cy="3090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itchFamily="34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af-ZA" sz="807" dirty="0">
                    <a:solidFill>
                      <a:srgbClr val="FF0000"/>
                    </a:solidFill>
                    <a:latin typeface="Futura Std Book" pitchFamily="34" charset="0"/>
                    <a:cs typeface="Aharoni" pitchFamily="2" charset="-79"/>
                  </a:rPr>
                  <a:t> CTP</a:t>
                </a:r>
              </a:p>
            </p:txBody>
          </p:sp>
          <p:grpSp>
            <p:nvGrpSpPr>
              <p:cNvPr id="51" name="Group 662">
                <a:extLst>
                  <a:ext uri="{FF2B5EF4-FFF2-40B4-BE49-F238E27FC236}">
                    <a16:creationId xmlns:a16="http://schemas.microsoft.com/office/drawing/2014/main" id="{9EE5545D-5838-5F24-A008-BAEBDEF578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0000" y="2819320"/>
                <a:ext cx="347663" cy="164429"/>
                <a:chOff x="8084132" y="2347198"/>
                <a:chExt cx="347663" cy="164429"/>
              </a:xfrm>
            </p:grpSpPr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D93706C2-B5E7-D749-30C3-CDE177BF3588}"/>
                    </a:ext>
                  </a:extLst>
                </p:cNvPr>
                <p:cNvCxnSpPr/>
                <p:nvPr/>
              </p:nvCxnSpPr>
              <p:spPr bwMode="auto">
                <a:xfrm>
                  <a:off x="8084132" y="2438897"/>
                  <a:ext cx="158750" cy="0"/>
                </a:xfrm>
                <a:prstGeom prst="line">
                  <a:avLst/>
                </a:prstGeom>
                <a:ln w="3810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sp>
              <p:nvSpPr>
                <p:cNvPr id="53" name="Rounded Rectangle 371">
                  <a:extLst>
                    <a:ext uri="{FF2B5EF4-FFF2-40B4-BE49-F238E27FC236}">
                      <a16:creationId xmlns:a16="http://schemas.microsoft.com/office/drawing/2014/main" id="{AC638520-14C6-B777-D9AE-7918E8D763B4}"/>
                    </a:ext>
                  </a:extLst>
                </p:cNvPr>
                <p:cNvSpPr/>
                <p:nvPr/>
              </p:nvSpPr>
              <p:spPr bwMode="auto">
                <a:xfrm>
                  <a:off x="8249232" y="2347197"/>
                  <a:ext cx="182562" cy="164428"/>
                </a:xfrm>
                <a:prstGeom prst="roundRect">
                  <a:avLst/>
                </a:prstGeom>
                <a:solidFill>
                  <a:srgbClr val="FFC000"/>
                </a:solidFill>
                <a:ln w="12700">
                  <a:solidFill>
                    <a:srgbClr val="99663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sz="1613">
                    <a:latin typeface="Futura Std Book" pitchFamily="34" charset="0"/>
                  </a:endParaRPr>
                </a:p>
              </p:txBody>
            </p:sp>
          </p:grpSp>
        </p:grpSp>
        <p:sp>
          <p:nvSpPr>
            <p:cNvPr id="49" name="TextBox 1002">
              <a:extLst>
                <a:ext uri="{FF2B5EF4-FFF2-40B4-BE49-F238E27FC236}">
                  <a16:creationId xmlns:a16="http://schemas.microsoft.com/office/drawing/2014/main" id="{BF548247-2153-B778-499B-ADEB72512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399" y="2779800"/>
              <a:ext cx="205955" cy="289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af-ZA" sz="717" b="1" dirty="0">
                  <a:latin typeface="Futura Std Book" pitchFamily="34" charset="0"/>
                </a:rPr>
                <a:t>M</a:t>
              </a:r>
            </a:p>
          </p:txBody>
        </p:sp>
      </p:grpSp>
      <p:cxnSp>
        <p:nvCxnSpPr>
          <p:cNvPr id="54" name="Straight Arrow Connector 136">
            <a:extLst>
              <a:ext uri="{FF2B5EF4-FFF2-40B4-BE49-F238E27FC236}">
                <a16:creationId xmlns:a16="http://schemas.microsoft.com/office/drawing/2014/main" id="{E2BDBDDE-DFC3-F48F-6D55-316DBC963D7E}"/>
              </a:ext>
            </a:extLst>
          </p:cNvPr>
          <p:cNvCxnSpPr>
            <a:cxnSpLocks/>
          </p:cNvCxnSpPr>
          <p:nvPr/>
        </p:nvCxnSpPr>
        <p:spPr bwMode="auto">
          <a:xfrm>
            <a:off x="1990812" y="3119413"/>
            <a:ext cx="972000" cy="0"/>
          </a:xfrm>
          <a:prstGeom prst="straightConnector1">
            <a:avLst/>
          </a:prstGeom>
          <a:ln w="38100">
            <a:solidFill>
              <a:srgbClr val="99FF6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CBE5980-F604-DAE4-5809-00C93F8294D1}"/>
              </a:ext>
            </a:extLst>
          </p:cNvPr>
          <p:cNvCxnSpPr/>
          <p:nvPr/>
        </p:nvCxnSpPr>
        <p:spPr bwMode="auto">
          <a:xfrm flipH="1">
            <a:off x="1933600" y="2897853"/>
            <a:ext cx="76439" cy="0"/>
          </a:xfrm>
          <a:prstGeom prst="line">
            <a:avLst/>
          </a:prstGeom>
          <a:ln w="38100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10F326B-7834-8EC2-A928-3D37C6379711}"/>
              </a:ext>
            </a:extLst>
          </p:cNvPr>
          <p:cNvCxnSpPr/>
          <p:nvPr/>
        </p:nvCxnSpPr>
        <p:spPr bwMode="auto">
          <a:xfrm rot="5400000" flipH="1" flipV="1">
            <a:off x="1893720" y="3001987"/>
            <a:ext cx="223777" cy="0"/>
          </a:xfrm>
          <a:prstGeom prst="line">
            <a:avLst/>
          </a:prstGeom>
          <a:ln w="38100">
            <a:solidFill>
              <a:srgbClr val="99FF66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9FAA17E-FE93-2E0C-9E79-CC09EF352806}"/>
              </a:ext>
            </a:extLst>
          </p:cNvPr>
          <p:cNvCxnSpPr/>
          <p:nvPr/>
        </p:nvCxnSpPr>
        <p:spPr bwMode="auto">
          <a:xfrm flipH="1">
            <a:off x="1825035" y="2897853"/>
            <a:ext cx="63145" cy="0"/>
          </a:xfrm>
          <a:prstGeom prst="line">
            <a:avLst/>
          </a:prstGeom>
          <a:ln w="381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82D6256-6502-1B65-7728-63F57B587549}"/>
              </a:ext>
            </a:extLst>
          </p:cNvPr>
          <p:cNvCxnSpPr/>
          <p:nvPr/>
        </p:nvCxnSpPr>
        <p:spPr bwMode="auto">
          <a:xfrm rot="5400000" flipH="1">
            <a:off x="1863809" y="2896745"/>
            <a:ext cx="64252" cy="0"/>
          </a:xfrm>
          <a:prstGeom prst="line">
            <a:avLst/>
          </a:prstGeom>
          <a:ln w="2540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5C55FECD-BEE5-655E-59D3-3979496B30CA}"/>
              </a:ext>
            </a:extLst>
          </p:cNvPr>
          <p:cNvCxnSpPr/>
          <p:nvPr/>
        </p:nvCxnSpPr>
        <p:spPr bwMode="auto">
          <a:xfrm rot="5400000" flipH="1">
            <a:off x="1907014" y="2900069"/>
            <a:ext cx="64252" cy="0"/>
          </a:xfrm>
          <a:prstGeom prst="line">
            <a:avLst/>
          </a:prstGeom>
          <a:ln w="25400">
            <a:solidFill>
              <a:srgbClr val="00FF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044DF092-0739-1CFE-6F26-59113AB9FA05}"/>
              </a:ext>
            </a:extLst>
          </p:cNvPr>
          <p:cNvSpPr/>
          <p:nvPr/>
        </p:nvSpPr>
        <p:spPr>
          <a:xfrm>
            <a:off x="2839927" y="2680059"/>
            <a:ext cx="124313" cy="124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7" dirty="0"/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AF3425D-5293-2BB0-20C0-1B2C3504FC15}"/>
              </a:ext>
            </a:extLst>
          </p:cNvPr>
          <p:cNvSpPr/>
          <p:nvPr/>
        </p:nvSpPr>
        <p:spPr>
          <a:xfrm>
            <a:off x="1239596" y="2465385"/>
            <a:ext cx="124313" cy="12431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7" dirty="0"/>
              <a:t>1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6D4FE66-2EA8-543B-DF72-D6F96B53B7E7}"/>
              </a:ext>
            </a:extLst>
          </p:cNvPr>
          <p:cNvGrpSpPr/>
          <p:nvPr/>
        </p:nvGrpSpPr>
        <p:grpSpPr>
          <a:xfrm>
            <a:off x="3094266" y="2504780"/>
            <a:ext cx="213466" cy="167854"/>
            <a:chOff x="1781818" y="3527862"/>
            <a:chExt cx="238262" cy="187352"/>
          </a:xfrm>
        </p:grpSpPr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73A4751-7CBB-7AC5-D816-297A5E39A99F}"/>
                </a:ext>
              </a:extLst>
            </p:cNvPr>
            <p:cNvCxnSpPr/>
            <p:nvPr/>
          </p:nvCxnSpPr>
          <p:spPr bwMode="auto">
            <a:xfrm flipV="1">
              <a:off x="1985458" y="3561889"/>
              <a:ext cx="0" cy="153325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E06113A-2EA9-C462-A3F3-CF01EA0EC652}"/>
                </a:ext>
              </a:extLst>
            </p:cNvPr>
            <p:cNvSpPr/>
            <p:nvPr/>
          </p:nvSpPr>
          <p:spPr bwMode="auto">
            <a:xfrm>
              <a:off x="1960728" y="3527862"/>
              <a:ext cx="59352" cy="64298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13">
                <a:latin typeface="Futura Std Book" pitchFamily="34" charset="0"/>
              </a:endParaRPr>
            </a:p>
          </p:txBody>
        </p: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64B265F-E5AD-1DE5-AF68-C658AE48BD8F}"/>
                </a:ext>
              </a:extLst>
            </p:cNvPr>
            <p:cNvCxnSpPr/>
            <p:nvPr/>
          </p:nvCxnSpPr>
          <p:spPr bwMode="auto">
            <a:xfrm flipV="1">
              <a:off x="1815203" y="3558179"/>
              <a:ext cx="0" cy="154561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D9B7A31-83A0-EE0A-1F13-3C332FEF2A24}"/>
                </a:ext>
              </a:extLst>
            </p:cNvPr>
            <p:cNvSpPr/>
            <p:nvPr/>
          </p:nvSpPr>
          <p:spPr bwMode="auto">
            <a:xfrm>
              <a:off x="1781818" y="3528456"/>
              <a:ext cx="59352" cy="6429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613">
                <a:latin typeface="Futura Std Book" pitchFamily="34" charset="0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77964EA-8981-6E60-482E-B2B097DD1E26}"/>
              </a:ext>
            </a:extLst>
          </p:cNvPr>
          <p:cNvGrpSpPr/>
          <p:nvPr/>
        </p:nvGrpSpPr>
        <p:grpSpPr>
          <a:xfrm>
            <a:off x="1412440" y="2287766"/>
            <a:ext cx="375982" cy="176142"/>
            <a:chOff x="381000" y="2830538"/>
            <a:chExt cx="419657" cy="19660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94AE5DE6-91F9-6AC2-F0A3-03EDE435769C}"/>
                </a:ext>
              </a:extLst>
            </p:cNvPr>
            <p:cNvGrpSpPr/>
            <p:nvPr/>
          </p:nvGrpSpPr>
          <p:grpSpPr>
            <a:xfrm>
              <a:off x="381000" y="2830538"/>
              <a:ext cx="64298" cy="196603"/>
              <a:chOff x="559898" y="2830538"/>
              <a:chExt cx="64298" cy="196603"/>
            </a:xfrm>
          </p:grpSpPr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7F315C11-7819-3826-0B50-C6035705E374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1B9DB2D1-7EFB-999B-8893-A8F690D093DB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A9DCF226-21AD-5836-F104-D72DC5378F88}"/>
                </a:ext>
              </a:extLst>
            </p:cNvPr>
            <p:cNvGrpSpPr/>
            <p:nvPr/>
          </p:nvGrpSpPr>
          <p:grpSpPr>
            <a:xfrm>
              <a:off x="736359" y="2830538"/>
              <a:ext cx="64298" cy="196603"/>
              <a:chOff x="559898" y="2830538"/>
              <a:chExt cx="64298" cy="196603"/>
            </a:xfrm>
          </p:grpSpPr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84FB16BF-E309-0493-98D0-D96562FF2C37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5740D69-50BE-A8A2-5976-D7E681E45344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BA045F82-9DE7-E85F-69C8-DDFF5AC200C8}"/>
                </a:ext>
              </a:extLst>
            </p:cNvPr>
            <p:cNvGrpSpPr/>
            <p:nvPr/>
          </p:nvGrpSpPr>
          <p:grpSpPr>
            <a:xfrm>
              <a:off x="498009" y="2830538"/>
              <a:ext cx="64298" cy="196603"/>
              <a:chOff x="559898" y="2830538"/>
              <a:chExt cx="64298" cy="196603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7C6239B-2CFA-EB26-13F6-1A6B7587C7BA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1B077D0D-A65F-9129-821F-68A0BFE9B891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188C264A-FCF8-4BBC-1516-BD83361716F9}"/>
                </a:ext>
              </a:extLst>
            </p:cNvPr>
            <p:cNvGrpSpPr/>
            <p:nvPr/>
          </p:nvGrpSpPr>
          <p:grpSpPr>
            <a:xfrm>
              <a:off x="610683" y="2830538"/>
              <a:ext cx="64298" cy="196603"/>
              <a:chOff x="559898" y="2830538"/>
              <a:chExt cx="64298" cy="196603"/>
            </a:xfrm>
          </p:grpSpPr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F93586D9-4488-8258-A3BC-CF4DD5B3B5C5}"/>
                  </a:ext>
                </a:extLst>
              </p:cNvPr>
              <p:cNvCxnSpPr/>
              <p:nvPr/>
            </p:nvCxnSpPr>
            <p:spPr bwMode="auto">
              <a:xfrm flipV="1">
                <a:off x="595756" y="2884944"/>
                <a:ext cx="0" cy="142197"/>
              </a:xfrm>
              <a:prstGeom prst="line">
                <a:avLst/>
              </a:prstGeom>
              <a:ln w="127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D7D0491E-1C5F-1F8F-25A4-6C0BB9D0BC29}"/>
                  </a:ext>
                </a:extLst>
              </p:cNvPr>
              <p:cNvSpPr/>
              <p:nvPr/>
            </p:nvSpPr>
            <p:spPr bwMode="auto">
              <a:xfrm>
                <a:off x="559898" y="2830538"/>
                <a:ext cx="64298" cy="59351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1613">
                  <a:latin typeface="Futura Std Book" pitchFamily="34" charset="0"/>
                </a:endParaRPr>
              </a:p>
            </p:txBody>
          </p:sp>
        </p:grpSp>
      </p:grpSp>
      <p:sp>
        <p:nvSpPr>
          <p:cNvPr id="80" name="TextBox 156">
            <a:extLst>
              <a:ext uri="{FF2B5EF4-FFF2-40B4-BE49-F238E27FC236}">
                <a16:creationId xmlns:a16="http://schemas.microsoft.com/office/drawing/2014/main" id="{147A9044-A26E-002F-2F35-45D06F7A1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7084" y="2483983"/>
            <a:ext cx="514473" cy="108879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6384" tIns="8193" rIns="16384" bIns="8193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af-ZA" sz="600" dirty="0">
                <a:latin typeface="Futura Std Book" pitchFamily="34" charset="0"/>
              </a:rPr>
              <a:t>331 MMscfd 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537BEC82-7D51-FE67-7606-30B957A82F4A}"/>
              </a:ext>
            </a:extLst>
          </p:cNvPr>
          <p:cNvGrpSpPr/>
          <p:nvPr/>
        </p:nvGrpSpPr>
        <p:grpSpPr>
          <a:xfrm>
            <a:off x="4861151" y="3425246"/>
            <a:ext cx="470946" cy="198668"/>
            <a:chOff x="0" y="1"/>
            <a:chExt cx="2069809" cy="252398"/>
          </a:xfrm>
        </p:grpSpPr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FE151543-7D10-395B-6DED-4F0B0482E39A}"/>
                </a:ext>
              </a:extLst>
            </p:cNvPr>
            <p:cNvSpPr/>
            <p:nvPr/>
          </p:nvSpPr>
          <p:spPr bwMode="auto">
            <a:xfrm flipH="1">
              <a:off x="445070" y="48370"/>
              <a:ext cx="1582318" cy="157317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6CA8F586-BDC2-8C01-BC59-80F6B9E9B0B0}"/>
                </a:ext>
              </a:extLst>
            </p:cNvPr>
            <p:cNvSpPr/>
            <p:nvPr/>
          </p:nvSpPr>
          <p:spPr bwMode="auto">
            <a:xfrm>
              <a:off x="2042440" y="1"/>
              <a:ext cx="27369" cy="252398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A7B0B4B8-E35D-F481-ADE2-A3EB8FF5D061}"/>
                </a:ext>
              </a:extLst>
            </p:cNvPr>
            <p:cNvSpPr/>
            <p:nvPr/>
          </p:nvSpPr>
          <p:spPr bwMode="auto">
            <a:xfrm flipH="1">
              <a:off x="0" y="86115"/>
              <a:ext cx="291916" cy="120411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GB"/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3774CD3-1CBB-5059-D283-86AA9FCA751F}"/>
                </a:ext>
              </a:extLst>
            </p:cNvPr>
            <p:cNvCxnSpPr/>
            <p:nvPr/>
          </p:nvCxnSpPr>
          <p:spPr bwMode="auto">
            <a:xfrm flipH="1">
              <a:off x="293490" y="58236"/>
              <a:ext cx="146292" cy="27879"/>
            </a:xfrm>
            <a:prstGeom prst="lin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E66D3B2E-948D-1B99-F866-3E4E7E022733}"/>
                </a:ext>
              </a:extLst>
            </p:cNvPr>
            <p:cNvCxnSpPr/>
            <p:nvPr/>
          </p:nvCxnSpPr>
          <p:spPr bwMode="auto">
            <a:xfrm flipH="1">
              <a:off x="153174" y="206526"/>
              <a:ext cx="279445" cy="0"/>
            </a:xfrm>
            <a:prstGeom prst="line">
              <a:avLst/>
            </a:prstGeom>
            <a:gradFill>
              <a:gsLst>
                <a:gs pos="0">
                  <a:schemeClr val="bg1"/>
                </a:gs>
                <a:gs pos="100000">
                  <a:schemeClr val="bg1">
                    <a:lumMod val="75000"/>
                  </a:schemeClr>
                </a:gs>
              </a:gsLst>
              <a:lin ang="16200000" scaled="1"/>
            </a:gradFill>
            <a:ln w="254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57493E84-9EAA-8487-0B2D-C33A901A1FC4}"/>
              </a:ext>
            </a:extLst>
          </p:cNvPr>
          <p:cNvSpPr txBox="1"/>
          <p:nvPr/>
        </p:nvSpPr>
        <p:spPr>
          <a:xfrm>
            <a:off x="4891401" y="3448896"/>
            <a:ext cx="50206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/>
              <a:t>Pig Receiver</a:t>
            </a: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D36AAC6-D213-280D-907C-EF65AA86F6B2}"/>
              </a:ext>
            </a:extLst>
          </p:cNvPr>
          <p:cNvCxnSpPr>
            <a:cxnSpLocks/>
          </p:cNvCxnSpPr>
          <p:nvPr/>
        </p:nvCxnSpPr>
        <p:spPr>
          <a:xfrm>
            <a:off x="1181221" y="2959632"/>
            <a:ext cx="180000" cy="0"/>
          </a:xfrm>
          <a:prstGeom prst="line">
            <a:avLst/>
          </a:prstGeom>
          <a:ln w="31750">
            <a:solidFill>
              <a:srgbClr val="99FF6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533722DB-12D5-08AC-4429-8E5C4DEB2ADC}"/>
              </a:ext>
            </a:extLst>
          </p:cNvPr>
          <p:cNvCxnSpPr>
            <a:cxnSpLocks/>
          </p:cNvCxnSpPr>
          <p:nvPr/>
        </p:nvCxnSpPr>
        <p:spPr>
          <a:xfrm>
            <a:off x="883785" y="2191685"/>
            <a:ext cx="112532" cy="300765"/>
          </a:xfrm>
          <a:prstGeom prst="straightConnector1">
            <a:avLst/>
          </a:prstGeom>
          <a:ln w="31750">
            <a:solidFill>
              <a:srgbClr val="99FF66"/>
            </a:solidFill>
            <a:headEnd type="none" w="med" len="med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01" name="TextBox 156">
            <a:extLst>
              <a:ext uri="{FF2B5EF4-FFF2-40B4-BE49-F238E27FC236}">
                <a16:creationId xmlns:a16="http://schemas.microsoft.com/office/drawing/2014/main" id="{267E3A1C-FFF3-7E69-DB1F-E13781753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5905" y="2915644"/>
            <a:ext cx="85041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dirty="0">
                <a:highlight>
                  <a:srgbClr val="FFFF00"/>
                </a:highlight>
                <a:latin typeface="Futura Std Book" pitchFamily="34" charset="0"/>
              </a:rPr>
              <a:t>470 MMscfd </a:t>
            </a:r>
          </a:p>
        </p:txBody>
      </p:sp>
      <p:sp>
        <p:nvSpPr>
          <p:cNvPr id="202" name="TextBox 156">
            <a:extLst>
              <a:ext uri="{FF2B5EF4-FFF2-40B4-BE49-F238E27FC236}">
                <a16:creationId xmlns:a16="http://schemas.microsoft.com/office/drawing/2014/main" id="{94C9C291-8F02-0A5F-04AF-903733CA5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633" y="2698939"/>
            <a:ext cx="472783" cy="95411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18288" tIns="9144" rIns="18288" bIns="9144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af-ZA" sz="500" dirty="0">
                <a:latin typeface="Futura Std Book" panose="020B0502020204020303"/>
              </a:rPr>
              <a:t>180 MMscfd 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E3D49C0-FDFA-86EB-F680-D534B4478C26}"/>
              </a:ext>
            </a:extLst>
          </p:cNvPr>
          <p:cNvSpPr/>
          <p:nvPr/>
        </p:nvSpPr>
        <p:spPr>
          <a:xfrm>
            <a:off x="75028" y="1693761"/>
            <a:ext cx="1753772" cy="546564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</a:rPr>
              <a:t>From OKNU 200 MMscfd</a:t>
            </a:r>
          </a:p>
          <a:p>
            <a:pPr algn="ctr">
              <a:defRPr/>
            </a:pPr>
            <a:r>
              <a:rPr lang="en-US" sz="900" dirty="0">
                <a:solidFill>
                  <a:schemeClr val="tx1"/>
                </a:solidFill>
              </a:rPr>
              <a:t>(270 </a:t>
            </a:r>
            <a:r>
              <a:rPr lang="en-US" sz="900" dirty="0" err="1">
                <a:solidFill>
                  <a:schemeClr val="tx1"/>
                </a:solidFill>
              </a:rPr>
              <a:t>MMsfd</a:t>
            </a:r>
            <a:r>
              <a:rPr lang="en-US" sz="900" dirty="0">
                <a:solidFill>
                  <a:schemeClr val="tx1"/>
                </a:solidFill>
              </a:rPr>
              <a:t>, if the make–up of 70 MMscfd comes from OKNU </a:t>
            </a:r>
          </a:p>
        </p:txBody>
      </p:sp>
      <p:sp>
        <p:nvSpPr>
          <p:cNvPr id="258" name="TextBox 156">
            <a:extLst>
              <a:ext uri="{FF2B5EF4-FFF2-40B4-BE49-F238E27FC236}">
                <a16:creationId xmlns:a16="http://schemas.microsoft.com/office/drawing/2014/main" id="{691D6D6D-7DD4-68FA-FF42-BE56947BE5B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4539688" y="4271202"/>
            <a:ext cx="163342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/>
            <a:r>
              <a:rPr lang="en-GB" altLang="af-ZA" sz="1200" dirty="0">
                <a:solidFill>
                  <a:srgbClr val="FF0000"/>
                </a:solidFill>
                <a:latin typeface="Futura Std Book" panose="020B0502020204020303"/>
              </a:rPr>
              <a:t>P/L Scope Limit</a:t>
            </a:r>
            <a:endParaRPr lang="en-US" altLang="af-ZA" sz="1200" dirty="0">
              <a:solidFill>
                <a:srgbClr val="FF0000"/>
              </a:solidFill>
              <a:latin typeface="Futura Std Book" panose="020B0502020204020303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78743B55-23CF-422F-0C8B-29A22A464F22}"/>
              </a:ext>
            </a:extLst>
          </p:cNvPr>
          <p:cNvSpPr txBox="1"/>
          <p:nvPr/>
        </p:nvSpPr>
        <p:spPr>
          <a:xfrm rot="20413637">
            <a:off x="819701" y="2312871"/>
            <a:ext cx="300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~</a:t>
            </a:r>
            <a:endParaRPr lang="en-NG" sz="240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0CFA60C7-C8F4-C7C9-B36C-DDAD70A19320}"/>
              </a:ext>
            </a:extLst>
          </p:cNvPr>
          <p:cNvSpPr txBox="1"/>
          <p:nvPr/>
        </p:nvSpPr>
        <p:spPr>
          <a:xfrm rot="20292211">
            <a:off x="851494" y="2346364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~</a:t>
            </a:r>
            <a:endParaRPr lang="en-NG" sz="2400" dirty="0"/>
          </a:p>
        </p:txBody>
      </p: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D2DF4D73-1EB7-37C8-C4DB-B191013880CA}"/>
              </a:ext>
            </a:extLst>
          </p:cNvPr>
          <p:cNvCxnSpPr>
            <a:cxnSpLocks/>
          </p:cNvCxnSpPr>
          <p:nvPr/>
        </p:nvCxnSpPr>
        <p:spPr>
          <a:xfrm>
            <a:off x="1033980" y="2564104"/>
            <a:ext cx="159596" cy="398604"/>
          </a:xfrm>
          <a:prstGeom prst="straightConnector1">
            <a:avLst/>
          </a:prstGeom>
          <a:ln w="31750">
            <a:solidFill>
              <a:srgbClr val="99FF66"/>
            </a:solidFill>
            <a:headEnd type="none" w="med" len="med"/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69" name="TextBox 155">
            <a:extLst>
              <a:ext uri="{FF2B5EF4-FFF2-40B4-BE49-F238E27FC236}">
                <a16:creationId xmlns:a16="http://schemas.microsoft.com/office/drawing/2014/main" id="{49DC6B63-9788-30AE-590A-CEFEF478C1A3}"/>
              </a:ext>
            </a:extLst>
          </p:cNvPr>
          <p:cNvSpPr txBox="1">
            <a:spLocks noChangeArrowheads="1"/>
          </p:cNvSpPr>
          <p:nvPr/>
        </p:nvSpPr>
        <p:spPr bwMode="auto">
          <a:xfrm rot="3737348">
            <a:off x="529449" y="2594388"/>
            <a:ext cx="78484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af-ZA" sz="800" u="sng" dirty="0">
                <a:latin typeface="Futura Std Book" pitchFamily="34" charset="0"/>
              </a:rPr>
              <a:t>20” x 85km</a:t>
            </a:r>
          </a:p>
        </p:txBody>
      </p:sp>
      <p:cxnSp>
        <p:nvCxnSpPr>
          <p:cNvPr id="270" name="Connector: Elbow 269">
            <a:extLst>
              <a:ext uri="{FF2B5EF4-FFF2-40B4-BE49-F238E27FC236}">
                <a16:creationId xmlns:a16="http://schemas.microsoft.com/office/drawing/2014/main" id="{9596CF0F-2749-A876-2193-9C1BD8870147}"/>
              </a:ext>
            </a:extLst>
          </p:cNvPr>
          <p:cNvCxnSpPr>
            <a:cxnSpLocks/>
          </p:cNvCxnSpPr>
          <p:nvPr/>
        </p:nvCxnSpPr>
        <p:spPr>
          <a:xfrm>
            <a:off x="7779541" y="3669107"/>
            <a:ext cx="1017140" cy="467106"/>
          </a:xfrm>
          <a:prstGeom prst="bentConnector3">
            <a:avLst>
              <a:gd name="adj1" fmla="val 1071"/>
            </a:avLst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1" name="Rectangle 270">
            <a:extLst>
              <a:ext uri="{FF2B5EF4-FFF2-40B4-BE49-F238E27FC236}">
                <a16:creationId xmlns:a16="http://schemas.microsoft.com/office/drawing/2014/main" id="{98DAB561-D6A7-BF43-9059-A0142E5FF8A3}"/>
              </a:ext>
            </a:extLst>
          </p:cNvPr>
          <p:cNvSpPr/>
          <p:nvPr/>
        </p:nvSpPr>
        <p:spPr>
          <a:xfrm>
            <a:off x="6650418" y="4386492"/>
            <a:ext cx="106218" cy="892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A1609AC4-F0F0-12C9-40DC-EBABBFC34859}"/>
              </a:ext>
            </a:extLst>
          </p:cNvPr>
          <p:cNvGrpSpPr/>
          <p:nvPr/>
        </p:nvGrpSpPr>
        <p:grpSpPr>
          <a:xfrm>
            <a:off x="7818227" y="3626222"/>
            <a:ext cx="98718" cy="94983"/>
            <a:chOff x="5114917" y="2286000"/>
            <a:chExt cx="245015" cy="235744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22C48D9C-0331-3C04-9F40-1E33BDCB6401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6021C726-4950-7597-5BA0-350AD21E3B6C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75" name="Group 274">
              <a:extLst>
                <a:ext uri="{FF2B5EF4-FFF2-40B4-BE49-F238E27FC236}">
                  <a16:creationId xmlns:a16="http://schemas.microsoft.com/office/drawing/2014/main" id="{8EAD143C-5A52-414C-1144-4F4DCCD67AA8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76" name="Isosceles Triangle 275">
                <a:extLst>
                  <a:ext uri="{FF2B5EF4-FFF2-40B4-BE49-F238E27FC236}">
                    <a16:creationId xmlns:a16="http://schemas.microsoft.com/office/drawing/2014/main" id="{7CCAA13C-01D8-6BFC-B77A-4324903FB991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77" name="Isosceles Triangle 276">
                <a:extLst>
                  <a:ext uri="{FF2B5EF4-FFF2-40B4-BE49-F238E27FC236}">
                    <a16:creationId xmlns:a16="http://schemas.microsoft.com/office/drawing/2014/main" id="{7B3E2067-0A24-578E-2918-5EA6EB500B71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82126845-DE8C-3596-312A-7D26EB13F3C0}"/>
              </a:ext>
            </a:extLst>
          </p:cNvPr>
          <p:cNvGrpSpPr/>
          <p:nvPr/>
        </p:nvGrpSpPr>
        <p:grpSpPr>
          <a:xfrm>
            <a:off x="7897288" y="4089294"/>
            <a:ext cx="98718" cy="94983"/>
            <a:chOff x="5114917" y="2286000"/>
            <a:chExt cx="245015" cy="235744"/>
          </a:xfrm>
        </p:grpSpPr>
        <p:sp>
          <p:nvSpPr>
            <p:cNvPr id="279" name="Rectangle 278">
              <a:extLst>
                <a:ext uri="{FF2B5EF4-FFF2-40B4-BE49-F238E27FC236}">
                  <a16:creationId xmlns:a16="http://schemas.microsoft.com/office/drawing/2014/main" id="{E3B6CDB4-922D-24E5-98C6-F6A35EC6B3D4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7FBE1F94-B1C0-8641-349E-05E02D70B66C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81" name="Group 280">
              <a:extLst>
                <a:ext uri="{FF2B5EF4-FFF2-40B4-BE49-F238E27FC236}">
                  <a16:creationId xmlns:a16="http://schemas.microsoft.com/office/drawing/2014/main" id="{57B8506F-ECCD-2D43-72E8-BDC75A2DC83E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82" name="Isosceles Triangle 281">
                <a:extLst>
                  <a:ext uri="{FF2B5EF4-FFF2-40B4-BE49-F238E27FC236}">
                    <a16:creationId xmlns:a16="http://schemas.microsoft.com/office/drawing/2014/main" id="{C8D6A50B-921B-4F25-7300-ABBF98D95B95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83" name="Isosceles Triangle 282">
                <a:extLst>
                  <a:ext uri="{FF2B5EF4-FFF2-40B4-BE49-F238E27FC236}">
                    <a16:creationId xmlns:a16="http://schemas.microsoft.com/office/drawing/2014/main" id="{03BFE04B-480A-8745-DA37-BFF603CD2C66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84" name="Connector: Elbow 283">
            <a:extLst>
              <a:ext uri="{FF2B5EF4-FFF2-40B4-BE49-F238E27FC236}">
                <a16:creationId xmlns:a16="http://schemas.microsoft.com/office/drawing/2014/main" id="{3367B8DB-90F0-54BC-7C0A-DA610D3C3C13}"/>
              </a:ext>
            </a:extLst>
          </p:cNvPr>
          <p:cNvCxnSpPr>
            <a:cxnSpLocks/>
          </p:cNvCxnSpPr>
          <p:nvPr/>
        </p:nvCxnSpPr>
        <p:spPr>
          <a:xfrm>
            <a:off x="7783545" y="3996059"/>
            <a:ext cx="540000" cy="432000"/>
          </a:xfrm>
          <a:prstGeom prst="bentConnector3">
            <a:avLst>
              <a:gd name="adj1" fmla="val -347"/>
            </a:avLst>
          </a:prstGeom>
          <a:ln w="25400"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92D44CCF-64B8-97D3-72C9-A2D52CC1AD34}"/>
              </a:ext>
            </a:extLst>
          </p:cNvPr>
          <p:cNvGrpSpPr/>
          <p:nvPr/>
        </p:nvGrpSpPr>
        <p:grpSpPr>
          <a:xfrm>
            <a:off x="7897288" y="4375976"/>
            <a:ext cx="98718" cy="94983"/>
            <a:chOff x="5114917" y="2286000"/>
            <a:chExt cx="245015" cy="235744"/>
          </a:xfrm>
        </p:grpSpPr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EB686FF7-FFA3-DA63-92D2-497FCA394A67}"/>
                </a:ext>
              </a:extLst>
            </p:cNvPr>
            <p:cNvSpPr/>
            <p:nvPr/>
          </p:nvSpPr>
          <p:spPr>
            <a:xfrm>
              <a:off x="5114917" y="2286000"/>
              <a:ext cx="245015" cy="235744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C43864C2-6CEA-9C23-6B71-B99B4EDC17B7}"/>
                </a:ext>
              </a:extLst>
            </p:cNvPr>
            <p:cNvSpPr/>
            <p:nvPr/>
          </p:nvSpPr>
          <p:spPr>
            <a:xfrm>
              <a:off x="5123234" y="2289242"/>
              <a:ext cx="228600" cy="228600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E343FECF-6796-8C87-A1D1-8592B606E8B2}"/>
                </a:ext>
              </a:extLst>
            </p:cNvPr>
            <p:cNvGrpSpPr/>
            <p:nvPr/>
          </p:nvGrpSpPr>
          <p:grpSpPr>
            <a:xfrm rot="5400000">
              <a:off x="5189636" y="2307733"/>
              <a:ext cx="94655" cy="194071"/>
              <a:chOff x="5562600" y="2209800"/>
              <a:chExt cx="152400" cy="304800"/>
            </a:xfrm>
          </p:grpSpPr>
          <p:sp>
            <p:nvSpPr>
              <p:cNvPr id="289" name="Isosceles Triangle 288">
                <a:extLst>
                  <a:ext uri="{FF2B5EF4-FFF2-40B4-BE49-F238E27FC236}">
                    <a16:creationId xmlns:a16="http://schemas.microsoft.com/office/drawing/2014/main" id="{6E52188A-E8B0-6C56-1990-3AB06D022DF0}"/>
                  </a:ext>
                </a:extLst>
              </p:cNvPr>
              <p:cNvSpPr/>
              <p:nvPr/>
            </p:nvSpPr>
            <p:spPr>
              <a:xfrm>
                <a:off x="5562600" y="23622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90" name="Isosceles Triangle 289">
                <a:extLst>
                  <a:ext uri="{FF2B5EF4-FFF2-40B4-BE49-F238E27FC236}">
                    <a16:creationId xmlns:a16="http://schemas.microsoft.com/office/drawing/2014/main" id="{0DB04DF0-90BD-B1A8-1A54-18EFF0077C1E}"/>
                  </a:ext>
                </a:extLst>
              </p:cNvPr>
              <p:cNvSpPr/>
              <p:nvPr/>
            </p:nvSpPr>
            <p:spPr>
              <a:xfrm rot="10800000">
                <a:off x="5562600" y="2209800"/>
                <a:ext cx="152400" cy="152400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5A45838F-4081-936D-68BD-5D52B41F2562}"/>
              </a:ext>
            </a:extLst>
          </p:cNvPr>
          <p:cNvGrpSpPr/>
          <p:nvPr/>
        </p:nvGrpSpPr>
        <p:grpSpPr>
          <a:xfrm>
            <a:off x="6022069" y="3538142"/>
            <a:ext cx="100011" cy="92014"/>
            <a:chOff x="5715000" y="4748213"/>
            <a:chExt cx="176211" cy="92014"/>
          </a:xfrm>
        </p:grpSpPr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2F863982-A9CF-9EEE-0AD4-C27F0CC0872D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93" name="Group 292">
              <a:extLst>
                <a:ext uri="{FF2B5EF4-FFF2-40B4-BE49-F238E27FC236}">
                  <a16:creationId xmlns:a16="http://schemas.microsoft.com/office/drawing/2014/main" id="{C86D0731-8E41-0194-7A24-7168222599CF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294" name="Isosceles Triangle 293">
                <a:extLst>
                  <a:ext uri="{FF2B5EF4-FFF2-40B4-BE49-F238E27FC236}">
                    <a16:creationId xmlns:a16="http://schemas.microsoft.com/office/drawing/2014/main" id="{20894AC6-B94E-F5BC-05C9-5E9AF31C2950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295" name="Isosceles Triangle 294">
                <a:extLst>
                  <a:ext uri="{FF2B5EF4-FFF2-40B4-BE49-F238E27FC236}">
                    <a16:creationId xmlns:a16="http://schemas.microsoft.com/office/drawing/2014/main" id="{14B84F52-D56B-0D41-4329-20FBEF6E8201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EE25F534-16C6-1976-A39F-1F5BBE9B46A1}"/>
              </a:ext>
            </a:extLst>
          </p:cNvPr>
          <p:cNvCxnSpPr>
            <a:cxnSpLocks/>
          </p:cNvCxnSpPr>
          <p:nvPr/>
        </p:nvCxnSpPr>
        <p:spPr>
          <a:xfrm>
            <a:off x="7145860" y="3809615"/>
            <a:ext cx="625021" cy="0"/>
          </a:xfrm>
          <a:prstGeom prst="straightConnector1">
            <a:avLst/>
          </a:prstGeom>
          <a:ln w="254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7" name="Group 296">
            <a:extLst>
              <a:ext uri="{FF2B5EF4-FFF2-40B4-BE49-F238E27FC236}">
                <a16:creationId xmlns:a16="http://schemas.microsoft.com/office/drawing/2014/main" id="{687202BE-8AA6-0E5C-A2EB-1EB89A1406CB}"/>
              </a:ext>
            </a:extLst>
          </p:cNvPr>
          <p:cNvGrpSpPr/>
          <p:nvPr/>
        </p:nvGrpSpPr>
        <p:grpSpPr>
          <a:xfrm>
            <a:off x="7275038" y="3751059"/>
            <a:ext cx="109538" cy="92014"/>
            <a:chOff x="5267327" y="4748213"/>
            <a:chExt cx="176211" cy="92014"/>
          </a:xfrm>
        </p:grpSpPr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3AC3827B-F02F-C2A8-5664-2E08242FD686}"/>
                </a:ext>
              </a:extLst>
            </p:cNvPr>
            <p:cNvSpPr/>
            <p:nvPr/>
          </p:nvSpPr>
          <p:spPr>
            <a:xfrm>
              <a:off x="5272090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BD02877F-0A83-35FF-7261-B2C6DC96CD3A}"/>
                </a:ext>
              </a:extLst>
            </p:cNvPr>
            <p:cNvGrpSpPr/>
            <p:nvPr/>
          </p:nvGrpSpPr>
          <p:grpSpPr>
            <a:xfrm>
              <a:off x="5267327" y="4754283"/>
              <a:ext cx="176211" cy="85944"/>
              <a:chOff x="6661011" y="5251855"/>
              <a:chExt cx="131341" cy="64059"/>
            </a:xfrm>
          </p:grpSpPr>
          <p:sp>
            <p:nvSpPr>
              <p:cNvPr id="300" name="Isosceles Triangle 299">
                <a:extLst>
                  <a:ext uri="{FF2B5EF4-FFF2-40B4-BE49-F238E27FC236}">
                    <a16:creationId xmlns:a16="http://schemas.microsoft.com/office/drawing/2014/main" id="{247E0F90-1E58-F6AD-17FE-87A2BAFB7F76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01" name="Isosceles Triangle 300">
                <a:extLst>
                  <a:ext uri="{FF2B5EF4-FFF2-40B4-BE49-F238E27FC236}">
                    <a16:creationId xmlns:a16="http://schemas.microsoft.com/office/drawing/2014/main" id="{7EBF8265-7866-2FE9-1573-F881C4A0B44B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E13DFD8A-0189-4543-6478-256BA266E352}"/>
              </a:ext>
            </a:extLst>
          </p:cNvPr>
          <p:cNvGrpSpPr/>
          <p:nvPr/>
        </p:nvGrpSpPr>
        <p:grpSpPr>
          <a:xfrm>
            <a:off x="5477188" y="3711198"/>
            <a:ext cx="514818" cy="267444"/>
            <a:chOff x="4343400" y="4686300"/>
            <a:chExt cx="514818" cy="267444"/>
          </a:xfrm>
        </p:grpSpPr>
        <p:grpSp>
          <p:nvGrpSpPr>
            <p:cNvPr id="303" name="Group 302">
              <a:extLst>
                <a:ext uri="{FF2B5EF4-FFF2-40B4-BE49-F238E27FC236}">
                  <a16:creationId xmlns:a16="http://schemas.microsoft.com/office/drawing/2014/main" id="{22EA701F-3489-7C17-104C-3AFD9FDF5C12}"/>
                </a:ext>
              </a:extLst>
            </p:cNvPr>
            <p:cNvGrpSpPr/>
            <p:nvPr/>
          </p:nvGrpSpPr>
          <p:grpSpPr>
            <a:xfrm>
              <a:off x="4343400" y="4686300"/>
              <a:ext cx="514818" cy="186690"/>
              <a:chOff x="0" y="0"/>
              <a:chExt cx="1225472" cy="434195"/>
            </a:xfrm>
          </p:grpSpPr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F0B4CA83-948E-8D39-DEE2-F7AF22CD4A58}"/>
                  </a:ext>
                </a:extLst>
              </p:cNvPr>
              <p:cNvGrpSpPr/>
              <p:nvPr/>
            </p:nvGrpSpPr>
            <p:grpSpPr>
              <a:xfrm>
                <a:off x="0" y="0"/>
                <a:ext cx="1225472" cy="434195"/>
                <a:chOff x="0" y="0"/>
                <a:chExt cx="1393403" cy="567773"/>
              </a:xfrm>
            </p:grpSpPr>
            <p:sp>
              <p:nvSpPr>
                <p:cNvPr id="307" name="Chord 306">
                  <a:extLst>
                    <a:ext uri="{FF2B5EF4-FFF2-40B4-BE49-F238E27FC236}">
                      <a16:creationId xmlns:a16="http://schemas.microsoft.com/office/drawing/2014/main" id="{314633E0-7212-29EB-3D11-0C4F4EDB745E}"/>
                    </a:ext>
                  </a:extLst>
                </p:cNvPr>
                <p:cNvSpPr/>
                <p:nvPr/>
              </p:nvSpPr>
              <p:spPr>
                <a:xfrm rot="16200000" flipV="1">
                  <a:off x="-31858" y="31859"/>
                  <a:ext cx="567771" cy="504055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08" name="Chord 307">
                  <a:extLst>
                    <a:ext uri="{FF2B5EF4-FFF2-40B4-BE49-F238E27FC236}">
                      <a16:creationId xmlns:a16="http://schemas.microsoft.com/office/drawing/2014/main" id="{96DEEA5F-BCCF-C9FC-71D7-50540E5A421B}"/>
                    </a:ext>
                  </a:extLst>
                </p:cNvPr>
                <p:cNvSpPr/>
                <p:nvPr/>
              </p:nvSpPr>
              <p:spPr>
                <a:xfrm rot="16200000">
                  <a:off x="874901" y="49270"/>
                  <a:ext cx="567772" cy="469233"/>
                </a:xfrm>
                <a:prstGeom prst="chord">
                  <a:avLst>
                    <a:gd name="adj1" fmla="val 21563544"/>
                    <a:gd name="adj2" fmla="val 10827724"/>
                  </a:avLst>
                </a:prstGeom>
                <a:gradFill flip="none" rotWithShape="1">
                  <a:gsLst>
                    <a:gs pos="0">
                      <a:schemeClr val="bg1"/>
                    </a:gs>
                    <a:gs pos="38000">
                      <a:schemeClr val="bg1">
                        <a:lumMod val="7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11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  <p:sp>
              <p:nvSpPr>
                <p:cNvPr id="309" name="Rectangle 308">
                  <a:extLst>
                    <a:ext uri="{FF2B5EF4-FFF2-40B4-BE49-F238E27FC236}">
                      <a16:creationId xmlns:a16="http://schemas.microsoft.com/office/drawing/2014/main" id="{02CFC41C-5AC0-6107-922F-A959B37B24FE}"/>
                    </a:ext>
                  </a:extLst>
                </p:cNvPr>
                <p:cNvSpPr/>
                <p:nvPr/>
              </p:nvSpPr>
              <p:spPr>
                <a:xfrm>
                  <a:off x="255082" y="0"/>
                  <a:ext cx="914400" cy="567772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</a:schemeClr>
                    </a:gs>
                    <a:gs pos="5000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n w="2540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>
                  <a:lvl1pPr marL="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indent="0">
                    <a:defRPr sz="11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GB" sz="5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06" name="Rectangle 305">
                <a:extLst>
                  <a:ext uri="{FF2B5EF4-FFF2-40B4-BE49-F238E27FC236}">
                    <a16:creationId xmlns:a16="http://schemas.microsoft.com/office/drawing/2014/main" id="{93A833E3-3820-81D5-36CC-2F82A5EA4912}"/>
                  </a:ext>
                </a:extLst>
              </p:cNvPr>
              <p:cNvSpPr/>
              <p:nvPr/>
            </p:nvSpPr>
            <p:spPr>
              <a:xfrm>
                <a:off x="526211" y="32021"/>
                <a:ext cx="469291" cy="102969"/>
              </a:xfrm>
              <a:prstGeom prst="rect">
                <a:avLst/>
              </a:prstGeom>
              <a:pattFill prst="lgCheck">
                <a:fgClr>
                  <a:schemeClr val="tx1">
                    <a:lumMod val="75000"/>
                    <a:lumOff val="25000"/>
                  </a:schemeClr>
                </a:fgClr>
                <a:bgClr>
                  <a:schemeClr val="bg1">
                    <a:lumMod val="95000"/>
                  </a:schemeClr>
                </a:bgClr>
              </a:pattFill>
              <a:ln w="317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lvl1pPr marL="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sz="11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52AEFAA1-CCC0-E992-0340-F61B2B45E262}"/>
                </a:ext>
              </a:extLst>
            </p:cNvPr>
            <p:cNvSpPr txBox="1"/>
            <p:nvPr/>
          </p:nvSpPr>
          <p:spPr>
            <a:xfrm>
              <a:off x="4495800" y="4722912"/>
              <a:ext cx="228600" cy="2308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Slug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Catcher</a:t>
              </a:r>
            </a:p>
          </p:txBody>
        </p:sp>
      </p:grpSp>
      <p:cxnSp>
        <p:nvCxnSpPr>
          <p:cNvPr id="310" name="Straight Arrow Connector 309">
            <a:extLst>
              <a:ext uri="{FF2B5EF4-FFF2-40B4-BE49-F238E27FC236}">
                <a16:creationId xmlns:a16="http://schemas.microsoft.com/office/drawing/2014/main" id="{58AF5CC1-D990-257D-7CA1-CDEE68755914}"/>
              </a:ext>
            </a:extLst>
          </p:cNvPr>
          <p:cNvCxnSpPr>
            <a:cxnSpLocks/>
          </p:cNvCxnSpPr>
          <p:nvPr/>
        </p:nvCxnSpPr>
        <p:spPr>
          <a:xfrm rot="360000" flipH="1" flipV="1">
            <a:off x="5839591" y="3587211"/>
            <a:ext cx="20781" cy="144000"/>
          </a:xfrm>
          <a:prstGeom prst="straightConnector1">
            <a:avLst/>
          </a:prstGeom>
          <a:ln w="25400">
            <a:solidFill>
              <a:srgbClr val="00B05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Straight Arrow Connector 310">
            <a:extLst>
              <a:ext uri="{FF2B5EF4-FFF2-40B4-BE49-F238E27FC236}">
                <a16:creationId xmlns:a16="http://schemas.microsoft.com/office/drawing/2014/main" id="{61A922BF-886B-C0B8-415E-EECF97367D1F}"/>
              </a:ext>
            </a:extLst>
          </p:cNvPr>
          <p:cNvCxnSpPr>
            <a:cxnSpLocks/>
          </p:cNvCxnSpPr>
          <p:nvPr/>
        </p:nvCxnSpPr>
        <p:spPr>
          <a:xfrm>
            <a:off x="5799406" y="3901720"/>
            <a:ext cx="0" cy="339064"/>
          </a:xfrm>
          <a:prstGeom prst="straightConnector1">
            <a:avLst/>
          </a:prstGeom>
          <a:ln w="2540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F6EFE10E-CEDE-D9AA-EC02-4627661FBEF8}"/>
              </a:ext>
            </a:extLst>
          </p:cNvPr>
          <p:cNvGrpSpPr/>
          <p:nvPr/>
        </p:nvGrpSpPr>
        <p:grpSpPr>
          <a:xfrm rot="5280000">
            <a:off x="5758178" y="3986628"/>
            <a:ext cx="100011" cy="92014"/>
            <a:chOff x="5715000" y="4748213"/>
            <a:chExt cx="176211" cy="92014"/>
          </a:xfrm>
        </p:grpSpPr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5F6B10AD-0597-E980-458F-34BF16F8FB6D}"/>
                </a:ext>
              </a:extLst>
            </p:cNvPr>
            <p:cNvSpPr/>
            <p:nvPr/>
          </p:nvSpPr>
          <p:spPr>
            <a:xfrm>
              <a:off x="5719763" y="4748213"/>
              <a:ext cx="170714" cy="83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+mn-cs"/>
              </a:endParaRPr>
            </a:p>
          </p:txBody>
        </p: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69ACFC15-C918-C055-F577-4F3C1748A4C2}"/>
                </a:ext>
              </a:extLst>
            </p:cNvPr>
            <p:cNvGrpSpPr/>
            <p:nvPr/>
          </p:nvGrpSpPr>
          <p:grpSpPr>
            <a:xfrm>
              <a:off x="5715000" y="4754283"/>
              <a:ext cx="176211" cy="85944"/>
              <a:chOff x="6661011" y="5251855"/>
              <a:chExt cx="131341" cy="64059"/>
            </a:xfrm>
          </p:grpSpPr>
          <p:sp>
            <p:nvSpPr>
              <p:cNvPr id="315" name="Isosceles Triangle 314">
                <a:extLst>
                  <a:ext uri="{FF2B5EF4-FFF2-40B4-BE49-F238E27FC236}">
                    <a16:creationId xmlns:a16="http://schemas.microsoft.com/office/drawing/2014/main" id="{0844C5CB-5F25-1CEA-4A11-55C025F2AB0C}"/>
                  </a:ext>
                </a:extLst>
              </p:cNvPr>
              <p:cNvSpPr/>
              <p:nvPr/>
            </p:nvSpPr>
            <p:spPr>
              <a:xfrm rot="5400000">
                <a:off x="666181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16" name="Isosceles Triangle 315">
                <a:extLst>
                  <a:ext uri="{FF2B5EF4-FFF2-40B4-BE49-F238E27FC236}">
                    <a16:creationId xmlns:a16="http://schemas.microsoft.com/office/drawing/2014/main" id="{D995C1B5-2FEC-05CC-9BE9-348EA902F69B}"/>
                  </a:ext>
                </a:extLst>
              </p:cNvPr>
              <p:cNvSpPr/>
              <p:nvPr/>
            </p:nvSpPr>
            <p:spPr>
              <a:xfrm rot="16200000">
                <a:off x="6727487" y="5251049"/>
                <a:ext cx="64059" cy="65671"/>
              </a:xfrm>
              <a:prstGeom prst="triangl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</p:grpSp>
      </p:grpSp>
      <p:sp>
        <p:nvSpPr>
          <p:cNvPr id="317" name="Flowchart: Magnetic Disk 316">
            <a:extLst>
              <a:ext uri="{FF2B5EF4-FFF2-40B4-BE49-F238E27FC236}">
                <a16:creationId xmlns:a16="http://schemas.microsoft.com/office/drawing/2014/main" id="{A057681B-BCEB-7F9A-A043-CEEFB6A80F44}"/>
              </a:ext>
            </a:extLst>
          </p:cNvPr>
          <p:cNvSpPr/>
          <p:nvPr/>
        </p:nvSpPr>
        <p:spPr>
          <a:xfrm>
            <a:off x="5647008" y="4215534"/>
            <a:ext cx="334093" cy="200055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sp>
        <p:nvSpPr>
          <p:cNvPr id="318" name="TextBox 135">
            <a:extLst>
              <a:ext uri="{FF2B5EF4-FFF2-40B4-BE49-F238E27FC236}">
                <a16:creationId xmlns:a16="http://schemas.microsoft.com/office/drawing/2014/main" id="{4084506A-4611-0D05-11AB-7C77276E21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724" y="4409701"/>
            <a:ext cx="1185528" cy="438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GPP Liquid Processing / Water Disposal System</a:t>
            </a:r>
          </a:p>
        </p:txBody>
      </p:sp>
      <p:sp>
        <p:nvSpPr>
          <p:cNvPr id="319" name="TextBox 103">
            <a:extLst>
              <a:ext uri="{FF2B5EF4-FFF2-40B4-BE49-F238E27FC236}">
                <a16:creationId xmlns:a16="http://schemas.microsoft.com/office/drawing/2014/main" id="{D80D2B3D-61FD-0898-1A59-C505224CF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1670" y="4047057"/>
            <a:ext cx="355389" cy="19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8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IPP</a:t>
            </a:r>
          </a:p>
        </p:txBody>
      </p:sp>
      <p:cxnSp>
        <p:nvCxnSpPr>
          <p:cNvPr id="320" name="Straight Arrow Connector 319">
            <a:extLst>
              <a:ext uri="{FF2B5EF4-FFF2-40B4-BE49-F238E27FC236}">
                <a16:creationId xmlns:a16="http://schemas.microsoft.com/office/drawing/2014/main" id="{73A1645E-D263-7804-C04F-3DE6808F5F32}"/>
              </a:ext>
            </a:extLst>
          </p:cNvPr>
          <p:cNvCxnSpPr>
            <a:cxnSpLocks/>
          </p:cNvCxnSpPr>
          <p:nvPr/>
        </p:nvCxnSpPr>
        <p:spPr>
          <a:xfrm>
            <a:off x="6978812" y="4020478"/>
            <a:ext cx="10404" cy="488488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1" name="Flowchart: Magnetic Disk 320">
            <a:extLst>
              <a:ext uri="{FF2B5EF4-FFF2-40B4-BE49-F238E27FC236}">
                <a16:creationId xmlns:a16="http://schemas.microsoft.com/office/drawing/2014/main" id="{56CE8835-C661-F1B2-2289-B26AE274B3FF}"/>
              </a:ext>
            </a:extLst>
          </p:cNvPr>
          <p:cNvSpPr/>
          <p:nvPr/>
        </p:nvSpPr>
        <p:spPr>
          <a:xfrm>
            <a:off x="6841059" y="4493628"/>
            <a:ext cx="334093" cy="251481"/>
          </a:xfrm>
          <a:prstGeom prst="flowChartMagneticDisk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utura Std Book" panose="020B0502020204020303"/>
              <a:ea typeface="+mn-ea"/>
              <a:cs typeface="+mn-cs"/>
            </a:endParaRPr>
          </a:p>
        </p:txBody>
      </p: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57EE67EE-4002-9F89-6F7D-13C7C0ACE626}"/>
              </a:ext>
            </a:extLst>
          </p:cNvPr>
          <p:cNvGrpSpPr/>
          <p:nvPr/>
        </p:nvGrpSpPr>
        <p:grpSpPr>
          <a:xfrm>
            <a:off x="8125828" y="4545375"/>
            <a:ext cx="304800" cy="276999"/>
            <a:chOff x="4876800" y="5752186"/>
            <a:chExt cx="304800" cy="276999"/>
          </a:xfrm>
        </p:grpSpPr>
        <p:sp>
          <p:nvSpPr>
            <p:cNvPr id="323" name="TextBox 52">
              <a:extLst>
                <a:ext uri="{FF2B5EF4-FFF2-40B4-BE49-F238E27FC236}">
                  <a16:creationId xmlns:a16="http://schemas.microsoft.com/office/drawing/2014/main" id="{033FBCC6-F749-6BE3-97D9-3B1D67C43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24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BAAE5296-1894-4E8D-AE43-90DDB2C409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62626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5" name="Group 324">
            <a:extLst>
              <a:ext uri="{FF2B5EF4-FFF2-40B4-BE49-F238E27FC236}">
                <a16:creationId xmlns:a16="http://schemas.microsoft.com/office/drawing/2014/main" id="{8B0E99CC-4BE1-A464-6F78-E38BD34F879A}"/>
              </a:ext>
            </a:extLst>
          </p:cNvPr>
          <p:cNvGrpSpPr/>
          <p:nvPr/>
        </p:nvGrpSpPr>
        <p:grpSpPr>
          <a:xfrm>
            <a:off x="8735426" y="4864008"/>
            <a:ext cx="304800" cy="279115"/>
            <a:chOff x="4876800" y="5750070"/>
            <a:chExt cx="304800" cy="279115"/>
          </a:xfrm>
        </p:grpSpPr>
        <p:sp>
          <p:nvSpPr>
            <p:cNvPr id="326" name="TextBox 52">
              <a:extLst>
                <a:ext uri="{FF2B5EF4-FFF2-40B4-BE49-F238E27FC236}">
                  <a16:creationId xmlns:a16="http://schemas.microsoft.com/office/drawing/2014/main" id="{96648E20-4776-40CF-760A-958C99DDEA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6800" y="5752186"/>
              <a:ext cx="304800" cy="276999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endParaRPr>
            </a:p>
          </p:txBody>
        </p:sp>
        <p:pic>
          <p:nvPicPr>
            <p:cNvPr id="327" name="Picture 2" descr="Esperance's jetty seen as 'new beginning' by some, others 'scarred' by loss  of history - ABC News">
              <a:extLst>
                <a:ext uri="{FF2B5EF4-FFF2-40B4-BE49-F238E27FC236}">
                  <a16:creationId xmlns:a16="http://schemas.microsoft.com/office/drawing/2014/main" id="{FF7E62A3-6B9E-0217-E55F-71DB94A0CA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V="1">
              <a:off x="4895788" y="5754675"/>
              <a:ext cx="261923" cy="25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D8049411-D19D-F933-32C0-F0A6A86D396B}"/>
              </a:ext>
            </a:extLst>
          </p:cNvPr>
          <p:cNvCxnSpPr>
            <a:cxnSpLocks/>
            <a:endCxn id="324" idx="0"/>
          </p:cNvCxnSpPr>
          <p:nvPr/>
        </p:nvCxnSpPr>
        <p:spPr>
          <a:xfrm>
            <a:off x="7216605" y="4682159"/>
            <a:ext cx="932815" cy="0"/>
          </a:xfrm>
          <a:prstGeom prst="straightConnector1">
            <a:avLst/>
          </a:prstGeom>
          <a:ln w="19050">
            <a:solidFill>
              <a:srgbClr val="FF99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TextBox 135">
            <a:extLst>
              <a:ext uri="{FF2B5EF4-FFF2-40B4-BE49-F238E27FC236}">
                <a16:creationId xmlns:a16="http://schemas.microsoft.com/office/drawing/2014/main" id="{FAFCE7B7-3658-6AAF-FB5F-D41735B0E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9981" y="4709180"/>
            <a:ext cx="1114409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Storage Tanks</a:t>
            </a:r>
          </a:p>
        </p:txBody>
      </p:sp>
      <p:sp>
        <p:nvSpPr>
          <p:cNvPr id="330" name="TextBox 135">
            <a:extLst>
              <a:ext uri="{FF2B5EF4-FFF2-40B4-BE49-F238E27FC236}">
                <a16:creationId xmlns:a16="http://schemas.microsoft.com/office/drawing/2014/main" id="{F8D1AA56-59D7-B223-968B-EAB195727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384" y="4552102"/>
            <a:ext cx="469398" cy="19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31" name="TextBox 135">
            <a:extLst>
              <a:ext uri="{FF2B5EF4-FFF2-40B4-BE49-F238E27FC236}">
                <a16:creationId xmlns:a16="http://schemas.microsoft.com/office/drawing/2014/main" id="{66605CD5-30C0-4FD3-CE41-EBF64EAA6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9220" y="4509577"/>
            <a:ext cx="397866" cy="2077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</a:t>
            </a:r>
          </a:p>
        </p:txBody>
      </p:sp>
      <p:sp>
        <p:nvSpPr>
          <p:cNvPr id="332" name="TextBox 188">
            <a:extLst>
              <a:ext uri="{FF2B5EF4-FFF2-40B4-BE49-F238E27FC236}">
                <a16:creationId xmlns:a16="http://schemas.microsoft.com/office/drawing/2014/main" id="{295EB24B-257E-F303-A2BD-E5021C78A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4196" y="4767244"/>
            <a:ext cx="965024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NGL Export  Jetty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 (at </a:t>
            </a:r>
            <a:r>
              <a:rPr kumimoji="0" lang="en-US" altLang="en-US" sz="7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Akabel</a:t>
            </a:r>
            <a:r>
              <a:rPr kumimoji="0" lang="en-US" alt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)</a:t>
            </a:r>
          </a:p>
        </p:txBody>
      </p:sp>
      <p:sp>
        <p:nvSpPr>
          <p:cNvPr id="333" name="TextBox 188">
            <a:extLst>
              <a:ext uri="{FF2B5EF4-FFF2-40B4-BE49-F238E27FC236}">
                <a16:creationId xmlns:a16="http://schemas.microsoft.com/office/drawing/2014/main" id="{49D48726-A606-DC49-BB05-7C194533D0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9003" y="4938971"/>
            <a:ext cx="435802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40FFE370-BD65-6E27-0FB1-CCA0037B2AF6}"/>
              </a:ext>
            </a:extLst>
          </p:cNvPr>
          <p:cNvGrpSpPr/>
          <p:nvPr/>
        </p:nvGrpSpPr>
        <p:grpSpPr>
          <a:xfrm>
            <a:off x="5460679" y="3190016"/>
            <a:ext cx="3767544" cy="2259258"/>
            <a:chOff x="6515156" y="3805121"/>
            <a:chExt cx="3948258" cy="2367623"/>
          </a:xfrm>
        </p:grpSpPr>
        <p:sp>
          <p:nvSpPr>
            <p:cNvPr id="335" name="TextBox 103">
              <a:extLst>
                <a:ext uri="{FF2B5EF4-FFF2-40B4-BE49-F238E27FC236}">
                  <a16:creationId xmlns:a16="http://schemas.microsoft.com/office/drawing/2014/main" id="{0A0C9777-BF45-27E3-4EAF-E1251BC68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1824" y="3806173"/>
              <a:ext cx="1996372" cy="2058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ts val="8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Gas Processing Facility (at </a:t>
              </a:r>
              <a:r>
                <a:rPr kumimoji="0" lang="en-US" alt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Akabel</a:t>
              </a:r>
              <a:r>
                <a:rPr kumimoji="0" lang="en-US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rPr>
                <a:t>)</a:t>
              </a:r>
            </a:p>
          </p:txBody>
        </p:sp>
        <p:grpSp>
          <p:nvGrpSpPr>
            <p:cNvPr id="336" name="Group 335">
              <a:extLst>
                <a:ext uri="{FF2B5EF4-FFF2-40B4-BE49-F238E27FC236}">
                  <a16:creationId xmlns:a16="http://schemas.microsoft.com/office/drawing/2014/main" id="{9EEC77B9-990E-2A2E-EDB5-7F76995D84E9}"/>
                </a:ext>
              </a:extLst>
            </p:cNvPr>
            <p:cNvGrpSpPr/>
            <p:nvPr/>
          </p:nvGrpSpPr>
          <p:grpSpPr>
            <a:xfrm>
              <a:off x="6515156" y="3805121"/>
              <a:ext cx="3948258" cy="2367623"/>
              <a:chOff x="6515156" y="3805121"/>
              <a:chExt cx="3948258" cy="2367623"/>
            </a:xfrm>
          </p:grpSpPr>
          <p:cxnSp>
            <p:nvCxnSpPr>
              <p:cNvPr id="337" name="Straight Arrow Connector 336">
                <a:extLst>
                  <a:ext uri="{FF2B5EF4-FFF2-40B4-BE49-F238E27FC236}">
                    <a16:creationId xmlns:a16="http://schemas.microsoft.com/office/drawing/2014/main" id="{228FB054-952B-6440-0C17-5C185E4B1D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04489" y="4691447"/>
                <a:ext cx="15350" cy="867715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Straight Arrow Connector 337">
                <a:extLst>
                  <a:ext uri="{FF2B5EF4-FFF2-40B4-BE49-F238E27FC236}">
                    <a16:creationId xmlns:a16="http://schemas.microsoft.com/office/drawing/2014/main" id="{132092D8-254C-0DBC-59A1-30D45CD31E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7287" y="5738274"/>
                <a:ext cx="2001997" cy="0"/>
              </a:xfrm>
              <a:prstGeom prst="straightConnector1">
                <a:avLst/>
              </a:prstGeom>
              <a:ln w="19050">
                <a:solidFill>
                  <a:srgbClr val="FF99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9" name="Rectangle 28">
                <a:extLst>
                  <a:ext uri="{FF2B5EF4-FFF2-40B4-BE49-F238E27FC236}">
                    <a16:creationId xmlns:a16="http://schemas.microsoft.com/office/drawing/2014/main" id="{4C2A835E-26F4-741A-1618-A3C27280D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15156" y="3805121"/>
                <a:ext cx="2376362" cy="2365235"/>
              </a:xfrm>
              <a:prstGeom prst="rect">
                <a:avLst/>
              </a:prstGeom>
              <a:noFill/>
              <a:ln w="19050" algn="ctr">
                <a:solidFill>
                  <a:srgbClr val="7030A0"/>
                </a:solidFill>
                <a:prstDash val="sysDot"/>
                <a:round/>
                <a:headEnd/>
                <a:tailEnd/>
              </a:ln>
            </p:spPr>
            <p:txBody>
              <a:bodyPr lIns="36000" rIns="3600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GB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40" name="Rectangle 339">
                <a:extLst>
                  <a:ext uri="{FF2B5EF4-FFF2-40B4-BE49-F238E27FC236}">
                    <a16:creationId xmlns:a16="http://schemas.microsoft.com/office/drawing/2014/main" id="{4725C636-7807-03C7-EB87-6509A200BF1C}"/>
                  </a:ext>
                </a:extLst>
              </p:cNvPr>
              <p:cNvSpPr/>
              <p:nvPr/>
            </p:nvSpPr>
            <p:spPr>
              <a:xfrm>
                <a:off x="9246690" y="4066557"/>
                <a:ext cx="816398" cy="474579"/>
              </a:xfrm>
              <a:prstGeom prst="rect">
                <a:avLst/>
              </a:prstGeom>
              <a:noFill/>
              <a:ln w="9525">
                <a:solidFill>
                  <a:schemeClr val="accent4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BFPCL Methanol Plant</a:t>
                </a:r>
              </a:p>
            </p:txBody>
          </p:sp>
          <p:cxnSp>
            <p:nvCxnSpPr>
              <p:cNvPr id="341" name="Straight Arrow Connector 340">
                <a:extLst>
                  <a:ext uri="{FF2B5EF4-FFF2-40B4-BE49-F238E27FC236}">
                    <a16:creationId xmlns:a16="http://schemas.microsoft.com/office/drawing/2014/main" id="{430AF7E6-18EF-5AD4-4A69-395CF2E0D1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42310" y="4301572"/>
                <a:ext cx="300570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2" name="TextBox 341">
                <a:extLst>
                  <a:ext uri="{FF2B5EF4-FFF2-40B4-BE49-F238E27FC236}">
                    <a16:creationId xmlns:a16="http://schemas.microsoft.com/office/drawing/2014/main" id="{381C73BD-CF67-44FF-FCA0-528562194459}"/>
                  </a:ext>
                </a:extLst>
              </p:cNvPr>
              <p:cNvSpPr txBox="1"/>
              <p:nvPr/>
            </p:nvSpPr>
            <p:spPr bwMode="auto">
              <a:xfrm>
                <a:off x="9993477" y="4682812"/>
                <a:ext cx="304285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43" name="TextBox 342">
                <a:extLst>
                  <a:ext uri="{FF2B5EF4-FFF2-40B4-BE49-F238E27FC236}">
                    <a16:creationId xmlns:a16="http://schemas.microsoft.com/office/drawing/2014/main" id="{D7135607-1F6A-26D9-438A-25A99331F554}"/>
                  </a:ext>
                </a:extLst>
              </p:cNvPr>
              <p:cNvSpPr txBox="1"/>
              <p:nvPr/>
            </p:nvSpPr>
            <p:spPr bwMode="auto">
              <a:xfrm>
                <a:off x="10230285" y="4461282"/>
                <a:ext cx="59838" cy="290285"/>
              </a:xfrm>
              <a:prstGeom prst="rect">
                <a:avLst/>
              </a:prstGeom>
              <a:noFill/>
              <a:ln>
                <a:solidFill>
                  <a:schemeClr val="bg2">
                    <a:lumMod val="25000"/>
                  </a:schemeClr>
                </a:solidFill>
              </a:ln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Arial" charset="0"/>
                </a:endParaRPr>
              </a:p>
            </p:txBody>
          </p:sp>
          <p:sp>
            <p:nvSpPr>
              <p:cNvPr id="344" name="TextBox 149">
                <a:extLst>
                  <a:ext uri="{FF2B5EF4-FFF2-40B4-BE49-F238E27FC236}">
                    <a16:creationId xmlns:a16="http://schemas.microsoft.com/office/drawing/2014/main" id="{1BF9F135-6CBF-0828-2550-A9ACBD5187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61187" y="4584377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45" name="TextBox 149">
                <a:extLst>
                  <a:ext uri="{FF2B5EF4-FFF2-40B4-BE49-F238E27FC236}">
                    <a16:creationId xmlns:a16="http://schemas.microsoft.com/office/drawing/2014/main" id="{96F47D27-AFE9-165E-88CA-1C5AD1836A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65389" y="3995746"/>
                <a:ext cx="455587" cy="2580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Gas</a:t>
                </a:r>
              </a:p>
            </p:txBody>
          </p:sp>
          <p:sp>
            <p:nvSpPr>
              <p:cNvPr id="346" name="TextBox 188">
                <a:extLst>
                  <a:ext uri="{FF2B5EF4-FFF2-40B4-BE49-F238E27FC236}">
                    <a16:creationId xmlns:a16="http://schemas.microsoft.com/office/drawing/2014/main" id="{77B46E5D-5DB8-A340-5B4C-0215B3A8A9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205214" y="5817951"/>
                <a:ext cx="1258200" cy="35479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 Export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 Jetty (at </a:t>
                </a:r>
                <a:r>
                  <a:rPr kumimoji="0" lang="en-US" alt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Akabel</a:t>
                </a: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)</a:t>
                </a:r>
              </a:p>
            </p:txBody>
          </p:sp>
          <p:cxnSp>
            <p:nvCxnSpPr>
              <p:cNvPr id="347" name="Straight Connector 346">
                <a:extLst>
                  <a:ext uri="{FF2B5EF4-FFF2-40B4-BE49-F238E27FC236}">
                    <a16:creationId xmlns:a16="http://schemas.microsoft.com/office/drawing/2014/main" id="{E12D3DD9-9DEA-4658-678E-485DB29ACF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69559" y="5547077"/>
                <a:ext cx="387161" cy="0"/>
              </a:xfrm>
              <a:prstGeom prst="line">
                <a:avLst/>
              </a:prstGeom>
              <a:ln w="6350">
                <a:solidFill>
                  <a:srgbClr val="FF0000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Arrow Connector 347">
                <a:extLst>
                  <a:ext uri="{FF2B5EF4-FFF2-40B4-BE49-F238E27FC236}">
                    <a16:creationId xmlns:a16="http://schemas.microsoft.com/office/drawing/2014/main" id="{8BF7C186-3844-FD83-7B5C-FED00F0D62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1488" y="4221718"/>
                <a:ext cx="603628" cy="0"/>
              </a:xfrm>
              <a:prstGeom prst="straightConnector1">
                <a:avLst/>
              </a:prstGeom>
              <a:ln w="2540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9" name="Flowchart: Magnetic Disk 348">
                <a:extLst>
                  <a:ext uri="{FF2B5EF4-FFF2-40B4-BE49-F238E27FC236}">
                    <a16:creationId xmlns:a16="http://schemas.microsoft.com/office/drawing/2014/main" id="{BFD0FD29-0CBF-6A3C-CC98-F50B76587301}"/>
                  </a:ext>
                </a:extLst>
              </p:cNvPr>
              <p:cNvSpPr/>
              <p:nvPr/>
            </p:nvSpPr>
            <p:spPr>
              <a:xfrm>
                <a:off x="7544779" y="5536011"/>
                <a:ext cx="350118" cy="263543"/>
              </a:xfrm>
              <a:prstGeom prst="flowChartMagneticDisk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Futura Std Book" panose="020B0502020204020303"/>
                  <a:ea typeface="+mn-ea"/>
                  <a:cs typeface="+mn-cs"/>
                </a:endParaRPr>
              </a:p>
            </p:txBody>
          </p:sp>
          <p:sp>
            <p:nvSpPr>
              <p:cNvPr id="350" name="TextBox 135">
                <a:extLst>
                  <a:ext uri="{FF2B5EF4-FFF2-40B4-BE49-F238E27FC236}">
                    <a16:creationId xmlns:a16="http://schemas.microsoft.com/office/drawing/2014/main" id="{76B8ACAD-B2E1-150C-4356-EF216082B1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74020" y="5765457"/>
                <a:ext cx="914197" cy="33866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ts val="9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Storage Tanks</a:t>
                </a:r>
              </a:p>
            </p:txBody>
          </p:sp>
          <p:sp>
            <p:nvSpPr>
              <p:cNvPr id="351" name="TextBox 149">
                <a:extLst>
                  <a:ext uri="{FF2B5EF4-FFF2-40B4-BE49-F238E27FC236}">
                    <a16:creationId xmlns:a16="http://schemas.microsoft.com/office/drawing/2014/main" id="{AF4E879B-3343-6250-0B72-C0B9B16204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837505" y="5686697"/>
                <a:ext cx="764687" cy="20965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Condensate</a:t>
                </a:r>
              </a:p>
            </p:txBody>
          </p:sp>
          <p:sp>
            <p:nvSpPr>
              <p:cNvPr id="352" name="Rounded Rectangle 55">
                <a:extLst>
                  <a:ext uri="{FF2B5EF4-FFF2-40B4-BE49-F238E27FC236}">
                    <a16:creationId xmlns:a16="http://schemas.microsoft.com/office/drawing/2014/main" id="{C14AC824-E285-D1B2-FA66-81AD170F0CA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507354" y="4062008"/>
                <a:ext cx="735427" cy="616214"/>
              </a:xfrm>
              <a:prstGeom prst="round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Gas</a:t>
                </a:r>
                <a:b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</a:b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Processing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Facility 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(60 </a:t>
                </a:r>
                <a:r>
                  <a:rPr kumimoji="0" lang="en-US" sz="7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barg</a:t>
                </a: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99FF66"/>
                    </a:highlight>
                    <a:uLnTx/>
                    <a:uFillTx/>
                    <a:latin typeface="Futura Std Book" panose="020B0502020204020303"/>
                    <a:ea typeface="+mn-ea"/>
                    <a:cs typeface="+mn-cs"/>
                  </a:rPr>
                  <a:t>500 MMscfd</a:t>
                </a:r>
              </a:p>
            </p:txBody>
          </p:sp>
          <p:sp>
            <p:nvSpPr>
              <p:cNvPr id="353" name="TextBox 149">
                <a:extLst>
                  <a:ext uri="{FF2B5EF4-FFF2-40B4-BE49-F238E27FC236}">
                    <a16:creationId xmlns:a16="http://schemas.microsoft.com/office/drawing/2014/main" id="{19DD7A0B-6E8F-2601-873A-76E9871697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58779" y="5046022"/>
                <a:ext cx="832063" cy="11288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Fertilizer </a:t>
                </a:r>
                <a:r>
                  <a:rPr lang="en-US" altLang="en-US" sz="700" dirty="0">
                    <a:solidFill>
                      <a:prstClr val="black"/>
                    </a:solidFill>
                    <a:latin typeface="Futura Std Book" panose="020B0502020204020303"/>
                  </a:rPr>
                  <a:t>/ </a:t>
                </a: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Futura Std Book" panose="020B0502020204020303"/>
                    <a:ea typeface="+mn-ea"/>
                    <a:cs typeface="Arial" charset="0"/>
                  </a:rPr>
                  <a:t>FLNG</a:t>
                </a:r>
              </a:p>
            </p:txBody>
          </p:sp>
        </p:grpSp>
      </p:grpSp>
      <p:sp>
        <p:nvSpPr>
          <p:cNvPr id="354" name="TextBox 135">
            <a:extLst>
              <a:ext uri="{FF2B5EF4-FFF2-40B4-BE49-F238E27FC236}">
                <a16:creationId xmlns:a16="http://schemas.microsoft.com/office/drawing/2014/main" id="{9A626D5F-C3A4-0485-A2C7-40B1ABDB5C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5889" y="4905146"/>
            <a:ext cx="609600" cy="190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ts val="9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Condensate</a:t>
            </a:r>
          </a:p>
        </p:txBody>
      </p:sp>
      <p:sp>
        <p:nvSpPr>
          <p:cNvPr id="355" name="TextBox 69">
            <a:extLst>
              <a:ext uri="{FF2B5EF4-FFF2-40B4-BE49-F238E27FC236}">
                <a16:creationId xmlns:a16="http://schemas.microsoft.com/office/drawing/2014/main" id="{2E096E6B-2021-24DA-73CB-85C2C1137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895" y="304800"/>
            <a:ext cx="601741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Std Book" panose="020B0502020204020303"/>
                <a:ea typeface="+mn-ea"/>
                <a:cs typeface="Arial" charset="0"/>
              </a:rPr>
              <a:t>Pipeline Scope Limit Definition &amp; Tie-in Point to GPP Inlet (Slug Catcher)</a:t>
            </a:r>
            <a:endParaRPr kumimoji="0" lang="en-US" altLang="en-US" sz="8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Std Book" panose="020B0502020204020303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185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175">
          <a:solidFill>
            <a:schemeClr val="tx1"/>
          </a:solidFill>
          <a:headEnd type="diamond" w="med" len="med"/>
          <a:tailEnd type="none" w="med" len="med"/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3175">
          <a:solidFill>
            <a:schemeClr val="tx1"/>
          </a:solidFill>
          <a:headEnd type="diamond" w="med" len="med"/>
          <a:tailEnd type="none" w="med" len="med"/>
        </a:ln>
      </a:spPr>
      <a:bodyPr/>
      <a:lstStyle/>
      <a:style>
        <a:lnRef idx="1">
          <a:schemeClr val="accent3"/>
        </a:lnRef>
        <a:fillRef idx="0">
          <a:schemeClr val="accent3"/>
        </a:fillRef>
        <a:effectRef idx="0">
          <a:schemeClr val="accent3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90930</TotalTime>
  <Words>405</Words>
  <Application>Microsoft Office PowerPoint</Application>
  <PresentationFormat>A4 Paper (210x297 mm)</PresentationFormat>
  <Paragraphs>122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Futura Md</vt:lpstr>
      <vt:lpstr>Futura Std Book</vt:lpstr>
      <vt:lpstr>Wingdings</vt:lpstr>
      <vt:lpstr>Office Theme</vt:lpstr>
      <vt:lpstr>1_Office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</dc:creator>
  <cp:lastModifiedBy>Aloy Duru</cp:lastModifiedBy>
  <cp:revision>2406</cp:revision>
  <cp:lastPrinted>2026-05-25T10:59:48Z</cp:lastPrinted>
  <dcterms:created xsi:type="dcterms:W3CDTF">2013-11-13T15:27:49Z</dcterms:created>
  <dcterms:modified xsi:type="dcterms:W3CDTF">2026-05-25T11:12:34Z</dcterms:modified>
</cp:coreProperties>
</file>