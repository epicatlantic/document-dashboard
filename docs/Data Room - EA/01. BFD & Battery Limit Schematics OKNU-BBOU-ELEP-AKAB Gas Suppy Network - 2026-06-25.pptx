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5119" r:id="rId2"/>
  </p:sldMasterIdLst>
  <p:notesMasterIdLst>
    <p:notesMasterId r:id="rId5"/>
  </p:notesMasterIdLst>
  <p:handoutMasterIdLst>
    <p:handoutMasterId r:id="rId6"/>
  </p:handoutMasterIdLst>
  <p:sldIdLst>
    <p:sldId id="6099" r:id="rId3"/>
    <p:sldId id="6101" r:id="rId4"/>
  </p:sldIdLst>
  <p:sldSz cx="9906000" cy="6858000" type="A4"/>
  <p:notesSz cx="6889750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8" userDrawn="1">
          <p15:clr>
            <a:srgbClr val="A4A3A4"/>
          </p15:clr>
        </p15:guide>
        <p15:guide id="2" pos="217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oy Onyenucheya Duru" initials="AD" lastIdx="2" clrIdx="0">
    <p:extLst>
      <p:ext uri="{19B8F6BF-5375-455C-9EA6-DF929625EA0E}">
        <p15:presenceInfo xmlns:p15="http://schemas.microsoft.com/office/powerpoint/2012/main" userId="6ba0ebf28dc85d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66FF66"/>
    <a:srgbClr val="00CC66"/>
    <a:srgbClr val="0033CC"/>
    <a:srgbClr val="33CC33"/>
    <a:srgbClr val="00CCFF"/>
    <a:srgbClr val="0000FF"/>
    <a:srgbClr val="00FF00"/>
    <a:srgbClr val="E46D0A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7" autoAdjust="0"/>
    <p:restoredTop sz="96374" autoAdjust="0"/>
  </p:normalViewPr>
  <p:slideViewPr>
    <p:cSldViewPr>
      <p:cViewPr>
        <p:scale>
          <a:sx n="60" d="100"/>
          <a:sy n="60" d="100"/>
        </p:scale>
        <p:origin x="1240" y="112"/>
      </p:cViewPr>
      <p:guideLst>
        <p:guide orient="horz" pos="2928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1908" y="-114"/>
      </p:cViewPr>
      <p:guideLst>
        <p:guide orient="horz" pos="3158"/>
        <p:guide pos="217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7"/>
            <a:ext cx="2985735" cy="501498"/>
          </a:xfrm>
          <a:prstGeom prst="rect">
            <a:avLst/>
          </a:prstGeom>
        </p:spPr>
        <p:txBody>
          <a:bodyPr vert="horz" lIns="97502" tIns="48753" rIns="97502" bIns="48753" rtlCol="0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4017" y="7"/>
            <a:ext cx="2984974" cy="501498"/>
          </a:xfrm>
          <a:prstGeom prst="rect">
            <a:avLst/>
          </a:prstGeom>
        </p:spPr>
        <p:txBody>
          <a:bodyPr vert="horz" lIns="97502" tIns="48753" rIns="97502" bIns="48753" rtlCol="0"/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fld id="{DA6A9BA0-8116-4984-B8E9-319203FA6887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7222"/>
            <a:ext cx="2985735" cy="499892"/>
          </a:xfrm>
          <a:prstGeom prst="rect">
            <a:avLst/>
          </a:prstGeom>
        </p:spPr>
        <p:txBody>
          <a:bodyPr vert="horz" lIns="97502" tIns="48753" rIns="97502" bIns="48753" rtlCol="0" anchor="b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4017" y="9517222"/>
            <a:ext cx="2984974" cy="499892"/>
          </a:xfrm>
          <a:prstGeom prst="rect">
            <a:avLst/>
          </a:prstGeom>
        </p:spPr>
        <p:txBody>
          <a:bodyPr vert="horz" wrap="square" lIns="97502" tIns="48753" rIns="97502" bIns="4875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F9B5D4-56B2-439A-9498-E370F02DC8EF}" type="slidenum">
              <a:rPr lang="en-US" altLang="af-ZA"/>
              <a:pPr>
                <a:defRPr/>
              </a:pPr>
              <a:t>‹#›</a:t>
            </a:fld>
            <a:endParaRPr lang="en-US" altLang="af-ZA"/>
          </a:p>
        </p:txBody>
      </p:sp>
    </p:spTree>
    <p:extLst>
      <p:ext uri="{BB962C8B-B14F-4D97-AF65-F5344CB8AC3E}">
        <p14:creationId xmlns:p14="http://schemas.microsoft.com/office/powerpoint/2010/main" val="29625928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7"/>
            <a:ext cx="2985735" cy="501498"/>
          </a:xfrm>
          <a:prstGeom prst="rect">
            <a:avLst/>
          </a:prstGeom>
        </p:spPr>
        <p:txBody>
          <a:bodyPr vert="horz" lIns="100283" tIns="50139" rIns="100283" bIns="50139" rtlCol="0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4017" y="7"/>
            <a:ext cx="2984974" cy="501498"/>
          </a:xfrm>
          <a:prstGeom prst="rect">
            <a:avLst/>
          </a:prstGeom>
        </p:spPr>
        <p:txBody>
          <a:bodyPr vert="horz" lIns="100283" tIns="50139" rIns="100283" bIns="50139" rtlCol="0"/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fld id="{4ACF7FB0-FBF9-4CE8-B811-78FAB35905FB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7075" y="747713"/>
            <a:ext cx="5435600" cy="3763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283" tIns="50139" rIns="100283" bIns="5013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377" y="4757012"/>
            <a:ext cx="5515001" cy="4508661"/>
          </a:xfrm>
          <a:prstGeom prst="rect">
            <a:avLst/>
          </a:prstGeom>
        </p:spPr>
        <p:txBody>
          <a:bodyPr vert="horz" lIns="100283" tIns="50139" rIns="100283" bIns="5013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7222"/>
            <a:ext cx="2985735" cy="499892"/>
          </a:xfrm>
          <a:prstGeom prst="rect">
            <a:avLst/>
          </a:prstGeom>
        </p:spPr>
        <p:txBody>
          <a:bodyPr vert="horz" lIns="100283" tIns="50139" rIns="100283" bIns="50139" rtlCol="0" anchor="b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4017" y="9517222"/>
            <a:ext cx="2984974" cy="499892"/>
          </a:xfrm>
          <a:prstGeom prst="rect">
            <a:avLst/>
          </a:prstGeom>
        </p:spPr>
        <p:txBody>
          <a:bodyPr vert="horz" wrap="square" lIns="100283" tIns="50139" rIns="100283" bIns="5013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7049CE5-3B1C-49F9-8E74-8222B4BAA423}" type="slidenum">
              <a:rPr lang="en-US" altLang="af-ZA"/>
              <a:pPr>
                <a:defRPr/>
              </a:pPr>
              <a:t>‹#›</a:t>
            </a:fld>
            <a:endParaRPr lang="en-US" altLang="af-ZA"/>
          </a:p>
        </p:txBody>
      </p:sp>
    </p:spTree>
    <p:extLst>
      <p:ext uri="{BB962C8B-B14F-4D97-AF65-F5344CB8AC3E}">
        <p14:creationId xmlns:p14="http://schemas.microsoft.com/office/powerpoint/2010/main" val="229508550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139B-F89F-98A4-DCFD-B0BFBA4F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3E81D90D-460D-606E-8AC4-A91FA83DC7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87425" y="698500"/>
            <a:ext cx="5086350" cy="35226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NG"/>
          </a:p>
        </p:txBody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301A971E-E1F6-922C-1F04-06641C130C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B727B66-E2DF-A050-81B4-F32C9341C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1pPr>
            <a:lvl2pPr marL="504738" indent="-193464"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2pPr>
            <a:lvl3pPr marL="777102" indent="-154557"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3pPr>
            <a:lvl4pPr marL="1088373" indent="-154557"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4pPr>
            <a:lvl5pPr marL="1399647" indent="-154557"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5pPr>
            <a:lvl6pPr marL="1710919" indent="-154557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</a:defRPr>
            </a:lvl6pPr>
            <a:lvl7pPr marL="2022192" indent="-154557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</a:defRPr>
            </a:lvl7pPr>
            <a:lvl8pPr marL="2333465" indent="-154557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</a:defRPr>
            </a:lvl8pPr>
            <a:lvl9pPr marL="2644738" indent="-154557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001" eaLnBrk="1" hangingPunct="1">
              <a:spcBef>
                <a:spcPct val="0"/>
              </a:spcBef>
              <a:defRPr/>
            </a:pPr>
            <a:fld id="{ABB3E405-46A8-4C8D-A825-12F1859414F7}" type="slidenum">
              <a:rPr lang="en-US" altLang="en-US" sz="1200">
                <a:solidFill>
                  <a:prstClr val="black"/>
                </a:solidFill>
              </a:rPr>
              <a:pPr defTabSz="924001" eaLnBrk="1" hangingPunct="1">
                <a:spcBef>
                  <a:spcPct val="0"/>
                </a:spcBef>
                <a:defRPr/>
              </a:pPr>
              <a:t>1</a:t>
            </a:fld>
            <a:endParaRPr lang="en-US" altLang="en-US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022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EE62-29B3-A131-0F00-2F836CDEE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FC384-7F30-932C-C8AC-1155794D5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B35EE-1EE0-A18D-C01B-25364D26B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8742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56CF5B-393C-41C0-AFBD-BC7617FF43D1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3C878C-99D2-496D-92AB-40B6E732F7F9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C4CFD-B2B0-4359-AE1B-178C2A027A2C}"/>
              </a:ext>
            </a:extLst>
          </p:cNvPr>
          <p:cNvSpPr/>
          <p:nvPr userDrawn="1"/>
        </p:nvSpPr>
        <p:spPr>
          <a:xfrm>
            <a:off x="0" y="6438900"/>
            <a:ext cx="1427232" cy="419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72AA2-BB7F-4C17-AD28-9CB0AF5FE2EB}"/>
              </a:ext>
            </a:extLst>
          </p:cNvPr>
          <p:cNvSpPr/>
          <p:nvPr userDrawn="1"/>
        </p:nvSpPr>
        <p:spPr>
          <a:xfrm>
            <a:off x="8436486" y="6438900"/>
            <a:ext cx="1469513" cy="419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0C01F-3B09-47DB-B297-CDDF80762CC6}"/>
              </a:ext>
            </a:extLst>
          </p:cNvPr>
          <p:cNvSpPr/>
          <p:nvPr userDrawn="1"/>
        </p:nvSpPr>
        <p:spPr>
          <a:xfrm>
            <a:off x="1427232" y="6438900"/>
            <a:ext cx="7009255" cy="4191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EA-DSV-BFPCL-GGPL-FEED-PSE-SCH-01-R01 – BFD Scope Definition 20May2026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Wellhead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to Gas Hub / Gas Processing Plant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69DA843-84F5-4266-A74D-EB6481813C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82100" y="6464969"/>
            <a:ext cx="647700" cy="318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6A705C3-FEDB-4658-A946-EC4C552B76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200" y="6518217"/>
            <a:ext cx="461682" cy="248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C73DE7-25BF-49C8-A7F7-4EF07F4BAB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02" y="6502990"/>
            <a:ext cx="643998" cy="282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C7435B-CEE7-4F7B-BF49-9072162146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87" y="6536394"/>
            <a:ext cx="647700" cy="24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5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B91F39-E015-428F-9D3D-3E0009643C21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F7381-FC93-438D-8E2F-B296E72095B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6FA4E1-C083-47D3-8D18-E77C8A5D9168}"/>
              </a:ext>
            </a:extLst>
          </p:cNvPr>
          <p:cNvSpPr/>
          <p:nvPr userDrawn="1"/>
        </p:nvSpPr>
        <p:spPr>
          <a:xfrm>
            <a:off x="0" y="6438900"/>
            <a:ext cx="1073150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DF3D-3E89-460C-84B6-B69F42C7D9E5}"/>
              </a:ext>
            </a:extLst>
          </p:cNvPr>
          <p:cNvSpPr/>
          <p:nvPr userDrawn="1"/>
        </p:nvSpPr>
        <p:spPr>
          <a:xfrm>
            <a:off x="8791577" y="6438900"/>
            <a:ext cx="1114425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CE752-D7CC-460B-824E-C81211AE369F}"/>
              </a:ext>
            </a:extLst>
          </p:cNvPr>
          <p:cNvSpPr/>
          <p:nvPr userDrawn="1"/>
        </p:nvSpPr>
        <p:spPr>
          <a:xfrm>
            <a:off x="1073152" y="6438900"/>
            <a:ext cx="7718425" cy="419100"/>
          </a:xfrm>
          <a:prstGeom prst="rect">
            <a:avLst/>
          </a:prstGeom>
          <a:solidFill>
            <a:srgbClr val="99FF33"/>
          </a:solidFill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EA-BFPCL-GPMC-GGPL-FEED-PSE-SCH-01-R01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Wellhead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&amp; Flow Parameters to Gas Processing Plant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28DDA4-8353-4D9D-AD4C-DEAFABDFEF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7951" y="6469069"/>
            <a:ext cx="8001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BD66319-1353-42D6-86F4-BCC3DAC8A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176" y="6462329"/>
            <a:ext cx="643477" cy="34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0584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F4EABE-4CE4-AFB3-5F79-317E5C926526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4DD22-1D70-0D10-C442-6E4FE2CEB0D7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CD570-020A-3F62-CAFB-B2BBE40C43BF}"/>
              </a:ext>
            </a:extLst>
          </p:cNvPr>
          <p:cNvSpPr/>
          <p:nvPr userDrawn="1"/>
        </p:nvSpPr>
        <p:spPr>
          <a:xfrm>
            <a:off x="0" y="6438900"/>
            <a:ext cx="1073150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D950F0-9668-F0D5-5FC2-37B0710B163F}"/>
              </a:ext>
            </a:extLst>
          </p:cNvPr>
          <p:cNvSpPr/>
          <p:nvPr userDrawn="1"/>
        </p:nvSpPr>
        <p:spPr>
          <a:xfrm>
            <a:off x="8791577" y="6438900"/>
            <a:ext cx="1114425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02E863-3343-6BDB-5D9C-6F195CE35F19}"/>
              </a:ext>
            </a:extLst>
          </p:cNvPr>
          <p:cNvSpPr/>
          <p:nvPr userDrawn="1"/>
        </p:nvSpPr>
        <p:spPr>
          <a:xfrm>
            <a:off x="1073152" y="6438900"/>
            <a:ext cx="7718425" cy="419100"/>
          </a:xfrm>
          <a:prstGeom prst="rect">
            <a:avLst/>
          </a:prstGeom>
          <a:solidFill>
            <a:srgbClr val="99FF33"/>
          </a:solidFill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EA-BFPCL-GPMC-GGPL-FEED-PSE-SCH-02-R01 – 04 Feb 2026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 err="1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Oknu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</a:t>
            </a:r>
            <a:r>
              <a:rPr lang="en-US" altLang="en-US" sz="1200" b="1" baseline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&amp; Phase-1 </a:t>
            </a:r>
            <a:r>
              <a:rPr lang="en-US" altLang="en-US" sz="1200" b="1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&amp; Flow Parameters to Gas Processing Plant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B06F27-5082-A2A9-EEB6-4E90A7DA73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7951" y="6469069"/>
            <a:ext cx="8001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0EA4655-34F8-208D-00BF-E516FAB08E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176" y="6462329"/>
            <a:ext cx="643477" cy="34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683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6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6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466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9" b="1"/>
            </a:lvl1pPr>
            <a:lvl2pPr marL="457204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4" indent="0">
              <a:buNone/>
              <a:defRPr sz="1600" b="1"/>
            </a:lvl6pPr>
            <a:lvl7pPr marL="2743217" indent="0">
              <a:buNone/>
              <a:defRPr sz="1600" b="1"/>
            </a:lvl7pPr>
            <a:lvl8pPr marL="3200420" indent="0">
              <a:buNone/>
              <a:defRPr sz="1600" b="1"/>
            </a:lvl8pPr>
            <a:lvl9pPr marL="36576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9" b="1"/>
            </a:lvl1pPr>
            <a:lvl2pPr marL="457204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4" indent="0">
              <a:buNone/>
              <a:defRPr sz="1600" b="1"/>
            </a:lvl6pPr>
            <a:lvl7pPr marL="2743217" indent="0">
              <a:buNone/>
              <a:defRPr sz="1600" b="1"/>
            </a:lvl7pPr>
            <a:lvl8pPr marL="3200420" indent="0">
              <a:buNone/>
              <a:defRPr sz="1600" b="1"/>
            </a:lvl8pPr>
            <a:lvl9pPr marL="36576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7122CA52-1BE2-402B-B6D1-38FE073023E3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0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AE6886FB-CE90-4888-94FA-B66D4269A915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1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39D172E7-E362-4458-90A3-73219F4FDDFC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2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7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4" indent="0">
              <a:buNone/>
              <a:defRPr sz="1200"/>
            </a:lvl2pPr>
            <a:lvl3pPr marL="914406" indent="0">
              <a:buNone/>
              <a:defRPr sz="1000"/>
            </a:lvl3pPr>
            <a:lvl4pPr marL="1371608" indent="0">
              <a:buNone/>
              <a:defRPr sz="900"/>
            </a:lvl4pPr>
            <a:lvl5pPr marL="1828812" indent="0">
              <a:buNone/>
              <a:defRPr sz="900"/>
            </a:lvl5pPr>
            <a:lvl6pPr marL="2286014" indent="0">
              <a:buNone/>
              <a:defRPr sz="900"/>
            </a:lvl6pPr>
            <a:lvl7pPr marL="2743217" indent="0">
              <a:buNone/>
              <a:defRPr sz="900"/>
            </a:lvl7pPr>
            <a:lvl8pPr marL="3200420" indent="0">
              <a:buNone/>
              <a:defRPr sz="900"/>
            </a:lvl8pPr>
            <a:lvl9pPr marL="36576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27921E71-378B-4A1E-B96E-9204A43CA5B0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5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4" indent="0">
              <a:buNone/>
              <a:defRPr sz="2800"/>
            </a:lvl2pPr>
            <a:lvl3pPr marL="914406" indent="0">
              <a:buNone/>
              <a:defRPr sz="2399"/>
            </a:lvl3pPr>
            <a:lvl4pPr marL="1371608" indent="0">
              <a:buNone/>
              <a:defRPr sz="2000"/>
            </a:lvl4pPr>
            <a:lvl5pPr marL="1828812" indent="0">
              <a:buNone/>
              <a:defRPr sz="2000"/>
            </a:lvl5pPr>
            <a:lvl6pPr marL="2286014" indent="0">
              <a:buNone/>
              <a:defRPr sz="2000"/>
            </a:lvl6pPr>
            <a:lvl7pPr marL="2743217" indent="0">
              <a:buNone/>
              <a:defRPr sz="2000"/>
            </a:lvl7pPr>
            <a:lvl8pPr marL="3200420" indent="0">
              <a:buNone/>
              <a:defRPr sz="2000"/>
            </a:lvl8pPr>
            <a:lvl9pPr marL="3657622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4" indent="0">
              <a:buNone/>
              <a:defRPr sz="1200"/>
            </a:lvl2pPr>
            <a:lvl3pPr marL="914406" indent="0">
              <a:buNone/>
              <a:defRPr sz="1000"/>
            </a:lvl3pPr>
            <a:lvl4pPr marL="1371608" indent="0">
              <a:buNone/>
              <a:defRPr sz="900"/>
            </a:lvl4pPr>
            <a:lvl5pPr marL="1828812" indent="0">
              <a:buNone/>
              <a:defRPr sz="900"/>
            </a:lvl5pPr>
            <a:lvl6pPr marL="2286014" indent="0">
              <a:buNone/>
              <a:defRPr sz="900"/>
            </a:lvl6pPr>
            <a:lvl7pPr marL="2743217" indent="0">
              <a:buNone/>
              <a:defRPr sz="900"/>
            </a:lvl7pPr>
            <a:lvl8pPr marL="3200420" indent="0">
              <a:buNone/>
              <a:defRPr sz="900"/>
            </a:lvl8pPr>
            <a:lvl9pPr marL="36576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9EA1AF58-C82A-473D-85EE-2B357B1A6587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17202008-DE3D-41CD-B274-792BE8345197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0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DE90C324-728B-4F80-B8CD-5FAEEA68E6F5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1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lIns="127993" tIns="63997" rIns="127993" bIns="6399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lIns="127993" tIns="63997" rIns="127993" bIns="63997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860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56CF5B-393C-41C0-AFBD-BC7617FF43D1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3C878C-99D2-496D-92AB-40B6E732F7F9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C4CFD-B2B0-4359-AE1B-178C2A027A2C}"/>
              </a:ext>
            </a:extLst>
          </p:cNvPr>
          <p:cNvSpPr/>
          <p:nvPr userDrawn="1"/>
        </p:nvSpPr>
        <p:spPr>
          <a:xfrm>
            <a:off x="0" y="6438900"/>
            <a:ext cx="1427232" cy="419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72AA2-BB7F-4C17-AD28-9CB0AF5FE2EB}"/>
              </a:ext>
            </a:extLst>
          </p:cNvPr>
          <p:cNvSpPr/>
          <p:nvPr userDrawn="1"/>
        </p:nvSpPr>
        <p:spPr>
          <a:xfrm>
            <a:off x="8436486" y="6438900"/>
            <a:ext cx="1469513" cy="419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0C01F-3B09-47DB-B297-CDDF80762CC6}"/>
              </a:ext>
            </a:extLst>
          </p:cNvPr>
          <p:cNvSpPr/>
          <p:nvPr userDrawn="1"/>
        </p:nvSpPr>
        <p:spPr>
          <a:xfrm>
            <a:off x="1427232" y="6438900"/>
            <a:ext cx="7009255" cy="4191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EA-DSV-BFPCL-GGPL-FEED-PSE-SCH-01-R01 – BFD Scope Definition 20May2026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Wellhead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to Gas Hub / Gas Processing Plant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69DA843-84F5-4266-A74D-EB6481813C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82100" y="6464969"/>
            <a:ext cx="647700" cy="318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6A705C3-FEDB-4658-A946-EC4C552B76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200" y="6518217"/>
            <a:ext cx="461682" cy="248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C73DE7-25BF-49C8-A7F7-4EF07F4BAB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02" y="6502990"/>
            <a:ext cx="643998" cy="282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C7435B-CEE7-4F7B-BF49-9072162146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87" y="6536394"/>
            <a:ext cx="647700" cy="24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11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B91F39-E015-428F-9D3D-3E0009643C21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F7381-FC93-438D-8E2F-B296E72095B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6FA4E1-C083-47D3-8D18-E77C8A5D9168}"/>
              </a:ext>
            </a:extLst>
          </p:cNvPr>
          <p:cNvSpPr/>
          <p:nvPr userDrawn="1"/>
        </p:nvSpPr>
        <p:spPr>
          <a:xfrm>
            <a:off x="0" y="6438900"/>
            <a:ext cx="1073150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DF3D-3E89-460C-84B6-B69F42C7D9E5}"/>
              </a:ext>
            </a:extLst>
          </p:cNvPr>
          <p:cNvSpPr/>
          <p:nvPr userDrawn="1"/>
        </p:nvSpPr>
        <p:spPr>
          <a:xfrm>
            <a:off x="8791577" y="6438900"/>
            <a:ext cx="1114425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CE752-D7CC-460B-824E-C81211AE369F}"/>
              </a:ext>
            </a:extLst>
          </p:cNvPr>
          <p:cNvSpPr/>
          <p:nvPr userDrawn="1"/>
        </p:nvSpPr>
        <p:spPr>
          <a:xfrm>
            <a:off x="1073152" y="6438900"/>
            <a:ext cx="7718425" cy="419100"/>
          </a:xfrm>
          <a:prstGeom prst="rect">
            <a:avLst/>
          </a:prstGeom>
          <a:solidFill>
            <a:srgbClr val="99FF33"/>
          </a:solidFill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EA-BFPCL-GPMC-GGPL-FEED-PSE-SCH-01-R01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Wellhead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&amp; Flow Parameters to Gas Processing Plant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28DDA4-8353-4D9D-AD4C-DEAFABDFEF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7951" y="6469069"/>
            <a:ext cx="8001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BD66319-1353-42D6-86F4-BCC3DAC8A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176" y="6462329"/>
            <a:ext cx="643477" cy="34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2258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F4EABE-4CE4-AFB3-5F79-317E5C926526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4DD22-1D70-0D10-C442-6E4FE2CEB0D7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CD570-020A-3F62-CAFB-B2BBE40C43BF}"/>
              </a:ext>
            </a:extLst>
          </p:cNvPr>
          <p:cNvSpPr/>
          <p:nvPr userDrawn="1"/>
        </p:nvSpPr>
        <p:spPr>
          <a:xfrm>
            <a:off x="0" y="6438900"/>
            <a:ext cx="1073150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D950F0-9668-F0D5-5FC2-37B0710B163F}"/>
              </a:ext>
            </a:extLst>
          </p:cNvPr>
          <p:cNvSpPr/>
          <p:nvPr userDrawn="1"/>
        </p:nvSpPr>
        <p:spPr>
          <a:xfrm>
            <a:off x="8791577" y="6438900"/>
            <a:ext cx="1114425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02E863-3343-6BDB-5D9C-6F195CE35F19}"/>
              </a:ext>
            </a:extLst>
          </p:cNvPr>
          <p:cNvSpPr/>
          <p:nvPr userDrawn="1"/>
        </p:nvSpPr>
        <p:spPr>
          <a:xfrm>
            <a:off x="1073152" y="6438900"/>
            <a:ext cx="7718425" cy="419100"/>
          </a:xfrm>
          <a:prstGeom prst="rect">
            <a:avLst/>
          </a:prstGeom>
          <a:solidFill>
            <a:srgbClr val="99FF33"/>
          </a:solidFill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EA-BFPCL-GPMC-GGPL-FEED-PSE-SCH-02-R01 – 04 Feb 2026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 err="1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Oknu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</a:t>
            </a:r>
            <a:r>
              <a:rPr lang="en-US" altLang="en-US" sz="1200" b="1" baseline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&amp; Phase-1 </a:t>
            </a:r>
            <a:r>
              <a:rPr lang="en-US" altLang="en-US" sz="1200" b="1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&amp; Flow Parameters to Gas Processing Plant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B06F27-5082-A2A9-EEB6-4E90A7DA73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7951" y="6469069"/>
            <a:ext cx="8001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0EA4655-34F8-208D-00BF-E516FAB08E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176" y="6462329"/>
            <a:ext cx="643477" cy="34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9489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6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6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1028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9" b="1"/>
            </a:lvl1pPr>
            <a:lvl2pPr marL="457204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4" indent="0">
              <a:buNone/>
              <a:defRPr sz="1600" b="1"/>
            </a:lvl6pPr>
            <a:lvl7pPr marL="2743217" indent="0">
              <a:buNone/>
              <a:defRPr sz="1600" b="1"/>
            </a:lvl7pPr>
            <a:lvl8pPr marL="3200420" indent="0">
              <a:buNone/>
              <a:defRPr sz="1600" b="1"/>
            </a:lvl8pPr>
            <a:lvl9pPr marL="36576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9" b="1"/>
            </a:lvl1pPr>
            <a:lvl2pPr marL="457204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4" indent="0">
              <a:buNone/>
              <a:defRPr sz="1600" b="1"/>
            </a:lvl6pPr>
            <a:lvl7pPr marL="2743217" indent="0">
              <a:buNone/>
              <a:defRPr sz="1600" b="1"/>
            </a:lvl7pPr>
            <a:lvl8pPr marL="3200420" indent="0">
              <a:buNone/>
              <a:defRPr sz="1600" b="1"/>
            </a:lvl8pPr>
            <a:lvl9pPr marL="36576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7122CA52-1BE2-402B-B6D1-38FE073023E3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67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AE6886FB-CE90-4888-94FA-B66D4269A915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44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39D172E7-E362-4458-90A3-73219F4FDDFC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53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7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4" indent="0">
              <a:buNone/>
              <a:defRPr sz="1200"/>
            </a:lvl2pPr>
            <a:lvl3pPr marL="914406" indent="0">
              <a:buNone/>
              <a:defRPr sz="1000"/>
            </a:lvl3pPr>
            <a:lvl4pPr marL="1371608" indent="0">
              <a:buNone/>
              <a:defRPr sz="900"/>
            </a:lvl4pPr>
            <a:lvl5pPr marL="1828812" indent="0">
              <a:buNone/>
              <a:defRPr sz="900"/>
            </a:lvl5pPr>
            <a:lvl6pPr marL="2286014" indent="0">
              <a:buNone/>
              <a:defRPr sz="900"/>
            </a:lvl6pPr>
            <a:lvl7pPr marL="2743217" indent="0">
              <a:buNone/>
              <a:defRPr sz="900"/>
            </a:lvl7pPr>
            <a:lvl8pPr marL="3200420" indent="0">
              <a:buNone/>
              <a:defRPr sz="900"/>
            </a:lvl8pPr>
            <a:lvl9pPr marL="36576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27921E71-378B-4A1E-B96E-9204A43CA5B0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89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4" indent="0">
              <a:buNone/>
              <a:defRPr sz="2800"/>
            </a:lvl2pPr>
            <a:lvl3pPr marL="914406" indent="0">
              <a:buNone/>
              <a:defRPr sz="2399"/>
            </a:lvl3pPr>
            <a:lvl4pPr marL="1371608" indent="0">
              <a:buNone/>
              <a:defRPr sz="2000"/>
            </a:lvl4pPr>
            <a:lvl5pPr marL="1828812" indent="0">
              <a:buNone/>
              <a:defRPr sz="2000"/>
            </a:lvl5pPr>
            <a:lvl6pPr marL="2286014" indent="0">
              <a:buNone/>
              <a:defRPr sz="2000"/>
            </a:lvl6pPr>
            <a:lvl7pPr marL="2743217" indent="0">
              <a:buNone/>
              <a:defRPr sz="2000"/>
            </a:lvl7pPr>
            <a:lvl8pPr marL="3200420" indent="0">
              <a:buNone/>
              <a:defRPr sz="2000"/>
            </a:lvl8pPr>
            <a:lvl9pPr marL="3657622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4" indent="0">
              <a:buNone/>
              <a:defRPr sz="1200"/>
            </a:lvl2pPr>
            <a:lvl3pPr marL="914406" indent="0">
              <a:buNone/>
              <a:defRPr sz="1000"/>
            </a:lvl3pPr>
            <a:lvl4pPr marL="1371608" indent="0">
              <a:buNone/>
              <a:defRPr sz="900"/>
            </a:lvl4pPr>
            <a:lvl5pPr marL="1828812" indent="0">
              <a:buNone/>
              <a:defRPr sz="900"/>
            </a:lvl5pPr>
            <a:lvl6pPr marL="2286014" indent="0">
              <a:buNone/>
              <a:defRPr sz="900"/>
            </a:lvl6pPr>
            <a:lvl7pPr marL="2743217" indent="0">
              <a:buNone/>
              <a:defRPr sz="900"/>
            </a:lvl7pPr>
            <a:lvl8pPr marL="3200420" indent="0">
              <a:buNone/>
              <a:defRPr sz="900"/>
            </a:lvl8pPr>
            <a:lvl9pPr marL="36576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9EA1AF58-C82A-473D-85EE-2B357B1A6587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635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17202008-DE3D-41CD-B274-792BE8345197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3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DE90C324-728B-4F80-B8CD-5FAEEA68E6F5}" type="datetimeFigureOut">
              <a:rPr lang="en-US"/>
              <a:pPr>
                <a:defRPr/>
              </a:pPr>
              <a:t>6/24/2026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992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lIns="127993" tIns="63997" rIns="127993" bIns="6399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lIns="127993" tIns="63997" rIns="127993" bIns="63997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489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107" r:id="rId1"/>
    <p:sldLayoutId id="2147485108" r:id="rId2"/>
    <p:sldLayoutId id="2147485109" r:id="rId3"/>
    <p:sldLayoutId id="2147485110" r:id="rId4"/>
    <p:sldLayoutId id="2147485111" r:id="rId5"/>
    <p:sldLayoutId id="2147485112" r:id="rId6"/>
    <p:sldLayoutId id="2147485113" r:id="rId7"/>
    <p:sldLayoutId id="2147485114" r:id="rId8"/>
    <p:sldLayoutId id="2147485115" r:id="rId9"/>
    <p:sldLayoutId id="2147485116" r:id="rId10"/>
    <p:sldLayoutId id="2147485117" r:id="rId11"/>
    <p:sldLayoutId id="2147485118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5pPr>
      <a:lvl6pPr marL="457204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6pPr>
      <a:lvl7pPr marL="914406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7pPr>
      <a:lvl8pPr marL="1371608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8pPr>
      <a:lvl9pPr marL="1828812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9pPr>
    </p:titleStyle>
    <p:bodyStyle>
      <a:lvl1pPr marL="342901" indent="-34290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5" indent="-28575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6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0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13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6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9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1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4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7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136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0" r:id="rId1"/>
    <p:sldLayoutId id="2147485121" r:id="rId2"/>
    <p:sldLayoutId id="2147485122" r:id="rId3"/>
    <p:sldLayoutId id="2147485123" r:id="rId4"/>
    <p:sldLayoutId id="2147485124" r:id="rId5"/>
    <p:sldLayoutId id="2147485125" r:id="rId6"/>
    <p:sldLayoutId id="2147485126" r:id="rId7"/>
    <p:sldLayoutId id="2147485127" r:id="rId8"/>
    <p:sldLayoutId id="2147485128" r:id="rId9"/>
    <p:sldLayoutId id="2147485129" r:id="rId10"/>
    <p:sldLayoutId id="2147485130" r:id="rId11"/>
    <p:sldLayoutId id="214748513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5pPr>
      <a:lvl6pPr marL="457204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6pPr>
      <a:lvl7pPr marL="914406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7pPr>
      <a:lvl8pPr marL="1371608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8pPr>
      <a:lvl9pPr marL="1828812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9pPr>
    </p:titleStyle>
    <p:bodyStyle>
      <a:lvl1pPr marL="342901" indent="-34290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5" indent="-28575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6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0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13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6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9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1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4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7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DBDC-C0F7-DCF9-9C76-6387AAB48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39CA60B-9017-BD5E-744E-ECE42B0C975F}"/>
              </a:ext>
            </a:extLst>
          </p:cNvPr>
          <p:cNvGrpSpPr/>
          <p:nvPr/>
        </p:nvGrpSpPr>
        <p:grpSpPr>
          <a:xfrm>
            <a:off x="3465661" y="3990023"/>
            <a:ext cx="64298" cy="196603"/>
            <a:chOff x="559898" y="2830538"/>
            <a:chExt cx="64298" cy="196603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08F35EB-A109-268E-5B79-31BE64BBDEE9}"/>
                </a:ext>
              </a:extLst>
            </p:cNvPr>
            <p:cNvCxnSpPr/>
            <p:nvPr/>
          </p:nvCxnSpPr>
          <p:spPr bwMode="auto">
            <a:xfrm flipV="1">
              <a:off x="595756" y="2884944"/>
              <a:ext cx="0" cy="142197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107427-05C6-78E6-50C7-CC6BA562A835}"/>
                </a:ext>
              </a:extLst>
            </p:cNvPr>
            <p:cNvSpPr/>
            <p:nvPr/>
          </p:nvSpPr>
          <p:spPr bwMode="auto">
            <a:xfrm>
              <a:off x="559898" y="2830538"/>
              <a:ext cx="64298" cy="5935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633D52E-2C78-EC77-6377-B94DEBC9A7F0}"/>
              </a:ext>
            </a:extLst>
          </p:cNvPr>
          <p:cNvGrpSpPr/>
          <p:nvPr/>
        </p:nvGrpSpPr>
        <p:grpSpPr>
          <a:xfrm>
            <a:off x="3582670" y="3990023"/>
            <a:ext cx="64298" cy="196603"/>
            <a:chOff x="559898" y="2830538"/>
            <a:chExt cx="64298" cy="196603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778BDE8-6F02-D96E-D060-D24C9ABC4FE3}"/>
                </a:ext>
              </a:extLst>
            </p:cNvPr>
            <p:cNvCxnSpPr/>
            <p:nvPr/>
          </p:nvCxnSpPr>
          <p:spPr bwMode="auto">
            <a:xfrm flipV="1">
              <a:off x="595756" y="2884944"/>
              <a:ext cx="0" cy="142197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9D8207D-730D-F4D6-35EB-92CEB1C5DB75}"/>
                </a:ext>
              </a:extLst>
            </p:cNvPr>
            <p:cNvSpPr/>
            <p:nvPr/>
          </p:nvSpPr>
          <p:spPr bwMode="auto">
            <a:xfrm>
              <a:off x="559898" y="2830538"/>
              <a:ext cx="64298" cy="5935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524A07F-42DF-EAF5-A9D4-6A6B1CAA3836}"/>
              </a:ext>
            </a:extLst>
          </p:cNvPr>
          <p:cNvGrpSpPr/>
          <p:nvPr/>
        </p:nvGrpSpPr>
        <p:grpSpPr>
          <a:xfrm>
            <a:off x="3695344" y="3990023"/>
            <a:ext cx="64298" cy="196603"/>
            <a:chOff x="559898" y="2830538"/>
            <a:chExt cx="64298" cy="196603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924AAE4-7377-DEE1-5AF5-3F28679F3F9E}"/>
                </a:ext>
              </a:extLst>
            </p:cNvPr>
            <p:cNvCxnSpPr/>
            <p:nvPr/>
          </p:nvCxnSpPr>
          <p:spPr bwMode="auto">
            <a:xfrm flipV="1">
              <a:off x="595756" y="2884944"/>
              <a:ext cx="0" cy="142197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33EF67D-3909-4D87-E678-EF4ED5C320DD}"/>
                </a:ext>
              </a:extLst>
            </p:cNvPr>
            <p:cNvSpPr/>
            <p:nvPr/>
          </p:nvSpPr>
          <p:spPr bwMode="auto">
            <a:xfrm>
              <a:off x="559898" y="2830538"/>
              <a:ext cx="64298" cy="5935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5D4F87-258B-2264-2B37-DF903F60483C}"/>
              </a:ext>
            </a:extLst>
          </p:cNvPr>
          <p:cNvGrpSpPr/>
          <p:nvPr/>
        </p:nvGrpSpPr>
        <p:grpSpPr>
          <a:xfrm>
            <a:off x="504371" y="783625"/>
            <a:ext cx="319984" cy="196612"/>
            <a:chOff x="703856" y="690494"/>
            <a:chExt cx="319984" cy="19661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8917145-93AB-201E-D584-8E57803AD62C}"/>
                </a:ext>
              </a:extLst>
            </p:cNvPr>
            <p:cNvGrpSpPr/>
            <p:nvPr/>
          </p:nvGrpSpPr>
          <p:grpSpPr>
            <a:xfrm>
              <a:off x="825906" y="695043"/>
              <a:ext cx="64298" cy="185474"/>
              <a:chOff x="838200" y="635906"/>
              <a:chExt cx="64298" cy="185474"/>
            </a:xfrm>
          </p:grpSpPr>
          <p:cxnSp>
            <p:nvCxnSpPr>
              <p:cNvPr id="9307" name="Straight Connector 9306">
                <a:extLst>
                  <a:ext uri="{FF2B5EF4-FFF2-40B4-BE49-F238E27FC236}">
                    <a16:creationId xmlns:a16="http://schemas.microsoft.com/office/drawing/2014/main" id="{44EBC24B-4F36-D85C-7879-ABADA89C9EC3}"/>
                  </a:ext>
                </a:extLst>
              </p:cNvPr>
              <p:cNvCxnSpPr/>
              <p:nvPr/>
            </p:nvCxnSpPr>
            <p:spPr bwMode="auto">
              <a:xfrm flipV="1">
                <a:off x="867876" y="679183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09" name="Oval 9308">
                <a:extLst>
                  <a:ext uri="{FF2B5EF4-FFF2-40B4-BE49-F238E27FC236}">
                    <a16:creationId xmlns:a16="http://schemas.microsoft.com/office/drawing/2014/main" id="{A83A6C5B-EB68-BF2E-3A72-BCA91C69DC18}"/>
                  </a:ext>
                </a:extLst>
              </p:cNvPr>
              <p:cNvSpPr/>
              <p:nvPr/>
            </p:nvSpPr>
            <p:spPr bwMode="auto">
              <a:xfrm>
                <a:off x="838200" y="635906"/>
                <a:ext cx="64298" cy="5935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56DF1CF-F791-C755-7215-B5E0351278C3}"/>
                </a:ext>
              </a:extLst>
            </p:cNvPr>
            <p:cNvGrpSpPr/>
            <p:nvPr/>
          </p:nvGrpSpPr>
          <p:grpSpPr>
            <a:xfrm>
              <a:off x="959542" y="701632"/>
              <a:ext cx="64298" cy="185474"/>
              <a:chOff x="838200" y="635906"/>
              <a:chExt cx="64298" cy="185474"/>
            </a:xfrm>
          </p:grpSpPr>
          <p:cxnSp>
            <p:nvCxnSpPr>
              <p:cNvPr id="9304" name="Straight Connector 9303">
                <a:extLst>
                  <a:ext uri="{FF2B5EF4-FFF2-40B4-BE49-F238E27FC236}">
                    <a16:creationId xmlns:a16="http://schemas.microsoft.com/office/drawing/2014/main" id="{B13024CD-47EC-6DCC-50E1-507755CA8790}"/>
                  </a:ext>
                </a:extLst>
              </p:cNvPr>
              <p:cNvCxnSpPr/>
              <p:nvPr/>
            </p:nvCxnSpPr>
            <p:spPr bwMode="auto">
              <a:xfrm flipV="1">
                <a:off x="867876" y="679183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05" name="Oval 9304">
                <a:extLst>
                  <a:ext uri="{FF2B5EF4-FFF2-40B4-BE49-F238E27FC236}">
                    <a16:creationId xmlns:a16="http://schemas.microsoft.com/office/drawing/2014/main" id="{095FFBD9-261E-FFA2-3E18-EA21876BB234}"/>
                  </a:ext>
                </a:extLst>
              </p:cNvPr>
              <p:cNvSpPr/>
              <p:nvPr/>
            </p:nvSpPr>
            <p:spPr bwMode="auto">
              <a:xfrm>
                <a:off x="838200" y="635906"/>
                <a:ext cx="64298" cy="5935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grpSp>
          <p:nvGrpSpPr>
            <p:cNvPr id="9284" name="Group 9283">
              <a:extLst>
                <a:ext uri="{FF2B5EF4-FFF2-40B4-BE49-F238E27FC236}">
                  <a16:creationId xmlns:a16="http://schemas.microsoft.com/office/drawing/2014/main" id="{84D89784-13B7-AE76-2946-CE13F5730FBC}"/>
                </a:ext>
              </a:extLst>
            </p:cNvPr>
            <p:cNvGrpSpPr/>
            <p:nvPr/>
          </p:nvGrpSpPr>
          <p:grpSpPr>
            <a:xfrm>
              <a:off x="703856" y="690494"/>
              <a:ext cx="64298" cy="185474"/>
              <a:chOff x="838200" y="635906"/>
              <a:chExt cx="64298" cy="185474"/>
            </a:xfrm>
          </p:grpSpPr>
          <p:cxnSp>
            <p:nvCxnSpPr>
              <p:cNvPr id="9298" name="Straight Connector 9297">
                <a:extLst>
                  <a:ext uri="{FF2B5EF4-FFF2-40B4-BE49-F238E27FC236}">
                    <a16:creationId xmlns:a16="http://schemas.microsoft.com/office/drawing/2014/main" id="{C70C3032-8B2C-0E5F-9ADB-5A7397261213}"/>
                  </a:ext>
                </a:extLst>
              </p:cNvPr>
              <p:cNvCxnSpPr/>
              <p:nvPr/>
            </p:nvCxnSpPr>
            <p:spPr bwMode="auto">
              <a:xfrm flipV="1">
                <a:off x="867876" y="679183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99" name="Oval 9298">
                <a:extLst>
                  <a:ext uri="{FF2B5EF4-FFF2-40B4-BE49-F238E27FC236}">
                    <a16:creationId xmlns:a16="http://schemas.microsoft.com/office/drawing/2014/main" id="{75CFFF7C-396F-581F-788E-8B9FA4D49E85}"/>
                  </a:ext>
                </a:extLst>
              </p:cNvPr>
              <p:cNvSpPr/>
              <p:nvPr/>
            </p:nvSpPr>
            <p:spPr bwMode="auto">
              <a:xfrm>
                <a:off x="838200" y="635906"/>
                <a:ext cx="64298" cy="5935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9311" name="Straight Connector 9310">
            <a:extLst>
              <a:ext uri="{FF2B5EF4-FFF2-40B4-BE49-F238E27FC236}">
                <a16:creationId xmlns:a16="http://schemas.microsoft.com/office/drawing/2014/main" id="{A3C355F7-524E-273A-DFB6-F46F71D539E3}"/>
              </a:ext>
            </a:extLst>
          </p:cNvPr>
          <p:cNvCxnSpPr>
            <a:cxnSpLocks/>
          </p:cNvCxnSpPr>
          <p:nvPr/>
        </p:nvCxnSpPr>
        <p:spPr>
          <a:xfrm>
            <a:off x="3128769" y="4498385"/>
            <a:ext cx="252000" cy="0"/>
          </a:xfrm>
          <a:prstGeom prst="line">
            <a:avLst/>
          </a:prstGeom>
          <a:ln w="25400">
            <a:solidFill>
              <a:srgbClr val="00B05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EC455C0-4914-C5E2-2963-E00A413011ED}"/>
              </a:ext>
            </a:extLst>
          </p:cNvPr>
          <p:cNvCxnSpPr>
            <a:cxnSpLocks/>
          </p:cNvCxnSpPr>
          <p:nvPr/>
        </p:nvCxnSpPr>
        <p:spPr>
          <a:xfrm>
            <a:off x="4801672" y="4640938"/>
            <a:ext cx="1162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8A2974-D2B8-9DA1-3D6B-071C0532904B}"/>
              </a:ext>
            </a:extLst>
          </p:cNvPr>
          <p:cNvCxnSpPr/>
          <p:nvPr/>
        </p:nvCxnSpPr>
        <p:spPr>
          <a:xfrm>
            <a:off x="4809378" y="4591739"/>
            <a:ext cx="1162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2355FC7-377C-5791-9A97-F7C30AB67E74}"/>
              </a:ext>
            </a:extLst>
          </p:cNvPr>
          <p:cNvCxnSpPr>
            <a:cxnSpLocks/>
          </p:cNvCxnSpPr>
          <p:nvPr/>
        </p:nvCxnSpPr>
        <p:spPr bwMode="auto">
          <a:xfrm>
            <a:off x="4852065" y="4648473"/>
            <a:ext cx="0" cy="72000"/>
          </a:xfrm>
          <a:prstGeom prst="line">
            <a:avLst/>
          </a:prstGeom>
          <a:ln w="317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FFE8B09-44ED-E2C5-69CF-6A69E54FC3B8}"/>
              </a:ext>
            </a:extLst>
          </p:cNvPr>
          <p:cNvCxnSpPr>
            <a:cxnSpLocks/>
          </p:cNvCxnSpPr>
          <p:nvPr/>
        </p:nvCxnSpPr>
        <p:spPr bwMode="auto">
          <a:xfrm>
            <a:off x="4863639" y="4493493"/>
            <a:ext cx="0" cy="95440"/>
          </a:xfrm>
          <a:prstGeom prst="line">
            <a:avLst/>
          </a:prstGeom>
          <a:ln w="444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1DA7B9E-227F-7D44-118E-2D0C283A2016}"/>
              </a:ext>
            </a:extLst>
          </p:cNvPr>
          <p:cNvCxnSpPr/>
          <p:nvPr/>
        </p:nvCxnSpPr>
        <p:spPr bwMode="auto">
          <a:xfrm>
            <a:off x="4881054" y="4348595"/>
            <a:ext cx="0" cy="358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89DF688-0332-EAC3-A0D6-6D0C0461A120}"/>
              </a:ext>
            </a:extLst>
          </p:cNvPr>
          <p:cNvCxnSpPr/>
          <p:nvPr/>
        </p:nvCxnSpPr>
        <p:spPr bwMode="auto">
          <a:xfrm>
            <a:off x="4638701" y="4330050"/>
            <a:ext cx="0" cy="717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A9E93A87-4246-DCE7-7F61-339F9A00C13E}"/>
              </a:ext>
            </a:extLst>
          </p:cNvPr>
          <p:cNvSpPr>
            <a:spLocks/>
          </p:cNvSpPr>
          <p:nvPr/>
        </p:nvSpPr>
        <p:spPr bwMode="auto">
          <a:xfrm rot="16200000">
            <a:off x="4704511" y="4182722"/>
            <a:ext cx="276988" cy="411072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49CBF4F-724E-55C8-9C60-05860409A863}"/>
              </a:ext>
            </a:extLst>
          </p:cNvPr>
          <p:cNvCxnSpPr/>
          <p:nvPr/>
        </p:nvCxnSpPr>
        <p:spPr bwMode="auto">
          <a:xfrm>
            <a:off x="4637465" y="4253386"/>
            <a:ext cx="0" cy="766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6" name="TextBox 704">
            <a:extLst>
              <a:ext uri="{FF2B5EF4-FFF2-40B4-BE49-F238E27FC236}">
                <a16:creationId xmlns:a16="http://schemas.microsoft.com/office/drawing/2014/main" id="{36E0C467-9611-9CCA-C223-3AE9B09BB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6114" y="4227630"/>
            <a:ext cx="4358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ELEP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 E-MF</a:t>
            </a:r>
          </a:p>
        </p:txBody>
      </p:sp>
      <p:sp>
        <p:nvSpPr>
          <p:cNvPr id="57" name="TextBox 156">
            <a:extLst>
              <a:ext uri="{FF2B5EF4-FFF2-40B4-BE49-F238E27FC236}">
                <a16:creationId xmlns:a16="http://schemas.microsoft.com/office/drawing/2014/main" id="{434DFF9D-9BA5-64D0-805C-EDC53059B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264" y="4718648"/>
            <a:ext cx="1103051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af-ZA" sz="700" u="sng" dirty="0">
                <a:solidFill>
                  <a:prstClr val="black"/>
                </a:solidFill>
                <a:latin typeface="Futura Std Book" panose="020B0502020204020303"/>
              </a:rPr>
              <a:t>28</a:t>
            </a:r>
            <a:r>
              <a:rPr kumimoji="0" lang="en-US" altLang="af-ZA" sz="7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’’ x 32km</a:t>
            </a:r>
          </a:p>
        </p:txBody>
      </p:sp>
      <p:sp>
        <p:nvSpPr>
          <p:cNvPr id="58" name="TextBox 155">
            <a:extLst>
              <a:ext uri="{FF2B5EF4-FFF2-40B4-BE49-F238E27FC236}">
                <a16:creationId xmlns:a16="http://schemas.microsoft.com/office/drawing/2014/main" id="{49C611F0-226C-824E-E134-0999A838E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397" y="4482492"/>
            <a:ext cx="87600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7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24” x 8km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22422E0-1329-40BF-FEB9-FB137DB6AD1A}"/>
              </a:ext>
            </a:extLst>
          </p:cNvPr>
          <p:cNvSpPr>
            <a:spLocks/>
          </p:cNvSpPr>
          <p:nvPr/>
        </p:nvSpPr>
        <p:spPr bwMode="auto">
          <a:xfrm rot="16200000">
            <a:off x="3470154" y="4335728"/>
            <a:ext cx="213930" cy="38912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37D3C81-4289-95CE-BD06-77C104767D2D}"/>
              </a:ext>
            </a:extLst>
          </p:cNvPr>
          <p:cNvCxnSpPr/>
          <p:nvPr/>
        </p:nvCxnSpPr>
        <p:spPr bwMode="auto">
          <a:xfrm>
            <a:off x="3596920" y="4377583"/>
            <a:ext cx="0" cy="395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B86DCD7-9B47-0A02-780E-06340453F2D2}"/>
              </a:ext>
            </a:extLst>
          </p:cNvPr>
          <p:cNvCxnSpPr/>
          <p:nvPr/>
        </p:nvCxnSpPr>
        <p:spPr bwMode="auto">
          <a:xfrm>
            <a:off x="3380769" y="4347908"/>
            <a:ext cx="0" cy="778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D928192B-0D13-B033-D022-E1808F0EEB46}"/>
              </a:ext>
            </a:extLst>
          </p:cNvPr>
          <p:cNvSpPr>
            <a:spLocks/>
          </p:cNvSpPr>
          <p:nvPr/>
        </p:nvSpPr>
        <p:spPr bwMode="auto">
          <a:xfrm rot="16200000">
            <a:off x="3500841" y="4010088"/>
            <a:ext cx="154562" cy="392484"/>
          </a:xfrm>
          <a:prstGeom prst="rect">
            <a:avLst/>
          </a:prstGeom>
          <a:solidFill>
            <a:srgbClr val="99FF66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42D533C-1BFB-3070-A989-137BF5669EC3}"/>
              </a:ext>
            </a:extLst>
          </p:cNvPr>
          <p:cNvCxnSpPr/>
          <p:nvPr/>
        </p:nvCxnSpPr>
        <p:spPr bwMode="auto">
          <a:xfrm>
            <a:off x="3537142" y="4330596"/>
            <a:ext cx="1075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ADD3348-1934-7A3C-9241-43A7296F6897}"/>
              </a:ext>
            </a:extLst>
          </p:cNvPr>
          <p:cNvCxnSpPr/>
          <p:nvPr/>
        </p:nvCxnSpPr>
        <p:spPr bwMode="auto">
          <a:xfrm>
            <a:off x="3542035" y="4375110"/>
            <a:ext cx="1075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87" name="TextBox 133">
            <a:extLst>
              <a:ext uri="{FF2B5EF4-FFF2-40B4-BE49-F238E27FC236}">
                <a16:creationId xmlns:a16="http://schemas.microsoft.com/office/drawing/2014/main" id="{12504DF6-0752-8BDD-9B4E-E35D7E48D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764" y="4089775"/>
            <a:ext cx="45802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BBOU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90BCC6-D3ED-7D51-7573-FDD9D7BD8B07}"/>
              </a:ext>
            </a:extLst>
          </p:cNvPr>
          <p:cNvCxnSpPr>
            <a:cxnSpLocks/>
          </p:cNvCxnSpPr>
          <p:nvPr/>
        </p:nvCxnSpPr>
        <p:spPr bwMode="auto">
          <a:xfrm>
            <a:off x="3381881" y="4345434"/>
            <a:ext cx="389479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82C0726-3E92-6BB2-E095-F1E21E527B26}"/>
              </a:ext>
            </a:extLst>
          </p:cNvPr>
          <p:cNvCxnSpPr/>
          <p:nvPr/>
        </p:nvCxnSpPr>
        <p:spPr bwMode="auto">
          <a:xfrm>
            <a:off x="3771357" y="4347908"/>
            <a:ext cx="0" cy="778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1954B99-9979-ACD0-F094-A418335E6202}"/>
              </a:ext>
            </a:extLst>
          </p:cNvPr>
          <p:cNvCxnSpPr/>
          <p:nvPr/>
        </p:nvCxnSpPr>
        <p:spPr bwMode="auto">
          <a:xfrm>
            <a:off x="3381088" y="4277426"/>
            <a:ext cx="0" cy="754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42AAC3B-9A00-8109-337C-60C4044503CD}"/>
              </a:ext>
            </a:extLst>
          </p:cNvPr>
          <p:cNvCxnSpPr/>
          <p:nvPr/>
        </p:nvCxnSpPr>
        <p:spPr bwMode="auto">
          <a:xfrm>
            <a:off x="3771675" y="4273721"/>
            <a:ext cx="0" cy="754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2498991-D425-798C-3B59-206C2ADB6789}"/>
              </a:ext>
            </a:extLst>
          </p:cNvPr>
          <p:cNvCxnSpPr/>
          <p:nvPr/>
        </p:nvCxnSpPr>
        <p:spPr>
          <a:xfrm>
            <a:off x="3591666" y="4279889"/>
            <a:ext cx="0" cy="4327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05" name="Group 655">
            <a:extLst>
              <a:ext uri="{FF2B5EF4-FFF2-40B4-BE49-F238E27FC236}">
                <a16:creationId xmlns:a16="http://schemas.microsoft.com/office/drawing/2014/main" id="{03FBE13B-6228-6FD9-F6C5-9C74A96C6A11}"/>
              </a:ext>
            </a:extLst>
          </p:cNvPr>
          <p:cNvGrpSpPr>
            <a:grpSpLocks/>
          </p:cNvGrpSpPr>
          <p:nvPr/>
        </p:nvGrpSpPr>
        <p:grpSpPr bwMode="auto">
          <a:xfrm>
            <a:off x="3687542" y="4221179"/>
            <a:ext cx="722271" cy="238311"/>
            <a:chOff x="7620000" y="2750561"/>
            <a:chExt cx="927305" cy="304715"/>
          </a:xfrm>
        </p:grpSpPr>
        <p:grpSp>
          <p:nvGrpSpPr>
            <p:cNvPr id="106" name="Group 657">
              <a:extLst>
                <a:ext uri="{FF2B5EF4-FFF2-40B4-BE49-F238E27FC236}">
                  <a16:creationId xmlns:a16="http://schemas.microsoft.com/office/drawing/2014/main" id="{5F29375D-A2F2-6AEE-4618-A2CF482825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0" y="2750561"/>
              <a:ext cx="927305" cy="295152"/>
              <a:chOff x="7620000" y="2750561"/>
              <a:chExt cx="927305" cy="295152"/>
            </a:xfrm>
          </p:grpSpPr>
          <p:sp>
            <p:nvSpPr>
              <p:cNvPr id="108" name="TextBox 471">
                <a:extLst>
                  <a:ext uri="{FF2B5EF4-FFF2-40B4-BE49-F238E27FC236}">
                    <a16:creationId xmlns:a16="http://schemas.microsoft.com/office/drawing/2014/main" id="{D50DCA80-E47F-86EE-5FFB-E91A849404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4519" y="2750561"/>
                <a:ext cx="712786" cy="295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af-ZA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haroni" pitchFamily="2" charset="-79"/>
                  </a:rPr>
                  <a:t> CTP</a:t>
                </a:r>
              </a:p>
            </p:txBody>
          </p:sp>
          <p:grpSp>
            <p:nvGrpSpPr>
              <p:cNvPr id="109" name="Group 662">
                <a:extLst>
                  <a:ext uri="{FF2B5EF4-FFF2-40B4-BE49-F238E27FC236}">
                    <a16:creationId xmlns:a16="http://schemas.microsoft.com/office/drawing/2014/main" id="{45B92730-E41B-DF88-0D42-A614A705D3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0000" y="2819320"/>
                <a:ext cx="347663" cy="164429"/>
                <a:chOff x="8084132" y="2347198"/>
                <a:chExt cx="347663" cy="164429"/>
              </a:xfrm>
            </p:grpSpPr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D24ECE01-8E36-8E0D-F20E-BAF720E07DB9}"/>
                    </a:ext>
                  </a:extLst>
                </p:cNvPr>
                <p:cNvCxnSpPr/>
                <p:nvPr/>
              </p:nvCxnSpPr>
              <p:spPr bwMode="auto">
                <a:xfrm>
                  <a:off x="8084132" y="2438897"/>
                  <a:ext cx="158750" cy="0"/>
                </a:xfrm>
                <a:prstGeom prst="line">
                  <a:avLst/>
                </a:prstGeom>
                <a:ln w="381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112" name="Rounded Rectangle 371">
                  <a:extLst>
                    <a:ext uri="{FF2B5EF4-FFF2-40B4-BE49-F238E27FC236}">
                      <a16:creationId xmlns:a16="http://schemas.microsoft.com/office/drawing/2014/main" id="{D16C4619-B4E8-09E5-2586-C74D2AD60241}"/>
                    </a:ext>
                  </a:extLst>
                </p:cNvPr>
                <p:cNvSpPr/>
                <p:nvPr/>
              </p:nvSpPr>
              <p:spPr bwMode="auto">
                <a:xfrm>
                  <a:off x="8249232" y="2347197"/>
                  <a:ext cx="182562" cy="164428"/>
                </a:xfrm>
                <a:prstGeom prst="roundRect">
                  <a:avLst/>
                </a:prstGeom>
                <a:solidFill>
                  <a:srgbClr val="FFC000"/>
                </a:solidFill>
                <a:ln w="12700">
                  <a:solidFill>
                    <a:srgbClr val="99663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07" name="TextBox 1002">
              <a:extLst>
                <a:ext uri="{FF2B5EF4-FFF2-40B4-BE49-F238E27FC236}">
                  <a16:creationId xmlns:a16="http://schemas.microsoft.com/office/drawing/2014/main" id="{C7921959-881D-B342-B5AE-0E8525CF0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779800"/>
              <a:ext cx="205957" cy="275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af-ZA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M</a:t>
              </a:r>
            </a:p>
          </p:txBody>
        </p:sp>
      </p:grp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727DD3F-779B-BBB7-CAA2-DAB63B463778}"/>
              </a:ext>
            </a:extLst>
          </p:cNvPr>
          <p:cNvCxnSpPr/>
          <p:nvPr/>
        </p:nvCxnSpPr>
        <p:spPr bwMode="auto">
          <a:xfrm flipH="1">
            <a:off x="3778383" y="4492035"/>
            <a:ext cx="70480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2F828A2B-4CC4-81B1-D7E4-4A133EDB942D}"/>
              </a:ext>
            </a:extLst>
          </p:cNvPr>
          <p:cNvSpPr/>
          <p:nvPr/>
        </p:nvSpPr>
        <p:spPr>
          <a:xfrm>
            <a:off x="4476009" y="3922449"/>
            <a:ext cx="138753" cy="13875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rPr>
              <a:t>2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2112D42-1861-DF67-53F3-A1A2CB441A01}"/>
              </a:ext>
            </a:extLst>
          </p:cNvPr>
          <p:cNvSpPr/>
          <p:nvPr/>
        </p:nvSpPr>
        <p:spPr>
          <a:xfrm>
            <a:off x="3211520" y="4139477"/>
            <a:ext cx="138753" cy="13875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rPr>
              <a:t>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2ED0577-5966-D561-C304-A90DD7258C1A}"/>
              </a:ext>
            </a:extLst>
          </p:cNvPr>
          <p:cNvSpPr txBox="1"/>
          <p:nvPr/>
        </p:nvSpPr>
        <p:spPr>
          <a:xfrm>
            <a:off x="1835703" y="558575"/>
            <a:ext cx="1554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CFF99"/>
                </a:highlight>
                <a:uLnTx/>
                <a:uFillTx/>
                <a:latin typeface="Futura Std Book" panose="020B0502020204020303"/>
                <a:ea typeface="+mn-ea"/>
                <a:cs typeface="Arial" charset="0"/>
              </a:rPr>
              <a:t>Facilities East of River Niger</a:t>
            </a:r>
            <a:endParaRPr kumimoji="0" lang="x-non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CCFF99"/>
              </a:highlight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08CA8E8-265E-6FA5-A6CD-800CDFA16A1C}"/>
              </a:ext>
            </a:extLst>
          </p:cNvPr>
          <p:cNvCxnSpPr>
            <a:cxnSpLocks/>
          </p:cNvCxnSpPr>
          <p:nvPr/>
        </p:nvCxnSpPr>
        <p:spPr>
          <a:xfrm>
            <a:off x="1599360" y="578456"/>
            <a:ext cx="0" cy="5004000"/>
          </a:xfrm>
          <a:prstGeom prst="line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4B41960-CD55-48FF-DE77-9B916A6A81C1}"/>
              </a:ext>
            </a:extLst>
          </p:cNvPr>
          <p:cNvCxnSpPr>
            <a:cxnSpLocks/>
          </p:cNvCxnSpPr>
          <p:nvPr/>
        </p:nvCxnSpPr>
        <p:spPr>
          <a:xfrm>
            <a:off x="72904" y="741685"/>
            <a:ext cx="1532066" cy="0"/>
          </a:xfrm>
          <a:prstGeom prst="straightConnector1">
            <a:avLst/>
          </a:prstGeom>
          <a:ln w="9525">
            <a:solidFill>
              <a:schemeClr val="tx1"/>
            </a:solidFill>
            <a:headEnd type="diamond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204FE13-6D4C-9FBC-11AA-27CA4E544C0B}"/>
              </a:ext>
            </a:extLst>
          </p:cNvPr>
          <p:cNvCxnSpPr>
            <a:cxnSpLocks/>
          </p:cNvCxnSpPr>
          <p:nvPr/>
        </p:nvCxnSpPr>
        <p:spPr>
          <a:xfrm flipH="1" flipV="1">
            <a:off x="1604970" y="741687"/>
            <a:ext cx="2276443" cy="2625"/>
          </a:xfrm>
          <a:prstGeom prst="straightConnector1">
            <a:avLst/>
          </a:prstGeom>
          <a:ln w="9525">
            <a:solidFill>
              <a:schemeClr val="tx1"/>
            </a:solidFill>
            <a:headEnd type="diamond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6FCEF118-6109-2CDB-1EBE-21033635A888}"/>
              </a:ext>
            </a:extLst>
          </p:cNvPr>
          <p:cNvSpPr txBox="1"/>
          <p:nvPr/>
        </p:nvSpPr>
        <p:spPr>
          <a:xfrm>
            <a:off x="3389805" y="4423420"/>
            <a:ext cx="39113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Calibri" panose="020F0502020204030204" pitchFamily="34" charset="0"/>
                <a:cs typeface="Times New Roman" panose="02020603050405020304" pitchFamily="18" charset="0"/>
              </a:rPr>
              <a:t>BBOU</a:t>
            </a:r>
            <a:b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Calibri" panose="020F0502020204030204" pitchFamily="34" charset="0"/>
                <a:cs typeface="Times New Roman" panose="02020603050405020304" pitchFamily="18" charset="0"/>
              </a:rPr>
              <a:t>S-MF</a:t>
            </a:r>
          </a:p>
        </p:txBody>
      </p:sp>
      <p:sp>
        <p:nvSpPr>
          <p:cNvPr id="125" name="TextBox 156">
            <a:extLst>
              <a:ext uri="{FF2B5EF4-FFF2-40B4-BE49-F238E27FC236}">
                <a16:creationId xmlns:a16="http://schemas.microsoft.com/office/drawing/2014/main" id="{53E244EB-9E79-CE21-820A-E53192CA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784" y="4146925"/>
            <a:ext cx="392481" cy="85796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6384" tIns="8193" rIns="16384" bIns="819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90MMscfd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E5748A2-C703-94F5-F117-0F3573C5286A}"/>
              </a:ext>
            </a:extLst>
          </p:cNvPr>
          <p:cNvCxnSpPr/>
          <p:nvPr/>
        </p:nvCxnSpPr>
        <p:spPr bwMode="auto">
          <a:xfrm>
            <a:off x="660895" y="1142037"/>
            <a:ext cx="0" cy="358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9D982D1-2ECD-A9F3-677A-8A042FD8F4E6}"/>
              </a:ext>
            </a:extLst>
          </p:cNvPr>
          <p:cNvCxnSpPr/>
          <p:nvPr/>
        </p:nvCxnSpPr>
        <p:spPr bwMode="auto">
          <a:xfrm>
            <a:off x="474764" y="1124883"/>
            <a:ext cx="0" cy="717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7A2DBCF-A8E5-19BD-B7A7-FA38E1F3B2F4}"/>
              </a:ext>
            </a:extLst>
          </p:cNvPr>
          <p:cNvCxnSpPr>
            <a:cxnSpLocks/>
          </p:cNvCxnSpPr>
          <p:nvPr/>
        </p:nvCxnSpPr>
        <p:spPr bwMode="auto">
          <a:xfrm>
            <a:off x="666683" y="1058335"/>
            <a:ext cx="0" cy="358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5C0C2F9-4A58-E8AC-7E4A-1014CE08DDB9}"/>
              </a:ext>
            </a:extLst>
          </p:cNvPr>
          <p:cNvCxnSpPr/>
          <p:nvPr/>
        </p:nvCxnSpPr>
        <p:spPr bwMode="auto">
          <a:xfrm>
            <a:off x="602780" y="1102831"/>
            <a:ext cx="11623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69996EE-C43E-02B0-D376-5A8608CE21BE}"/>
              </a:ext>
            </a:extLst>
          </p:cNvPr>
          <p:cNvCxnSpPr/>
          <p:nvPr/>
        </p:nvCxnSpPr>
        <p:spPr bwMode="auto">
          <a:xfrm>
            <a:off x="605251" y="1137659"/>
            <a:ext cx="1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46A7D35-7E9C-6BE6-8C6B-06DC9306012D}"/>
              </a:ext>
            </a:extLst>
          </p:cNvPr>
          <p:cNvSpPr>
            <a:spLocks/>
          </p:cNvSpPr>
          <p:nvPr/>
        </p:nvSpPr>
        <p:spPr bwMode="auto">
          <a:xfrm rot="16200000">
            <a:off x="553339" y="1109368"/>
            <a:ext cx="229489" cy="38663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3829FE6-ED36-9115-003D-215CD5B4AC12}"/>
              </a:ext>
            </a:extLst>
          </p:cNvPr>
          <p:cNvCxnSpPr/>
          <p:nvPr/>
        </p:nvCxnSpPr>
        <p:spPr bwMode="auto">
          <a:xfrm>
            <a:off x="464476" y="1116905"/>
            <a:ext cx="396000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709321-EA74-7391-A8D4-7CB27647C976}"/>
              </a:ext>
            </a:extLst>
          </p:cNvPr>
          <p:cNvCxnSpPr/>
          <p:nvPr/>
        </p:nvCxnSpPr>
        <p:spPr bwMode="auto">
          <a:xfrm>
            <a:off x="856640" y="1124883"/>
            <a:ext cx="0" cy="717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71F0F56-9342-DAD5-74D2-6E4D7B6CD853}"/>
              </a:ext>
            </a:extLst>
          </p:cNvPr>
          <p:cNvCxnSpPr/>
          <p:nvPr/>
        </p:nvCxnSpPr>
        <p:spPr bwMode="auto">
          <a:xfrm>
            <a:off x="474764" y="1053165"/>
            <a:ext cx="0" cy="7048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D66362-0BD8-B0C4-03D5-5A770D0809F5}"/>
              </a:ext>
            </a:extLst>
          </p:cNvPr>
          <p:cNvCxnSpPr/>
          <p:nvPr/>
        </p:nvCxnSpPr>
        <p:spPr bwMode="auto">
          <a:xfrm>
            <a:off x="856640" y="1053165"/>
            <a:ext cx="0" cy="7048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16B725C-BDAC-5850-EBF4-88D575520E6D}"/>
              </a:ext>
            </a:extLst>
          </p:cNvPr>
          <p:cNvCxnSpPr/>
          <p:nvPr/>
        </p:nvCxnSpPr>
        <p:spPr bwMode="auto">
          <a:xfrm>
            <a:off x="788923" y="1122913"/>
            <a:ext cx="76662" cy="0"/>
          </a:xfrm>
          <a:prstGeom prst="line">
            <a:avLst/>
          </a:prstGeom>
          <a:ln w="381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8" name="TextBox 133">
            <a:extLst>
              <a:ext uri="{FF2B5EF4-FFF2-40B4-BE49-F238E27FC236}">
                <a16:creationId xmlns:a16="http://schemas.microsoft.com/office/drawing/2014/main" id="{701175ED-EC0A-789B-6592-2BE7A2C54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65" y="1166281"/>
            <a:ext cx="390820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OKNU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CF-MF</a:t>
            </a:r>
          </a:p>
        </p:txBody>
      </p:sp>
      <p:sp>
        <p:nvSpPr>
          <p:cNvPr id="149" name="TextBox 156">
            <a:extLst>
              <a:ext uri="{FF2B5EF4-FFF2-40B4-BE49-F238E27FC236}">
                <a16:creationId xmlns:a16="http://schemas.microsoft.com/office/drawing/2014/main" id="{AA3FF113-C2E0-5F82-BDEE-2C34F5B5D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3" y="956440"/>
            <a:ext cx="463294" cy="95411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8288" tIns="9144" rIns="18288" bIns="914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200 MMscfd 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76E832E4-8A1D-640B-847E-90DBD35BFE96}"/>
              </a:ext>
            </a:extLst>
          </p:cNvPr>
          <p:cNvSpPr/>
          <p:nvPr/>
        </p:nvSpPr>
        <p:spPr>
          <a:xfrm>
            <a:off x="886940" y="933134"/>
            <a:ext cx="138753" cy="13875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rPr>
              <a:t>6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9FB292F-7129-4E6A-D6F2-E106284EAE42}"/>
              </a:ext>
            </a:extLst>
          </p:cNvPr>
          <p:cNvSpPr>
            <a:spLocks/>
          </p:cNvSpPr>
          <p:nvPr/>
        </p:nvSpPr>
        <p:spPr bwMode="auto">
          <a:xfrm rot="16200000">
            <a:off x="596254" y="810953"/>
            <a:ext cx="144768" cy="385523"/>
          </a:xfrm>
          <a:prstGeom prst="rect">
            <a:avLst/>
          </a:prstGeom>
          <a:solidFill>
            <a:srgbClr val="92D050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rPr>
              <a:t>OKNU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040E095-728D-E3FC-263E-AEEE41F93C5D}"/>
              </a:ext>
            </a:extLst>
          </p:cNvPr>
          <p:cNvGrpSpPr/>
          <p:nvPr/>
        </p:nvGrpSpPr>
        <p:grpSpPr>
          <a:xfrm>
            <a:off x="867378" y="1312665"/>
            <a:ext cx="77216" cy="83275"/>
            <a:chOff x="2556199" y="1989769"/>
            <a:chExt cx="77216" cy="83275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CAF8BB17-E556-5859-A73E-66EBB256BB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9702" y="1989769"/>
              <a:ext cx="0" cy="828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FAD76020-CE46-CAFA-AFED-900059C4DD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56199" y="2031260"/>
              <a:ext cx="47489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ADE96AD-3108-2D0A-030F-103513571E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3415" y="1990199"/>
              <a:ext cx="0" cy="828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0186EBF0-0A18-F26B-4D1C-343F9E92E39B}"/>
              </a:ext>
            </a:extLst>
          </p:cNvPr>
          <p:cNvCxnSpPr>
            <a:cxnSpLocks/>
          </p:cNvCxnSpPr>
          <p:nvPr/>
        </p:nvCxnSpPr>
        <p:spPr>
          <a:xfrm>
            <a:off x="951782" y="1348485"/>
            <a:ext cx="72000" cy="0"/>
          </a:xfrm>
          <a:prstGeom prst="line">
            <a:avLst/>
          </a:prstGeom>
          <a:ln w="317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0ACC672D-0FF0-EB01-08A0-BC2B4C7C5A39}"/>
              </a:ext>
            </a:extLst>
          </p:cNvPr>
          <p:cNvCxnSpPr>
            <a:cxnSpLocks/>
          </p:cNvCxnSpPr>
          <p:nvPr/>
        </p:nvCxnSpPr>
        <p:spPr>
          <a:xfrm flipV="1">
            <a:off x="4925611" y="4718649"/>
            <a:ext cx="1323661" cy="905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DD07A4B-BE67-50AC-A02B-D4E5CFE4F312}"/>
              </a:ext>
            </a:extLst>
          </p:cNvPr>
          <p:cNvGrpSpPr/>
          <p:nvPr/>
        </p:nvGrpSpPr>
        <p:grpSpPr>
          <a:xfrm>
            <a:off x="4759555" y="3791981"/>
            <a:ext cx="238262" cy="187352"/>
            <a:chOff x="1781818" y="3527862"/>
            <a:chExt cx="238262" cy="187352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1391E98-D74B-163E-0500-9583C38AFE4C}"/>
                </a:ext>
              </a:extLst>
            </p:cNvPr>
            <p:cNvCxnSpPr/>
            <p:nvPr/>
          </p:nvCxnSpPr>
          <p:spPr bwMode="auto">
            <a:xfrm flipV="1">
              <a:off x="1985458" y="3561889"/>
              <a:ext cx="0" cy="15332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C035E3D3-B079-3D86-38D8-0D543B11ABE5}"/>
                </a:ext>
              </a:extLst>
            </p:cNvPr>
            <p:cNvSpPr/>
            <p:nvPr/>
          </p:nvSpPr>
          <p:spPr bwMode="auto">
            <a:xfrm>
              <a:off x="1960728" y="3527862"/>
              <a:ext cx="59352" cy="6429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BF053C1-A537-08FE-82C1-AFA2151BF22E}"/>
                </a:ext>
              </a:extLst>
            </p:cNvPr>
            <p:cNvCxnSpPr/>
            <p:nvPr/>
          </p:nvCxnSpPr>
          <p:spPr bwMode="auto">
            <a:xfrm flipV="1">
              <a:off x="1815203" y="3558179"/>
              <a:ext cx="0" cy="15456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8F91C6D-BA20-C843-0046-AE8FC25D4537}"/>
                </a:ext>
              </a:extLst>
            </p:cNvPr>
            <p:cNvSpPr/>
            <p:nvPr/>
          </p:nvSpPr>
          <p:spPr bwMode="auto">
            <a:xfrm>
              <a:off x="1781818" y="3528456"/>
              <a:ext cx="59352" cy="6429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grpSp>
        <p:nvGrpSpPr>
          <p:cNvPr id="165" name="Group 655">
            <a:extLst>
              <a:ext uri="{FF2B5EF4-FFF2-40B4-BE49-F238E27FC236}">
                <a16:creationId xmlns:a16="http://schemas.microsoft.com/office/drawing/2014/main" id="{A97497B4-AF8E-78E4-AFB5-EA7FB88021AA}"/>
              </a:ext>
            </a:extLst>
          </p:cNvPr>
          <p:cNvGrpSpPr>
            <a:grpSpLocks/>
          </p:cNvGrpSpPr>
          <p:nvPr/>
        </p:nvGrpSpPr>
        <p:grpSpPr bwMode="auto">
          <a:xfrm>
            <a:off x="4258194" y="4061192"/>
            <a:ext cx="494711" cy="230832"/>
            <a:chOff x="7634598" y="2781624"/>
            <a:chExt cx="749410" cy="277770"/>
          </a:xfrm>
        </p:grpSpPr>
        <p:grpSp>
          <p:nvGrpSpPr>
            <p:cNvPr id="166" name="Group 657">
              <a:extLst>
                <a:ext uri="{FF2B5EF4-FFF2-40B4-BE49-F238E27FC236}">
                  <a16:creationId xmlns:a16="http://schemas.microsoft.com/office/drawing/2014/main" id="{9511AEB0-8C8E-5940-1084-B3EBDF9B2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55020" y="2781624"/>
              <a:ext cx="728988" cy="277770"/>
              <a:chOff x="7655020" y="2781624"/>
              <a:chExt cx="728988" cy="277770"/>
            </a:xfrm>
          </p:grpSpPr>
          <p:sp>
            <p:nvSpPr>
              <p:cNvPr id="168" name="TextBox 732">
                <a:extLst>
                  <a:ext uri="{FF2B5EF4-FFF2-40B4-BE49-F238E27FC236}">
                    <a16:creationId xmlns:a16="http://schemas.microsoft.com/office/drawing/2014/main" id="{9B2D41DD-6AB5-5055-9679-D8170F3CD4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1221" y="2781624"/>
                <a:ext cx="712787" cy="2777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af-ZA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haroni" pitchFamily="2" charset="-79"/>
                  </a:rPr>
                  <a:t> CTP</a:t>
                </a:r>
              </a:p>
            </p:txBody>
          </p:sp>
          <p:sp>
            <p:nvSpPr>
              <p:cNvPr id="169" name="Rounded Rectangle 735">
                <a:extLst>
                  <a:ext uri="{FF2B5EF4-FFF2-40B4-BE49-F238E27FC236}">
                    <a16:creationId xmlns:a16="http://schemas.microsoft.com/office/drawing/2014/main" id="{6B13E07E-1DC9-811B-42CF-11307BC9D6E1}"/>
                  </a:ext>
                </a:extLst>
              </p:cNvPr>
              <p:cNvSpPr/>
              <p:nvPr/>
            </p:nvSpPr>
            <p:spPr bwMode="auto">
              <a:xfrm>
                <a:off x="7655020" y="2814237"/>
                <a:ext cx="182561" cy="164428"/>
              </a:xfrm>
              <a:prstGeom prst="roundRect">
                <a:avLst/>
              </a:prstGeom>
              <a:solidFill>
                <a:srgbClr val="FFC000"/>
              </a:solidFill>
              <a:ln w="12700">
                <a:solidFill>
                  <a:srgbClr val="9966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sp>
          <p:nvSpPr>
            <p:cNvPr id="167" name="TextBox 1002">
              <a:extLst>
                <a:ext uri="{FF2B5EF4-FFF2-40B4-BE49-F238E27FC236}">
                  <a16:creationId xmlns:a16="http://schemas.microsoft.com/office/drawing/2014/main" id="{C3C6582E-DBB1-BEAC-64EF-34EA999F0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4598" y="2793086"/>
              <a:ext cx="205957" cy="259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af-ZA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M</a:t>
              </a:r>
            </a:p>
          </p:txBody>
        </p:sp>
      </p:grp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ADE1E28A-5730-862D-E0BA-8BC694333A02}"/>
              </a:ext>
            </a:extLst>
          </p:cNvPr>
          <p:cNvCxnSpPr/>
          <p:nvPr/>
        </p:nvCxnSpPr>
        <p:spPr bwMode="auto">
          <a:xfrm>
            <a:off x="4881054" y="4161300"/>
            <a:ext cx="0" cy="358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2DA03119-711E-A3C7-EB0A-B1BB95691EF1}"/>
              </a:ext>
            </a:extLst>
          </p:cNvPr>
          <p:cNvCxnSpPr/>
          <p:nvPr/>
        </p:nvCxnSpPr>
        <p:spPr bwMode="auto">
          <a:xfrm>
            <a:off x="4635412" y="4142755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59C83F6B-86AC-A4C1-54DB-DDB450B0E194}"/>
              </a:ext>
            </a:extLst>
          </p:cNvPr>
          <p:cNvSpPr>
            <a:spLocks/>
          </p:cNvSpPr>
          <p:nvPr/>
        </p:nvSpPr>
        <p:spPr bwMode="auto">
          <a:xfrm rot="16200000">
            <a:off x="4771904" y="3800018"/>
            <a:ext cx="142197" cy="411070"/>
          </a:xfrm>
          <a:prstGeom prst="rect">
            <a:avLst/>
          </a:prstGeom>
          <a:solidFill>
            <a:srgbClr val="99FF66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32EEEEF-229B-CA86-D031-7A3179857539}"/>
              </a:ext>
            </a:extLst>
          </p:cNvPr>
          <p:cNvCxnSpPr/>
          <p:nvPr/>
        </p:nvCxnSpPr>
        <p:spPr bwMode="auto">
          <a:xfrm>
            <a:off x="4878581" y="4056200"/>
            <a:ext cx="0" cy="358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33946A74-8B02-67B6-90C6-1D17C17138A9}"/>
              </a:ext>
            </a:extLst>
          </p:cNvPr>
          <p:cNvCxnSpPr/>
          <p:nvPr/>
        </p:nvCxnSpPr>
        <p:spPr bwMode="auto">
          <a:xfrm>
            <a:off x="4817994" y="4122067"/>
            <a:ext cx="11623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4559628-42D0-2035-05E8-F70AB92329D0}"/>
              </a:ext>
            </a:extLst>
          </p:cNvPr>
          <p:cNvCxnSpPr/>
          <p:nvPr/>
        </p:nvCxnSpPr>
        <p:spPr bwMode="auto">
          <a:xfrm>
            <a:off x="4821703" y="4203626"/>
            <a:ext cx="1162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78" name="TextBox 133">
            <a:extLst>
              <a:ext uri="{FF2B5EF4-FFF2-40B4-BE49-F238E27FC236}">
                <a16:creationId xmlns:a16="http://schemas.microsoft.com/office/drawing/2014/main" id="{F7A22258-B73B-F83E-C8F2-9FD075AC8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8" y="3905856"/>
            <a:ext cx="40854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ELEP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032153F-6AF8-402F-FE23-F750272F3C7E}"/>
              </a:ext>
            </a:extLst>
          </p:cNvPr>
          <p:cNvCxnSpPr>
            <a:cxnSpLocks/>
          </p:cNvCxnSpPr>
          <p:nvPr/>
        </p:nvCxnSpPr>
        <p:spPr bwMode="auto">
          <a:xfrm>
            <a:off x="4631703" y="4151570"/>
            <a:ext cx="416837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4AB5770-B2B4-0E80-5F4D-A3DD92ADA012}"/>
              </a:ext>
            </a:extLst>
          </p:cNvPr>
          <p:cNvCxnSpPr/>
          <p:nvPr/>
        </p:nvCxnSpPr>
        <p:spPr bwMode="auto">
          <a:xfrm>
            <a:off x="5049811" y="4154997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C71F9094-1263-A6BC-6839-E800E9826322}"/>
              </a:ext>
            </a:extLst>
          </p:cNvPr>
          <p:cNvCxnSpPr/>
          <p:nvPr/>
        </p:nvCxnSpPr>
        <p:spPr bwMode="auto">
          <a:xfrm>
            <a:off x="4637465" y="4066091"/>
            <a:ext cx="0" cy="766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D7609F6-978E-3446-023E-60A727567DF0}"/>
              </a:ext>
            </a:extLst>
          </p:cNvPr>
          <p:cNvCxnSpPr/>
          <p:nvPr/>
        </p:nvCxnSpPr>
        <p:spPr bwMode="auto">
          <a:xfrm>
            <a:off x="5049812" y="4077890"/>
            <a:ext cx="0" cy="778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83" name="TextBox 156">
            <a:extLst>
              <a:ext uri="{FF2B5EF4-FFF2-40B4-BE49-F238E27FC236}">
                <a16:creationId xmlns:a16="http://schemas.microsoft.com/office/drawing/2014/main" id="{0DCDF3D4-A851-6ACE-4832-93CE9A8CD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769" y="3960549"/>
            <a:ext cx="472783" cy="95411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8288" tIns="9144" rIns="18288" bIns="914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180 MMscfd 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C5D9D292-74C1-C21D-C8D9-D7EC0993B570}"/>
              </a:ext>
            </a:extLst>
          </p:cNvPr>
          <p:cNvCxnSpPr>
            <a:cxnSpLocks/>
          </p:cNvCxnSpPr>
          <p:nvPr/>
        </p:nvCxnSpPr>
        <p:spPr>
          <a:xfrm flipV="1">
            <a:off x="3841977" y="4454871"/>
            <a:ext cx="0" cy="828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404B187C-120D-9047-F963-E253E5D09F32}"/>
              </a:ext>
            </a:extLst>
          </p:cNvPr>
          <p:cNvCxnSpPr>
            <a:cxnSpLocks/>
          </p:cNvCxnSpPr>
          <p:nvPr/>
        </p:nvCxnSpPr>
        <p:spPr>
          <a:xfrm flipV="1">
            <a:off x="3864570" y="4455301"/>
            <a:ext cx="0" cy="828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87" name="TextBox 156">
            <a:extLst>
              <a:ext uri="{FF2B5EF4-FFF2-40B4-BE49-F238E27FC236}">
                <a16:creationId xmlns:a16="http://schemas.microsoft.com/office/drawing/2014/main" id="{DB8C51AB-2DCF-D023-41DD-D82AB9534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9941" y="4526750"/>
            <a:ext cx="731736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af-ZA" sz="700" dirty="0">
                <a:solidFill>
                  <a:prstClr val="black"/>
                </a:solidFill>
                <a:highlight>
                  <a:srgbClr val="FFFF00"/>
                </a:highlight>
                <a:latin typeface="Futura Std Book" panose="020B0502020204020303"/>
              </a:rPr>
              <a:t>47</a:t>
            </a:r>
            <a:r>
              <a:rPr kumimoji="0" lang="en-US" altLang="af-ZA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utura Std Book" panose="020B0502020204020303"/>
                <a:ea typeface="+mn-ea"/>
                <a:cs typeface="Arial" charset="0"/>
              </a:rPr>
              <a:t>0 MMscfd</a:t>
            </a:r>
          </a:p>
        </p:txBody>
      </p:sp>
      <p:sp>
        <p:nvSpPr>
          <p:cNvPr id="189" name="TextBox 141">
            <a:extLst>
              <a:ext uri="{FF2B5EF4-FFF2-40B4-BE49-F238E27FC236}">
                <a16:creationId xmlns:a16="http://schemas.microsoft.com/office/drawing/2014/main" id="{C6DD0CFC-F32B-9838-F355-A7CD0638F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3302" y="3276600"/>
            <a:ext cx="7072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af-ZA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97847548-6F99-8B2B-89A2-FED582087196}"/>
              </a:ext>
            </a:extLst>
          </p:cNvPr>
          <p:cNvCxnSpPr>
            <a:cxnSpLocks/>
          </p:cNvCxnSpPr>
          <p:nvPr/>
        </p:nvCxnSpPr>
        <p:spPr>
          <a:xfrm>
            <a:off x="3880147" y="4493169"/>
            <a:ext cx="757318" cy="0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3" name="TextBox 103">
            <a:extLst>
              <a:ext uri="{FF2B5EF4-FFF2-40B4-BE49-F238E27FC236}">
                <a16:creationId xmlns:a16="http://schemas.microsoft.com/office/drawing/2014/main" id="{0B6B1905-1B33-01F2-1A76-2DA527BF5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11" y="2291211"/>
            <a:ext cx="2010787" cy="402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20” x 85km OKNU-BBOU Gas Pipeline:</a:t>
            </a:r>
          </a:p>
          <a:p>
            <a:pPr marL="0" marR="0" lvl="0" indent="0" algn="ctr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Capacity of 200 MMscfd or 2</a:t>
            </a:r>
            <a:r>
              <a:rPr lang="en-US" altLang="en-US" sz="800" dirty="0">
                <a:solidFill>
                  <a:prstClr val="black"/>
                </a:solidFill>
                <a:latin typeface="Futura Std Book" panose="020B0502020204020303"/>
              </a:rPr>
              <a:t>7</a:t>
            </a: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0, if the make-up gas will come from OKNU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85BC627-C141-D167-72A8-9FE685C78B11}"/>
              </a:ext>
            </a:extLst>
          </p:cNvPr>
          <p:cNvGrpSpPr/>
          <p:nvPr/>
        </p:nvGrpSpPr>
        <p:grpSpPr>
          <a:xfrm>
            <a:off x="995973" y="1253222"/>
            <a:ext cx="466829" cy="267444"/>
            <a:chOff x="4343400" y="4686300"/>
            <a:chExt cx="514818" cy="267444"/>
          </a:xfrm>
        </p:grpSpPr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8E6B5009-2784-62D3-444B-AB250FF6657F}"/>
                </a:ext>
              </a:extLst>
            </p:cNvPr>
            <p:cNvGrpSpPr/>
            <p:nvPr/>
          </p:nvGrpSpPr>
          <p:grpSpPr>
            <a:xfrm>
              <a:off x="4343400" y="4686300"/>
              <a:ext cx="514818" cy="186690"/>
              <a:chOff x="0" y="0"/>
              <a:chExt cx="1225472" cy="434195"/>
            </a:xfrm>
          </p:grpSpPr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4F8316D0-775C-45CF-0C49-8F7B3B35169B}"/>
                  </a:ext>
                </a:extLst>
              </p:cNvPr>
              <p:cNvGrpSpPr/>
              <p:nvPr/>
            </p:nvGrpSpPr>
            <p:grpSpPr>
              <a:xfrm>
                <a:off x="0" y="0"/>
                <a:ext cx="1225472" cy="434195"/>
                <a:chOff x="0" y="0"/>
                <a:chExt cx="1393403" cy="567773"/>
              </a:xfrm>
            </p:grpSpPr>
            <p:sp>
              <p:nvSpPr>
                <p:cNvPr id="199" name="Chord 198">
                  <a:extLst>
                    <a:ext uri="{FF2B5EF4-FFF2-40B4-BE49-F238E27FC236}">
                      <a16:creationId xmlns:a16="http://schemas.microsoft.com/office/drawing/2014/main" id="{2E89E102-8C0C-209F-8C74-8A15F6E5FC53}"/>
                    </a:ext>
                  </a:extLst>
                </p:cNvPr>
                <p:cNvSpPr/>
                <p:nvPr/>
              </p:nvSpPr>
              <p:spPr>
                <a:xfrm rot="16200000" flipV="1">
                  <a:off x="-31858" y="31859"/>
                  <a:ext cx="567771" cy="504055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Chord 199">
                  <a:extLst>
                    <a:ext uri="{FF2B5EF4-FFF2-40B4-BE49-F238E27FC236}">
                      <a16:creationId xmlns:a16="http://schemas.microsoft.com/office/drawing/2014/main" id="{DB203DD5-977F-42CB-B137-3BD3186593E6}"/>
                    </a:ext>
                  </a:extLst>
                </p:cNvPr>
                <p:cNvSpPr/>
                <p:nvPr/>
              </p:nvSpPr>
              <p:spPr>
                <a:xfrm rot="16200000">
                  <a:off x="874901" y="49270"/>
                  <a:ext cx="567772" cy="469233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38000">
                      <a:schemeClr val="bg1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EF8100F7-5BFC-5AFF-5253-A59A6B5B9710}"/>
                    </a:ext>
                  </a:extLst>
                </p:cNvPr>
                <p:cNvSpPr/>
                <p:nvPr/>
              </p:nvSpPr>
              <p:spPr>
                <a:xfrm>
                  <a:off x="255082" y="0"/>
                  <a:ext cx="914400" cy="56777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A6D9CC4-DCD7-7F1A-4C32-927A95C3F388}"/>
                  </a:ext>
                </a:extLst>
              </p:cNvPr>
              <p:cNvSpPr/>
              <p:nvPr/>
            </p:nvSpPr>
            <p:spPr>
              <a:xfrm>
                <a:off x="526211" y="32021"/>
                <a:ext cx="469291" cy="102969"/>
              </a:xfrm>
              <a:prstGeom prst="rect">
                <a:avLst/>
              </a:prstGeom>
              <a:pattFill prst="lgCheck">
                <a:fgClr>
                  <a:schemeClr val="tx1">
                    <a:lumMod val="75000"/>
                    <a:lumOff val="2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8DE0646-7207-84EC-C714-C6757A195985}"/>
                </a:ext>
              </a:extLst>
            </p:cNvPr>
            <p:cNvSpPr txBox="1"/>
            <p:nvPr/>
          </p:nvSpPr>
          <p:spPr>
            <a:xfrm>
              <a:off x="4495800" y="4722912"/>
              <a:ext cx="228600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Slug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Catcher</a:t>
              </a:r>
            </a:p>
          </p:txBody>
        </p:sp>
      </p:grp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A7150B9-5E0D-331C-F3E4-188F431A6A4A}"/>
              </a:ext>
            </a:extLst>
          </p:cNvPr>
          <p:cNvSpPr>
            <a:spLocks/>
          </p:cNvSpPr>
          <p:nvPr/>
        </p:nvSpPr>
        <p:spPr bwMode="auto">
          <a:xfrm rot="16200000">
            <a:off x="731595" y="896355"/>
            <a:ext cx="529749" cy="106960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102F4111-4EB8-2AD2-DB9E-7F601465A76B}"/>
              </a:ext>
            </a:extLst>
          </p:cNvPr>
          <p:cNvCxnSpPr>
            <a:cxnSpLocks/>
          </p:cNvCxnSpPr>
          <p:nvPr/>
        </p:nvCxnSpPr>
        <p:spPr>
          <a:xfrm>
            <a:off x="1522881" y="1330405"/>
            <a:ext cx="1620000" cy="3168000"/>
          </a:xfrm>
          <a:prstGeom prst="straightConnector1">
            <a:avLst/>
          </a:prstGeom>
          <a:ln w="31750">
            <a:solidFill>
              <a:srgbClr val="00CC66"/>
            </a:solidFill>
            <a:headEnd type="none" w="med" len="med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763CA6F-F728-45BC-66E6-7CD947393CA5}"/>
              </a:ext>
            </a:extLst>
          </p:cNvPr>
          <p:cNvGrpSpPr/>
          <p:nvPr/>
        </p:nvGrpSpPr>
        <p:grpSpPr>
          <a:xfrm>
            <a:off x="1115595" y="1442099"/>
            <a:ext cx="178340" cy="215444"/>
            <a:chOff x="4542707" y="4885454"/>
            <a:chExt cx="334093" cy="296146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68CE4C8-5E13-8FFC-A407-BB37659A2F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37100" y="4885454"/>
              <a:ext cx="0" cy="216000"/>
            </a:xfrm>
            <a:prstGeom prst="line">
              <a:avLst/>
            </a:prstGeom>
            <a:ln w="25400">
              <a:solidFill>
                <a:srgbClr val="FF99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06" name="Flowchart: Magnetic Disk 205">
              <a:extLst>
                <a:ext uri="{FF2B5EF4-FFF2-40B4-BE49-F238E27FC236}">
                  <a16:creationId xmlns:a16="http://schemas.microsoft.com/office/drawing/2014/main" id="{DC1D9627-65DA-8AA6-91DD-27A2AFAC3AAB}"/>
                </a:ext>
              </a:extLst>
            </p:cNvPr>
            <p:cNvSpPr/>
            <p:nvPr/>
          </p:nvSpPr>
          <p:spPr>
            <a:xfrm>
              <a:off x="4542707" y="4981545"/>
              <a:ext cx="334093" cy="200055"/>
            </a:xfrm>
            <a:prstGeom prst="flowChartMagneticDisk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BAF8277-009C-8085-8384-E2717E8044C0}"/>
              </a:ext>
            </a:extLst>
          </p:cNvPr>
          <p:cNvCxnSpPr>
            <a:cxnSpLocks/>
          </p:cNvCxnSpPr>
          <p:nvPr/>
        </p:nvCxnSpPr>
        <p:spPr>
          <a:xfrm>
            <a:off x="4836982" y="4725300"/>
            <a:ext cx="115366" cy="0"/>
          </a:xfrm>
          <a:prstGeom prst="line">
            <a:avLst/>
          </a:prstGeom>
          <a:ln w="317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2A43C49-73C8-9A0B-6D8C-4550F508DC5E}"/>
              </a:ext>
            </a:extLst>
          </p:cNvPr>
          <p:cNvCxnSpPr>
            <a:cxnSpLocks/>
          </p:cNvCxnSpPr>
          <p:nvPr/>
        </p:nvCxnSpPr>
        <p:spPr>
          <a:xfrm>
            <a:off x="1470237" y="1340681"/>
            <a:ext cx="72000" cy="0"/>
          </a:xfrm>
          <a:prstGeom prst="line">
            <a:avLst/>
          </a:prstGeom>
          <a:ln w="317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F53ACCC4-759E-4848-6446-DCAD787653D5}"/>
              </a:ext>
            </a:extLst>
          </p:cNvPr>
          <p:cNvCxnSpPr>
            <a:cxnSpLocks/>
          </p:cNvCxnSpPr>
          <p:nvPr/>
        </p:nvCxnSpPr>
        <p:spPr>
          <a:xfrm>
            <a:off x="8558484" y="4583513"/>
            <a:ext cx="1017140" cy="467106"/>
          </a:xfrm>
          <a:prstGeom prst="bentConnector3">
            <a:avLst>
              <a:gd name="adj1" fmla="val 1071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F5621DF7-5585-9C98-D9B6-1FB905878DB2}"/>
              </a:ext>
            </a:extLst>
          </p:cNvPr>
          <p:cNvSpPr/>
          <p:nvPr/>
        </p:nvSpPr>
        <p:spPr>
          <a:xfrm>
            <a:off x="7429361" y="5300898"/>
            <a:ext cx="106218" cy="89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45D48DF6-B3C8-495A-F93E-1CD47B19B28D}"/>
              </a:ext>
            </a:extLst>
          </p:cNvPr>
          <p:cNvGrpSpPr/>
          <p:nvPr/>
        </p:nvGrpSpPr>
        <p:grpSpPr>
          <a:xfrm>
            <a:off x="8597170" y="4540628"/>
            <a:ext cx="98718" cy="94983"/>
            <a:chOff x="5114917" y="2286000"/>
            <a:chExt cx="245015" cy="235744"/>
          </a:xfrm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27B49010-F9EC-6612-DAB6-99D266D5A918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3782219D-D504-51E2-A644-6C6CBC62161B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25F8A445-736F-854D-1C6D-5D39DF3AB85C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16" name="Isosceles Triangle 215">
                <a:extLst>
                  <a:ext uri="{FF2B5EF4-FFF2-40B4-BE49-F238E27FC236}">
                    <a16:creationId xmlns:a16="http://schemas.microsoft.com/office/drawing/2014/main" id="{736B3B1D-58CD-B16B-FF85-324BA4EE0DF7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17" name="Isosceles Triangle 216">
                <a:extLst>
                  <a:ext uri="{FF2B5EF4-FFF2-40B4-BE49-F238E27FC236}">
                    <a16:creationId xmlns:a16="http://schemas.microsoft.com/office/drawing/2014/main" id="{61FC9B11-D437-2ACE-EA9C-7809067C2258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77306700-DC1E-2449-D3ED-7C20F8E90260}"/>
              </a:ext>
            </a:extLst>
          </p:cNvPr>
          <p:cNvGrpSpPr/>
          <p:nvPr/>
        </p:nvGrpSpPr>
        <p:grpSpPr>
          <a:xfrm>
            <a:off x="8676231" y="5003700"/>
            <a:ext cx="98718" cy="94983"/>
            <a:chOff x="5114917" y="2286000"/>
            <a:chExt cx="245015" cy="235744"/>
          </a:xfrm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389A77D2-B855-F5C6-80BC-FBC109E2BB1D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6325BCE6-C868-72DB-5F31-C05C9B37FAAD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89181661-AC94-3E68-9137-086CF1B823EE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22" name="Isosceles Triangle 221">
                <a:extLst>
                  <a:ext uri="{FF2B5EF4-FFF2-40B4-BE49-F238E27FC236}">
                    <a16:creationId xmlns:a16="http://schemas.microsoft.com/office/drawing/2014/main" id="{1B9F337C-39A2-C342-D0FA-A16A293C2C75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8620105A-E31A-F45A-1C48-6C16E8BD0140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AE3FC7F3-AD68-6D7C-094A-A411491ACD9D}"/>
              </a:ext>
            </a:extLst>
          </p:cNvPr>
          <p:cNvCxnSpPr>
            <a:cxnSpLocks/>
          </p:cNvCxnSpPr>
          <p:nvPr/>
        </p:nvCxnSpPr>
        <p:spPr>
          <a:xfrm>
            <a:off x="8562488" y="4910465"/>
            <a:ext cx="540000" cy="432000"/>
          </a:xfrm>
          <a:prstGeom prst="bentConnector3">
            <a:avLst>
              <a:gd name="adj1" fmla="val -347"/>
            </a:avLst>
          </a:prstGeom>
          <a:ln w="254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A7CA31E-797B-1EB2-F6B3-CD29831DFA63}"/>
              </a:ext>
            </a:extLst>
          </p:cNvPr>
          <p:cNvGrpSpPr/>
          <p:nvPr/>
        </p:nvGrpSpPr>
        <p:grpSpPr>
          <a:xfrm>
            <a:off x="8676231" y="5290382"/>
            <a:ext cx="98718" cy="94983"/>
            <a:chOff x="5114917" y="2286000"/>
            <a:chExt cx="245015" cy="235744"/>
          </a:xfrm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D01E8B6C-5CB8-6708-6AB4-928A17396ACE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84CCA2C1-9183-F7EA-38EC-ABC11F0BCEB0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BCF5EC4A-E5DD-283B-B0AC-347E7164B707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44" name="Isosceles Triangle 243">
                <a:extLst>
                  <a:ext uri="{FF2B5EF4-FFF2-40B4-BE49-F238E27FC236}">
                    <a16:creationId xmlns:a16="http://schemas.microsoft.com/office/drawing/2014/main" id="{4FB5C9DE-FEC3-FBA6-7D84-F643CCC73241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48" name="Isosceles Triangle 247">
                <a:extLst>
                  <a:ext uri="{FF2B5EF4-FFF2-40B4-BE49-F238E27FC236}">
                    <a16:creationId xmlns:a16="http://schemas.microsoft.com/office/drawing/2014/main" id="{F5435DA2-5FB3-D309-818B-3996756532FA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E7EABE39-7FC2-B8D7-05D2-A6A9F20FE12C}"/>
              </a:ext>
            </a:extLst>
          </p:cNvPr>
          <p:cNvGrpSpPr/>
          <p:nvPr/>
        </p:nvGrpSpPr>
        <p:grpSpPr>
          <a:xfrm>
            <a:off x="6801012" y="4452548"/>
            <a:ext cx="100011" cy="92014"/>
            <a:chOff x="5715000" y="4748213"/>
            <a:chExt cx="176211" cy="92014"/>
          </a:xfrm>
        </p:grpSpPr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155BE90F-A548-9CA6-C244-C7FF79687BA9}"/>
                </a:ext>
              </a:extLst>
            </p:cNvPr>
            <p:cNvSpPr/>
            <p:nvPr/>
          </p:nvSpPr>
          <p:spPr>
            <a:xfrm>
              <a:off x="5719763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2199462A-9CA5-D5C5-6421-92091B3CF24B}"/>
                </a:ext>
              </a:extLst>
            </p:cNvPr>
            <p:cNvGrpSpPr/>
            <p:nvPr/>
          </p:nvGrpSpPr>
          <p:grpSpPr>
            <a:xfrm>
              <a:off x="5715000" y="4754283"/>
              <a:ext cx="176211" cy="85944"/>
              <a:chOff x="6661011" y="5251855"/>
              <a:chExt cx="131341" cy="64059"/>
            </a:xfrm>
          </p:grpSpPr>
          <p:sp>
            <p:nvSpPr>
              <p:cNvPr id="252" name="Isosceles Triangle 251">
                <a:extLst>
                  <a:ext uri="{FF2B5EF4-FFF2-40B4-BE49-F238E27FC236}">
                    <a16:creationId xmlns:a16="http://schemas.microsoft.com/office/drawing/2014/main" id="{33EADAE3-332A-2C7C-7B4A-FEC831ABCCC7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53" name="Isosceles Triangle 252">
                <a:extLst>
                  <a:ext uri="{FF2B5EF4-FFF2-40B4-BE49-F238E27FC236}">
                    <a16:creationId xmlns:a16="http://schemas.microsoft.com/office/drawing/2014/main" id="{2B97F0EB-A1D6-E455-AA6F-1E73AF6B3C78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52CFD456-A391-938C-30B5-A0290FB1C7AD}"/>
              </a:ext>
            </a:extLst>
          </p:cNvPr>
          <p:cNvCxnSpPr>
            <a:cxnSpLocks/>
          </p:cNvCxnSpPr>
          <p:nvPr/>
        </p:nvCxnSpPr>
        <p:spPr>
          <a:xfrm>
            <a:off x="7924803" y="4724021"/>
            <a:ext cx="625021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12D629A-8608-84E9-4BF1-082B69E83F6C}"/>
              </a:ext>
            </a:extLst>
          </p:cNvPr>
          <p:cNvGrpSpPr/>
          <p:nvPr/>
        </p:nvGrpSpPr>
        <p:grpSpPr>
          <a:xfrm>
            <a:off x="8053981" y="4665465"/>
            <a:ext cx="109538" cy="92014"/>
            <a:chOff x="5267327" y="4748213"/>
            <a:chExt cx="176211" cy="92014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0CAED9E-310A-596D-8DE8-BD90AAFCE37D}"/>
                </a:ext>
              </a:extLst>
            </p:cNvPr>
            <p:cNvSpPr/>
            <p:nvPr/>
          </p:nvSpPr>
          <p:spPr>
            <a:xfrm>
              <a:off x="5272090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04FD6670-A61F-F432-677B-37CD0F8B3698}"/>
                </a:ext>
              </a:extLst>
            </p:cNvPr>
            <p:cNvGrpSpPr/>
            <p:nvPr/>
          </p:nvGrpSpPr>
          <p:grpSpPr>
            <a:xfrm>
              <a:off x="5267327" y="4754283"/>
              <a:ext cx="176211" cy="85944"/>
              <a:chOff x="6661011" y="5251855"/>
              <a:chExt cx="131341" cy="64059"/>
            </a:xfrm>
          </p:grpSpPr>
          <p:sp>
            <p:nvSpPr>
              <p:cNvPr id="322" name="Isosceles Triangle 321">
                <a:extLst>
                  <a:ext uri="{FF2B5EF4-FFF2-40B4-BE49-F238E27FC236}">
                    <a16:creationId xmlns:a16="http://schemas.microsoft.com/office/drawing/2014/main" id="{17C4B289-8491-3C63-C7C0-790283726B4C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E851BDB6-0589-2D38-04CE-C1B22A36C45B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8C6D8226-65BE-28A6-EDD7-74661F3BECA4}"/>
              </a:ext>
            </a:extLst>
          </p:cNvPr>
          <p:cNvGrpSpPr/>
          <p:nvPr/>
        </p:nvGrpSpPr>
        <p:grpSpPr>
          <a:xfrm>
            <a:off x="6256131" y="4625604"/>
            <a:ext cx="514818" cy="267444"/>
            <a:chOff x="4343400" y="4686300"/>
            <a:chExt cx="514818" cy="267444"/>
          </a:xfrm>
        </p:grpSpPr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DE60ACC9-B46C-A309-5B74-1C01CCAD9019}"/>
                </a:ext>
              </a:extLst>
            </p:cNvPr>
            <p:cNvGrpSpPr/>
            <p:nvPr/>
          </p:nvGrpSpPr>
          <p:grpSpPr>
            <a:xfrm>
              <a:off x="4343400" y="4686300"/>
              <a:ext cx="514818" cy="186690"/>
              <a:chOff x="0" y="0"/>
              <a:chExt cx="1225472" cy="434195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4801DCAE-386E-38DC-C2BD-0D336BE8B01C}"/>
                  </a:ext>
                </a:extLst>
              </p:cNvPr>
              <p:cNvGrpSpPr/>
              <p:nvPr/>
            </p:nvGrpSpPr>
            <p:grpSpPr>
              <a:xfrm>
                <a:off x="0" y="0"/>
                <a:ext cx="1225472" cy="434195"/>
                <a:chOff x="0" y="0"/>
                <a:chExt cx="1393403" cy="567773"/>
              </a:xfrm>
            </p:grpSpPr>
            <p:sp>
              <p:nvSpPr>
                <p:cNvPr id="329" name="Chord 328">
                  <a:extLst>
                    <a:ext uri="{FF2B5EF4-FFF2-40B4-BE49-F238E27FC236}">
                      <a16:creationId xmlns:a16="http://schemas.microsoft.com/office/drawing/2014/main" id="{E4F5A5D9-846C-B6CC-FDD8-36146C689A13}"/>
                    </a:ext>
                  </a:extLst>
                </p:cNvPr>
                <p:cNvSpPr/>
                <p:nvPr/>
              </p:nvSpPr>
              <p:spPr>
                <a:xfrm rot="16200000" flipV="1">
                  <a:off x="-31858" y="31859"/>
                  <a:ext cx="567771" cy="504055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Chord 329">
                  <a:extLst>
                    <a:ext uri="{FF2B5EF4-FFF2-40B4-BE49-F238E27FC236}">
                      <a16:creationId xmlns:a16="http://schemas.microsoft.com/office/drawing/2014/main" id="{A2BDB68B-62B7-2A7A-8F58-18D9E5797EA2}"/>
                    </a:ext>
                  </a:extLst>
                </p:cNvPr>
                <p:cNvSpPr/>
                <p:nvPr/>
              </p:nvSpPr>
              <p:spPr>
                <a:xfrm rot="16200000">
                  <a:off x="874901" y="49270"/>
                  <a:ext cx="567772" cy="469233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38000">
                      <a:schemeClr val="bg1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331" name="Rectangle 330">
                  <a:extLst>
                    <a:ext uri="{FF2B5EF4-FFF2-40B4-BE49-F238E27FC236}">
                      <a16:creationId xmlns:a16="http://schemas.microsoft.com/office/drawing/2014/main" id="{F68DD881-6D0B-4112-88C8-790515EE5925}"/>
                    </a:ext>
                  </a:extLst>
                </p:cNvPr>
                <p:cNvSpPr/>
                <p:nvPr/>
              </p:nvSpPr>
              <p:spPr>
                <a:xfrm>
                  <a:off x="255082" y="0"/>
                  <a:ext cx="914400" cy="56777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2E9886BA-8D10-EC0E-0C11-272611E45E13}"/>
                  </a:ext>
                </a:extLst>
              </p:cNvPr>
              <p:cNvSpPr/>
              <p:nvPr/>
            </p:nvSpPr>
            <p:spPr>
              <a:xfrm>
                <a:off x="526211" y="32021"/>
                <a:ext cx="469291" cy="102969"/>
              </a:xfrm>
              <a:prstGeom prst="rect">
                <a:avLst/>
              </a:prstGeom>
              <a:pattFill prst="lgCheck">
                <a:fgClr>
                  <a:schemeClr val="tx1">
                    <a:lumMod val="75000"/>
                    <a:lumOff val="2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2BC5ABD5-5D6E-E188-99EA-F769FBEF6958}"/>
                </a:ext>
              </a:extLst>
            </p:cNvPr>
            <p:cNvSpPr txBox="1"/>
            <p:nvPr/>
          </p:nvSpPr>
          <p:spPr>
            <a:xfrm>
              <a:off x="4495800" y="4722912"/>
              <a:ext cx="228600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Slug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Catcher</a:t>
              </a:r>
            </a:p>
          </p:txBody>
        </p:sp>
      </p:grp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8B56236F-245A-A5EA-22B1-3C66ADB369AB}"/>
              </a:ext>
            </a:extLst>
          </p:cNvPr>
          <p:cNvCxnSpPr>
            <a:cxnSpLocks/>
          </p:cNvCxnSpPr>
          <p:nvPr/>
        </p:nvCxnSpPr>
        <p:spPr>
          <a:xfrm rot="360000" flipH="1" flipV="1">
            <a:off x="6618534" y="4501617"/>
            <a:ext cx="20781" cy="14400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0FE9F376-73CF-5EA5-7AB0-CD097D48F882}"/>
              </a:ext>
            </a:extLst>
          </p:cNvPr>
          <p:cNvCxnSpPr>
            <a:cxnSpLocks/>
          </p:cNvCxnSpPr>
          <p:nvPr/>
        </p:nvCxnSpPr>
        <p:spPr>
          <a:xfrm>
            <a:off x="6578349" y="4816126"/>
            <a:ext cx="0" cy="339064"/>
          </a:xfrm>
          <a:prstGeom prst="straightConnector1">
            <a:avLst/>
          </a:prstGeom>
          <a:ln w="254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8F8B205-B6FA-BA73-E67D-ACB826EF0F6D}"/>
              </a:ext>
            </a:extLst>
          </p:cNvPr>
          <p:cNvGrpSpPr/>
          <p:nvPr/>
        </p:nvGrpSpPr>
        <p:grpSpPr>
          <a:xfrm rot="5280000">
            <a:off x="6537121" y="4901034"/>
            <a:ext cx="100011" cy="92014"/>
            <a:chOff x="5715000" y="4748213"/>
            <a:chExt cx="176211" cy="92014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BFAD9301-6A52-1DDF-5E31-346CDEBFD2AA}"/>
                </a:ext>
              </a:extLst>
            </p:cNvPr>
            <p:cNvSpPr/>
            <p:nvPr/>
          </p:nvSpPr>
          <p:spPr>
            <a:xfrm>
              <a:off x="5719763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5F7CA3C3-D0FE-6357-F7B1-38C65DF56B1B}"/>
                </a:ext>
              </a:extLst>
            </p:cNvPr>
            <p:cNvGrpSpPr/>
            <p:nvPr/>
          </p:nvGrpSpPr>
          <p:grpSpPr>
            <a:xfrm>
              <a:off x="5715000" y="4754283"/>
              <a:ext cx="176211" cy="85944"/>
              <a:chOff x="6661011" y="5251855"/>
              <a:chExt cx="131341" cy="64059"/>
            </a:xfrm>
          </p:grpSpPr>
          <p:sp>
            <p:nvSpPr>
              <p:cNvPr id="339" name="Isosceles Triangle 338">
                <a:extLst>
                  <a:ext uri="{FF2B5EF4-FFF2-40B4-BE49-F238E27FC236}">
                    <a16:creationId xmlns:a16="http://schemas.microsoft.com/office/drawing/2014/main" id="{A116F875-ECC1-1FED-FE3F-FC8CF34B7B0D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40" name="Isosceles Triangle 339">
                <a:extLst>
                  <a:ext uri="{FF2B5EF4-FFF2-40B4-BE49-F238E27FC236}">
                    <a16:creationId xmlns:a16="http://schemas.microsoft.com/office/drawing/2014/main" id="{20BFF2F1-8FA9-73D3-330B-4FBFF49D673C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sp>
        <p:nvSpPr>
          <p:cNvPr id="341" name="Flowchart: Magnetic Disk 340">
            <a:extLst>
              <a:ext uri="{FF2B5EF4-FFF2-40B4-BE49-F238E27FC236}">
                <a16:creationId xmlns:a16="http://schemas.microsoft.com/office/drawing/2014/main" id="{EFF019B4-A218-A252-31E0-CD45B071E573}"/>
              </a:ext>
            </a:extLst>
          </p:cNvPr>
          <p:cNvSpPr/>
          <p:nvPr/>
        </p:nvSpPr>
        <p:spPr>
          <a:xfrm>
            <a:off x="6425951" y="5129940"/>
            <a:ext cx="334093" cy="200055"/>
          </a:xfrm>
          <a:prstGeom prst="flowChartMagneticDisk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sp>
        <p:nvSpPr>
          <p:cNvPr id="342" name="TextBox 135">
            <a:extLst>
              <a:ext uri="{FF2B5EF4-FFF2-40B4-BE49-F238E27FC236}">
                <a16:creationId xmlns:a16="http://schemas.microsoft.com/office/drawing/2014/main" id="{69D3492D-4AE2-FF9F-92C1-CDB3D0B46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595" y="5324111"/>
            <a:ext cx="1185528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GPP Liquid Processing / Water Disposal System</a:t>
            </a:r>
          </a:p>
        </p:txBody>
      </p:sp>
      <p:sp>
        <p:nvSpPr>
          <p:cNvPr id="343" name="TextBox 103">
            <a:extLst>
              <a:ext uri="{FF2B5EF4-FFF2-40B4-BE49-F238E27FC236}">
                <a16:creationId xmlns:a16="http://schemas.microsoft.com/office/drawing/2014/main" id="{97A06CC7-C958-19BD-4434-FCFDA4DC6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0613" y="4961463"/>
            <a:ext cx="355389" cy="19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IPP</a:t>
            </a:r>
          </a:p>
        </p:txBody>
      </p: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165BB959-D9BD-9C87-D8A5-9949B699C128}"/>
              </a:ext>
            </a:extLst>
          </p:cNvPr>
          <p:cNvCxnSpPr>
            <a:cxnSpLocks/>
          </p:cNvCxnSpPr>
          <p:nvPr/>
        </p:nvCxnSpPr>
        <p:spPr>
          <a:xfrm>
            <a:off x="7757755" y="4934884"/>
            <a:ext cx="10404" cy="488488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Flowchart: Magnetic Disk 344">
            <a:extLst>
              <a:ext uri="{FF2B5EF4-FFF2-40B4-BE49-F238E27FC236}">
                <a16:creationId xmlns:a16="http://schemas.microsoft.com/office/drawing/2014/main" id="{FA167170-DA38-2CB8-2C8A-EF4D02C7520D}"/>
              </a:ext>
            </a:extLst>
          </p:cNvPr>
          <p:cNvSpPr/>
          <p:nvPr/>
        </p:nvSpPr>
        <p:spPr>
          <a:xfrm>
            <a:off x="7620002" y="5408034"/>
            <a:ext cx="334093" cy="251481"/>
          </a:xfrm>
          <a:prstGeom prst="flowChartMagneticDisk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B64BF1B6-397A-1764-D341-220BA07B3183}"/>
              </a:ext>
            </a:extLst>
          </p:cNvPr>
          <p:cNvGrpSpPr/>
          <p:nvPr/>
        </p:nvGrpSpPr>
        <p:grpSpPr>
          <a:xfrm>
            <a:off x="8904771" y="5459781"/>
            <a:ext cx="304800" cy="276999"/>
            <a:chOff x="4876800" y="5752186"/>
            <a:chExt cx="304800" cy="276999"/>
          </a:xfrm>
        </p:grpSpPr>
        <p:sp>
          <p:nvSpPr>
            <p:cNvPr id="347" name="TextBox 52">
              <a:extLst>
                <a:ext uri="{FF2B5EF4-FFF2-40B4-BE49-F238E27FC236}">
                  <a16:creationId xmlns:a16="http://schemas.microsoft.com/office/drawing/2014/main" id="{06C2CF95-384F-A1B9-7686-661A08882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5752186"/>
              <a:ext cx="304800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endParaRPr>
            </a:p>
          </p:txBody>
        </p:sp>
        <p:pic>
          <p:nvPicPr>
            <p:cNvPr id="348" name="Picture 2" descr="Esperance's jetty seen as 'new beginning' by some, others 'scarred' by loss  of history - ABC News">
              <a:extLst>
                <a:ext uri="{FF2B5EF4-FFF2-40B4-BE49-F238E27FC236}">
                  <a16:creationId xmlns:a16="http://schemas.microsoft.com/office/drawing/2014/main" id="{36CBD229-5AE7-EFDA-2759-D8760A7E5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895788" y="5762626"/>
              <a:ext cx="261923" cy="25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C36FB618-FA8A-F584-9379-B8E6A696229F}"/>
              </a:ext>
            </a:extLst>
          </p:cNvPr>
          <p:cNvGrpSpPr/>
          <p:nvPr/>
        </p:nvGrpSpPr>
        <p:grpSpPr>
          <a:xfrm>
            <a:off x="9514369" y="5778414"/>
            <a:ext cx="304800" cy="279115"/>
            <a:chOff x="4876800" y="5750070"/>
            <a:chExt cx="304800" cy="279115"/>
          </a:xfrm>
        </p:grpSpPr>
        <p:sp>
          <p:nvSpPr>
            <p:cNvPr id="350" name="TextBox 52">
              <a:extLst>
                <a:ext uri="{FF2B5EF4-FFF2-40B4-BE49-F238E27FC236}">
                  <a16:creationId xmlns:a16="http://schemas.microsoft.com/office/drawing/2014/main" id="{FC8B618A-AA68-F5DF-E7E1-3AECF92F1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5752186"/>
              <a:ext cx="304800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endParaRPr>
            </a:p>
          </p:txBody>
        </p:sp>
        <p:pic>
          <p:nvPicPr>
            <p:cNvPr id="351" name="Picture 2" descr="Esperance's jetty seen as 'new beginning' by some, others 'scarred' by loss  of history - ABC News">
              <a:extLst>
                <a:ext uri="{FF2B5EF4-FFF2-40B4-BE49-F238E27FC236}">
                  <a16:creationId xmlns:a16="http://schemas.microsoft.com/office/drawing/2014/main" id="{5EAF11B1-56D4-EA39-AC24-D70E31C1DD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895788" y="5754675"/>
              <a:ext cx="261923" cy="25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D173BC45-1119-FFA7-918E-7291EAEF139D}"/>
              </a:ext>
            </a:extLst>
          </p:cNvPr>
          <p:cNvCxnSpPr>
            <a:cxnSpLocks/>
            <a:endCxn id="348" idx="0"/>
          </p:cNvCxnSpPr>
          <p:nvPr/>
        </p:nvCxnSpPr>
        <p:spPr>
          <a:xfrm>
            <a:off x="7995548" y="5596565"/>
            <a:ext cx="932815" cy="0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135">
            <a:extLst>
              <a:ext uri="{FF2B5EF4-FFF2-40B4-BE49-F238E27FC236}">
                <a16:creationId xmlns:a16="http://schemas.microsoft.com/office/drawing/2014/main" id="{FDAFE782-6B78-E7A4-1704-A03A2903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8924" y="5623586"/>
            <a:ext cx="1114409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 Storage Tanks</a:t>
            </a:r>
          </a:p>
        </p:txBody>
      </p:sp>
      <p:sp>
        <p:nvSpPr>
          <p:cNvPr id="354" name="TextBox 135">
            <a:extLst>
              <a:ext uri="{FF2B5EF4-FFF2-40B4-BE49-F238E27FC236}">
                <a16:creationId xmlns:a16="http://schemas.microsoft.com/office/drawing/2014/main" id="{01471EC9-F540-89F9-5AFB-C259CACC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327" y="5466508"/>
            <a:ext cx="469398" cy="19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</a:t>
            </a:r>
          </a:p>
        </p:txBody>
      </p:sp>
      <p:sp>
        <p:nvSpPr>
          <p:cNvPr id="355" name="TextBox 135">
            <a:extLst>
              <a:ext uri="{FF2B5EF4-FFF2-40B4-BE49-F238E27FC236}">
                <a16:creationId xmlns:a16="http://schemas.microsoft.com/office/drawing/2014/main" id="{D163B54F-DD83-1698-F239-2C09161D9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8163" y="5423983"/>
            <a:ext cx="397866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</a:t>
            </a:r>
          </a:p>
        </p:txBody>
      </p:sp>
      <p:sp>
        <p:nvSpPr>
          <p:cNvPr id="356" name="TextBox 188">
            <a:extLst>
              <a:ext uri="{FF2B5EF4-FFF2-40B4-BE49-F238E27FC236}">
                <a16:creationId xmlns:a16="http://schemas.microsoft.com/office/drawing/2014/main" id="{852EE5BB-D14C-15E1-22B3-B039BCC17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3139" y="5681650"/>
            <a:ext cx="9650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 Export  Jetty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 (at </a:t>
            </a:r>
            <a:r>
              <a:rPr kumimoji="0" lang="en-US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Akabel</a:t>
            </a: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)</a:t>
            </a:r>
          </a:p>
        </p:txBody>
      </p:sp>
      <p:sp>
        <p:nvSpPr>
          <p:cNvPr id="357" name="TextBox 188">
            <a:extLst>
              <a:ext uri="{FF2B5EF4-FFF2-40B4-BE49-F238E27FC236}">
                <a16:creationId xmlns:a16="http://schemas.microsoft.com/office/drawing/2014/main" id="{7CBEA3CE-E127-0F26-574D-4520CF4FA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7946" y="5853377"/>
            <a:ext cx="435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Condensate</a:t>
            </a:r>
          </a:p>
        </p:txBody>
      </p: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1C2B4EA6-6228-F6BF-AFC6-DB81A42D6648}"/>
              </a:ext>
            </a:extLst>
          </p:cNvPr>
          <p:cNvGrpSpPr/>
          <p:nvPr/>
        </p:nvGrpSpPr>
        <p:grpSpPr>
          <a:xfrm>
            <a:off x="6078306" y="4104422"/>
            <a:ext cx="3928860" cy="2259258"/>
            <a:chOff x="6346104" y="3805121"/>
            <a:chExt cx="4117310" cy="2367623"/>
          </a:xfrm>
        </p:grpSpPr>
        <p:sp>
          <p:nvSpPr>
            <p:cNvPr id="359" name="TextBox 103">
              <a:extLst>
                <a:ext uri="{FF2B5EF4-FFF2-40B4-BE49-F238E27FC236}">
                  <a16:creationId xmlns:a16="http://schemas.microsoft.com/office/drawing/2014/main" id="{61AC9D78-22E3-A712-2FDC-EA082080D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6104" y="3806173"/>
              <a:ext cx="1996372" cy="205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Gas Processing Facility (at </a:t>
              </a:r>
              <a:r>
                <a:rPr kumimoji="0" lang="en-US" altLang="en-US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Akabel</a:t>
              </a:r>
              <a:r>
                <a:rPr kumimoji="0" lang="en-US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)</a:t>
              </a:r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932E2A69-5C34-39B0-7A52-1226A46447A9}"/>
                </a:ext>
              </a:extLst>
            </p:cNvPr>
            <p:cNvGrpSpPr/>
            <p:nvPr/>
          </p:nvGrpSpPr>
          <p:grpSpPr>
            <a:xfrm>
              <a:off x="6416015" y="3805121"/>
              <a:ext cx="4047399" cy="2367623"/>
              <a:chOff x="6416015" y="3805121"/>
              <a:chExt cx="4047399" cy="2367623"/>
            </a:xfrm>
          </p:grpSpPr>
          <p:cxnSp>
            <p:nvCxnSpPr>
              <p:cNvPr id="361" name="Straight Arrow Connector 360">
                <a:extLst>
                  <a:ext uri="{FF2B5EF4-FFF2-40B4-BE49-F238E27FC236}">
                    <a16:creationId xmlns:a16="http://schemas.microsoft.com/office/drawing/2014/main" id="{5CE6B58C-7CF8-F123-E861-F7BB8D352B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4489" y="4691447"/>
                <a:ext cx="15350" cy="867715"/>
              </a:xfrm>
              <a:prstGeom prst="straightConnector1">
                <a:avLst/>
              </a:prstGeom>
              <a:ln w="19050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Arrow Connector 361">
                <a:extLst>
                  <a:ext uri="{FF2B5EF4-FFF2-40B4-BE49-F238E27FC236}">
                    <a16:creationId xmlns:a16="http://schemas.microsoft.com/office/drawing/2014/main" id="{7F8280E3-7AE4-5FB3-DC0C-899EE3EA47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287" y="5738274"/>
                <a:ext cx="2001997" cy="0"/>
              </a:xfrm>
              <a:prstGeom prst="straightConnector1">
                <a:avLst/>
              </a:prstGeom>
              <a:ln w="19050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3" name="Rectangle 28">
                <a:extLst>
                  <a:ext uri="{FF2B5EF4-FFF2-40B4-BE49-F238E27FC236}">
                    <a16:creationId xmlns:a16="http://schemas.microsoft.com/office/drawing/2014/main" id="{78A10305-A371-9080-D965-77BECDFBE5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6015" y="3805121"/>
                <a:ext cx="2475503" cy="2365235"/>
              </a:xfrm>
              <a:prstGeom prst="rect">
                <a:avLst/>
              </a:prstGeom>
              <a:noFill/>
              <a:ln w="19050" algn="ctr">
                <a:solidFill>
                  <a:srgbClr val="7030A0"/>
                </a:solidFill>
                <a:prstDash val="sysDot"/>
                <a:round/>
                <a:headEnd/>
                <a:tailEnd/>
              </a:ln>
            </p:spPr>
            <p:txBody>
              <a:bodyPr lIns="36000" r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59135E33-F553-FFEE-364F-5CA5EE22DA7F}"/>
                  </a:ext>
                </a:extLst>
              </p:cNvPr>
              <p:cNvSpPr/>
              <p:nvPr/>
            </p:nvSpPr>
            <p:spPr>
              <a:xfrm>
                <a:off x="9246690" y="4066557"/>
                <a:ext cx="816398" cy="474579"/>
              </a:xfrm>
              <a:prstGeom prst="rect">
                <a:avLst/>
              </a:prstGeom>
              <a:noFill/>
              <a:ln w="952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BFPCL Methanol Plant</a:t>
                </a:r>
              </a:p>
            </p:txBody>
          </p:sp>
          <p:cxnSp>
            <p:nvCxnSpPr>
              <p:cNvPr id="365" name="Straight Arrow Connector 364">
                <a:extLst>
                  <a:ext uri="{FF2B5EF4-FFF2-40B4-BE49-F238E27FC236}">
                    <a16:creationId xmlns:a16="http://schemas.microsoft.com/office/drawing/2014/main" id="{70674AE9-0FF0-2A99-AD1C-4F03BDF1FA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2310" y="4301572"/>
                <a:ext cx="300570" cy="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F4699830-6D3F-5110-F5A0-224AFC22AD23}"/>
                  </a:ext>
                </a:extLst>
              </p:cNvPr>
              <p:cNvSpPr txBox="1"/>
              <p:nvPr/>
            </p:nvSpPr>
            <p:spPr bwMode="auto">
              <a:xfrm>
                <a:off x="9993477" y="4682812"/>
                <a:ext cx="304285" cy="290285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F7275A0E-BB29-E5D2-C1F3-ACB526B9453B}"/>
                  </a:ext>
                </a:extLst>
              </p:cNvPr>
              <p:cNvSpPr txBox="1"/>
              <p:nvPr/>
            </p:nvSpPr>
            <p:spPr bwMode="auto">
              <a:xfrm>
                <a:off x="10230285" y="4461282"/>
                <a:ext cx="59838" cy="290285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68" name="TextBox 149">
                <a:extLst>
                  <a:ext uri="{FF2B5EF4-FFF2-40B4-BE49-F238E27FC236}">
                    <a16:creationId xmlns:a16="http://schemas.microsoft.com/office/drawing/2014/main" id="{A62FD09D-B0DA-81A1-61A4-A96D4BE6BA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61187" y="4584377"/>
                <a:ext cx="455587" cy="2580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Gas</a:t>
                </a:r>
              </a:p>
            </p:txBody>
          </p:sp>
          <p:sp>
            <p:nvSpPr>
              <p:cNvPr id="369" name="TextBox 149">
                <a:extLst>
                  <a:ext uri="{FF2B5EF4-FFF2-40B4-BE49-F238E27FC236}">
                    <a16:creationId xmlns:a16="http://schemas.microsoft.com/office/drawing/2014/main" id="{7BFC5E65-09B0-4AE7-DCAD-643DC7804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65389" y="3995746"/>
                <a:ext cx="455587" cy="2580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Gas</a:t>
                </a:r>
              </a:p>
            </p:txBody>
          </p:sp>
          <p:sp>
            <p:nvSpPr>
              <p:cNvPr id="370" name="TextBox 188">
                <a:extLst>
                  <a:ext uri="{FF2B5EF4-FFF2-40B4-BE49-F238E27FC236}">
                    <a16:creationId xmlns:a16="http://schemas.microsoft.com/office/drawing/2014/main" id="{230EE316-694D-3BEF-C3B2-79E348F4B1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05214" y="5817951"/>
                <a:ext cx="1258200" cy="3547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 Export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 Jetty (at </a:t>
                </a:r>
                <a:r>
                  <a:rPr kumimoji="0" lang="en-US" alt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Akabel</a:t>
                </a: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)</a:t>
                </a:r>
              </a:p>
            </p:txBody>
          </p: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53E9768D-A0A3-F3D9-1439-852F25538B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9559" y="5547077"/>
                <a:ext cx="387161" cy="0"/>
              </a:xfrm>
              <a:prstGeom prst="line">
                <a:avLst/>
              </a:prstGeom>
              <a:ln w="63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Arrow Connector 371">
                <a:extLst>
                  <a:ext uri="{FF2B5EF4-FFF2-40B4-BE49-F238E27FC236}">
                    <a16:creationId xmlns:a16="http://schemas.microsoft.com/office/drawing/2014/main" id="{8558FFFF-80BA-ABCE-1834-B1FABB9AE4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1488" y="4221718"/>
                <a:ext cx="603628" cy="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3" name="Flowchart: Magnetic Disk 372">
                <a:extLst>
                  <a:ext uri="{FF2B5EF4-FFF2-40B4-BE49-F238E27FC236}">
                    <a16:creationId xmlns:a16="http://schemas.microsoft.com/office/drawing/2014/main" id="{4239019A-C39D-8387-F4A2-942DD23AC0D5}"/>
                  </a:ext>
                </a:extLst>
              </p:cNvPr>
              <p:cNvSpPr/>
              <p:nvPr/>
            </p:nvSpPr>
            <p:spPr>
              <a:xfrm>
                <a:off x="7544779" y="5536011"/>
                <a:ext cx="350118" cy="263543"/>
              </a:xfrm>
              <a:prstGeom prst="flowChartMagneticDisk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74" name="TextBox 135">
                <a:extLst>
                  <a:ext uri="{FF2B5EF4-FFF2-40B4-BE49-F238E27FC236}">
                    <a16:creationId xmlns:a16="http://schemas.microsoft.com/office/drawing/2014/main" id="{8A0B15C4-7E2E-44E3-62A1-C790F27777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4020" y="5765457"/>
                <a:ext cx="914197" cy="338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9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ts val="9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Storage Tanks</a:t>
                </a:r>
              </a:p>
            </p:txBody>
          </p:sp>
          <p:sp>
            <p:nvSpPr>
              <p:cNvPr id="375" name="TextBox 149">
                <a:extLst>
                  <a:ext uri="{FF2B5EF4-FFF2-40B4-BE49-F238E27FC236}">
                    <a16:creationId xmlns:a16="http://schemas.microsoft.com/office/drawing/2014/main" id="{EC725D3D-1BA7-89E2-25CA-5EDF352DE9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37505" y="5686697"/>
                <a:ext cx="764687" cy="2096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</a:t>
                </a:r>
              </a:p>
            </p:txBody>
          </p:sp>
          <p:sp>
            <p:nvSpPr>
              <p:cNvPr id="376" name="Rounded Rectangle 55">
                <a:extLst>
                  <a:ext uri="{FF2B5EF4-FFF2-40B4-BE49-F238E27FC236}">
                    <a16:creationId xmlns:a16="http://schemas.microsoft.com/office/drawing/2014/main" id="{BBE9C790-1A30-19CE-497E-FCC2B3F295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354" y="4062008"/>
                <a:ext cx="735427" cy="616214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Gas</a:t>
                </a:r>
                <a:b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</a:b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Processing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Facility 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(60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barg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)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500 MMscfd</a:t>
                </a:r>
              </a:p>
            </p:txBody>
          </p:sp>
          <p:sp>
            <p:nvSpPr>
              <p:cNvPr id="377" name="TextBox 149">
                <a:extLst>
                  <a:ext uri="{FF2B5EF4-FFF2-40B4-BE49-F238E27FC236}">
                    <a16:creationId xmlns:a16="http://schemas.microsoft.com/office/drawing/2014/main" id="{50976438-F1F2-52F1-BDE7-033725310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58779" y="5046022"/>
                <a:ext cx="832063" cy="1128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Brass FLNG</a:t>
                </a:r>
              </a:p>
            </p:txBody>
          </p:sp>
        </p:grpSp>
      </p:grp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B1D943B-8278-E1CB-5352-51D4E745E578}"/>
              </a:ext>
            </a:extLst>
          </p:cNvPr>
          <p:cNvSpPr/>
          <p:nvPr/>
        </p:nvSpPr>
        <p:spPr>
          <a:xfrm>
            <a:off x="7496398" y="2824465"/>
            <a:ext cx="106218" cy="89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E52A60AD-08A1-D437-E51A-3C3B76E7204E}"/>
              </a:ext>
            </a:extLst>
          </p:cNvPr>
          <p:cNvSpPr txBox="1"/>
          <p:nvPr/>
        </p:nvSpPr>
        <p:spPr>
          <a:xfrm>
            <a:off x="50610" y="2500009"/>
            <a:ext cx="1532065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OKNU Manifold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20” x 85km OKNU-BBOU P/L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BBOU Manifold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24” x 8km BBOU-ELEP P/L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ELEP Manifold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28” x 32km ELEP-AKAB P/L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PLEM at AKAB</a:t>
            </a:r>
            <a:endParaRPr kumimoji="0" lang="en-NG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628BA439-E9E6-CA47-0927-241ACA545908}"/>
              </a:ext>
            </a:extLst>
          </p:cNvPr>
          <p:cNvSpPr txBox="1"/>
          <p:nvPr/>
        </p:nvSpPr>
        <p:spPr>
          <a:xfrm>
            <a:off x="47359" y="562759"/>
            <a:ext cx="16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CCCFF"/>
                </a:highlight>
                <a:uLnTx/>
                <a:uFillTx/>
                <a:latin typeface="Futura Std Book" panose="020B0502020204020303"/>
                <a:ea typeface="+mn-ea"/>
                <a:cs typeface="Arial" charset="0"/>
              </a:rPr>
              <a:t>Facilities West of River Niger</a:t>
            </a:r>
            <a:endParaRPr kumimoji="0" lang="x-non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CCCCFF"/>
              </a:highlight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sp>
        <p:nvSpPr>
          <p:cNvPr id="382" name="TextBox 156">
            <a:extLst>
              <a:ext uri="{FF2B5EF4-FFF2-40B4-BE49-F238E27FC236}">
                <a16:creationId xmlns:a16="http://schemas.microsoft.com/office/drawing/2014/main" id="{401CFC5A-D80C-8762-58EB-30D0656AC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833" y="5257800"/>
            <a:ext cx="40216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af-ZA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Pressure required at Gas Plant inlet: 60 barg</a:t>
            </a:r>
            <a:endParaRPr kumimoji="0" lang="en-US" altLang="af-ZA" sz="1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sp>
        <p:nvSpPr>
          <p:cNvPr id="385" name="TextBox 135">
            <a:extLst>
              <a:ext uri="{FF2B5EF4-FFF2-40B4-BE49-F238E27FC236}">
                <a16:creationId xmlns:a16="http://schemas.microsoft.com/office/drawing/2014/main" id="{47731002-7804-6BAD-A400-346817671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4832" y="5819552"/>
            <a:ext cx="609600" cy="19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Condensate</a:t>
            </a:r>
          </a:p>
        </p:txBody>
      </p:sp>
      <p:sp>
        <p:nvSpPr>
          <p:cNvPr id="386" name="TextBox 69">
            <a:extLst>
              <a:ext uri="{FF2B5EF4-FFF2-40B4-BE49-F238E27FC236}">
                <a16:creationId xmlns:a16="http://schemas.microsoft.com/office/drawing/2014/main" id="{8C2EC6A0-B43E-3206-69C4-30E270D09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548" y="-15875"/>
            <a:ext cx="78822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RAEC 200 MMscfd Gas Supply From OKNU For The DSV Gas Hub</a:t>
            </a:r>
            <a:br>
              <a:rPr kumimoji="0" lang="en-US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</a:br>
            <a:r>
              <a:rPr kumimoji="0" lang="en-US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Alongside RAEC Phase-1 GSPA 270 MMscfd Gas Supply to the BFPCL Gas Processing Plant</a:t>
            </a:r>
            <a:endParaRPr kumimoji="0" lang="en-US" altLang="en-US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455C5-5392-05EA-B192-99BEB09CD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1" y="555963"/>
            <a:ext cx="4267193" cy="3139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77F94A-4114-17AD-26BD-1447197F7E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025" y="921503"/>
            <a:ext cx="1759975" cy="29914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5A814F-B183-6EC0-A4C5-2A5045E9C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8635" y="715027"/>
            <a:ext cx="783000" cy="207749"/>
          </a:xfrm>
          <a:prstGeom prst="rect">
            <a:avLst/>
          </a:prstGeom>
          <a:noFill/>
          <a:ln w="12700">
            <a:solidFill>
              <a:srgbClr val="00CC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SITE PLAN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2F3A35F5-5001-14DA-FFEA-A108E9F794E1}"/>
              </a:ext>
            </a:extLst>
          </p:cNvPr>
          <p:cNvCxnSpPr>
            <a:cxnSpLocks/>
          </p:cNvCxnSpPr>
          <p:nvPr/>
        </p:nvCxnSpPr>
        <p:spPr>
          <a:xfrm flipH="1">
            <a:off x="7385117" y="838200"/>
            <a:ext cx="1050646" cy="2577252"/>
          </a:xfrm>
          <a:prstGeom prst="straightConnector1">
            <a:avLst/>
          </a:prstGeom>
          <a:ln w="12700">
            <a:solidFill>
              <a:srgbClr val="00B05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Box 135">
            <a:extLst>
              <a:ext uri="{FF2B5EF4-FFF2-40B4-BE49-F238E27FC236}">
                <a16:creationId xmlns:a16="http://schemas.microsoft.com/office/drawing/2014/main" id="{CE78DCB9-B42C-E402-A09D-1AC1D1F2C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4" y="1660649"/>
            <a:ext cx="1532068" cy="66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Slug Catcher Concept Provision, c/w: Liquid Processing / Water Disposal System.</a:t>
            </a:r>
          </a:p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(Located at OKNU or BBOU or ELEP), or at AKAB, subject to </a:t>
            </a:r>
            <a:r>
              <a:rPr kumimoji="0" lang="en-US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benefit analysis</a:t>
            </a:r>
            <a:endParaRPr kumimoji="0" lang="en-US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sp>
        <p:nvSpPr>
          <p:cNvPr id="5" name="TextBox 156">
            <a:extLst>
              <a:ext uri="{FF2B5EF4-FFF2-40B4-BE49-F238E27FC236}">
                <a16:creationId xmlns:a16="http://schemas.microsoft.com/office/drawing/2014/main" id="{B56BB6B3-B8A4-C78C-A40B-C3B3F7FB1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9020" y="4348922"/>
            <a:ext cx="731736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af-ZA" sz="700" dirty="0">
                <a:solidFill>
                  <a:prstClr val="black"/>
                </a:solidFill>
                <a:highlight>
                  <a:srgbClr val="FFFF00"/>
                </a:highlight>
                <a:latin typeface="Futura Std Book" panose="020B0502020204020303"/>
              </a:rPr>
              <a:t>29</a:t>
            </a:r>
            <a:r>
              <a:rPr kumimoji="0" lang="en-US" altLang="af-ZA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utura Std Book" panose="020B0502020204020303"/>
                <a:ea typeface="+mn-ea"/>
                <a:cs typeface="Arial" charset="0"/>
              </a:rPr>
              <a:t>0 MMscfd</a:t>
            </a:r>
          </a:p>
        </p:txBody>
      </p:sp>
      <p:sp>
        <p:nvSpPr>
          <p:cNvPr id="14" name="TextBox 156">
            <a:extLst>
              <a:ext uri="{FF2B5EF4-FFF2-40B4-BE49-F238E27FC236}">
                <a16:creationId xmlns:a16="http://schemas.microsoft.com/office/drawing/2014/main" id="{F1EF781C-2749-3FCF-AD35-9FB1AD631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039" y="4856722"/>
            <a:ext cx="159163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af-ZA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P/L Scope Limit</a:t>
            </a:r>
            <a:endParaRPr kumimoji="0" lang="en-US" altLang="af-ZA" sz="15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2B8B85-ADAE-F047-4406-CFEC69CCAE5E}"/>
              </a:ext>
            </a:extLst>
          </p:cNvPr>
          <p:cNvCxnSpPr>
            <a:cxnSpLocks/>
          </p:cNvCxnSpPr>
          <p:nvPr/>
        </p:nvCxnSpPr>
        <p:spPr>
          <a:xfrm rot="-60000">
            <a:off x="1603390" y="5043121"/>
            <a:ext cx="1620000" cy="16877"/>
          </a:xfrm>
          <a:prstGeom prst="line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585B99-29D3-97CF-AD32-00D79C1DE1A7}"/>
              </a:ext>
            </a:extLst>
          </p:cNvPr>
          <p:cNvCxnSpPr>
            <a:cxnSpLocks/>
          </p:cNvCxnSpPr>
          <p:nvPr/>
        </p:nvCxnSpPr>
        <p:spPr>
          <a:xfrm rot="60000" flipH="1">
            <a:off x="4750660" y="5026412"/>
            <a:ext cx="1368000" cy="16877"/>
          </a:xfrm>
          <a:prstGeom prst="line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Box 103">
            <a:extLst>
              <a:ext uri="{FF2B5EF4-FFF2-40B4-BE49-F238E27FC236}">
                <a16:creationId xmlns:a16="http://schemas.microsoft.com/office/drawing/2014/main" id="{8231449E-B9C0-E7BC-D465-E091D68E4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99" y="4794151"/>
            <a:ext cx="1469145" cy="60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Pipeline diameters are provisional, pending FP Survey of new Pipeline Route, and update of the existing Pipeline Route</a:t>
            </a:r>
          </a:p>
        </p:txBody>
      </p:sp>
    </p:spTree>
    <p:extLst>
      <p:ext uri="{BB962C8B-B14F-4D97-AF65-F5344CB8AC3E}">
        <p14:creationId xmlns:p14="http://schemas.microsoft.com/office/powerpoint/2010/main" val="2815860451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CD8D6-E0A1-F663-0B35-3C1E69A87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340A69C7-606A-9E52-B6D9-9079BE0644D8}"/>
              </a:ext>
            </a:extLst>
          </p:cNvPr>
          <p:cNvCxnSpPr>
            <a:cxnSpLocks/>
          </p:cNvCxnSpPr>
          <p:nvPr/>
        </p:nvCxnSpPr>
        <p:spPr>
          <a:xfrm>
            <a:off x="4433056" y="3540417"/>
            <a:ext cx="1027621" cy="279066"/>
          </a:xfrm>
          <a:prstGeom prst="bentConnector3">
            <a:avLst>
              <a:gd name="adj1" fmla="val 5631"/>
            </a:avLst>
          </a:prstGeom>
          <a:ln w="508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3" name="Group 655">
            <a:extLst>
              <a:ext uri="{FF2B5EF4-FFF2-40B4-BE49-F238E27FC236}">
                <a16:creationId xmlns:a16="http://schemas.microsoft.com/office/drawing/2014/main" id="{0C835022-F8B7-1039-F008-D600D7F53345}"/>
              </a:ext>
            </a:extLst>
          </p:cNvPr>
          <p:cNvGrpSpPr>
            <a:grpSpLocks/>
          </p:cNvGrpSpPr>
          <p:nvPr/>
        </p:nvGrpSpPr>
        <p:grpSpPr bwMode="auto">
          <a:xfrm>
            <a:off x="3339381" y="2791413"/>
            <a:ext cx="675665" cy="216534"/>
            <a:chOff x="7620000" y="2768520"/>
            <a:chExt cx="968237" cy="309036"/>
          </a:xfrm>
        </p:grpSpPr>
        <p:grpSp>
          <p:nvGrpSpPr>
            <p:cNvPr id="4" name="Group 657">
              <a:extLst>
                <a:ext uri="{FF2B5EF4-FFF2-40B4-BE49-F238E27FC236}">
                  <a16:creationId xmlns:a16="http://schemas.microsoft.com/office/drawing/2014/main" id="{C47324E1-1873-3B11-2168-27E32E568F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0" y="2768520"/>
              <a:ext cx="968237" cy="309036"/>
              <a:chOff x="7620000" y="2768520"/>
              <a:chExt cx="968237" cy="309036"/>
            </a:xfrm>
          </p:grpSpPr>
          <p:sp>
            <p:nvSpPr>
              <p:cNvPr id="6" name="TextBox 732">
                <a:extLst>
                  <a:ext uri="{FF2B5EF4-FFF2-40B4-BE49-F238E27FC236}">
                    <a16:creationId xmlns:a16="http://schemas.microsoft.com/office/drawing/2014/main" id="{00638B21-29A1-4F2B-2E99-69FCBEE999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75450" y="2768520"/>
                <a:ext cx="712787" cy="3090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af-ZA" sz="807" dirty="0">
                    <a:solidFill>
                      <a:srgbClr val="FF0000"/>
                    </a:solidFill>
                    <a:latin typeface="Futura Std Book" pitchFamily="34" charset="0"/>
                    <a:cs typeface="Aharoni" pitchFamily="2" charset="-79"/>
                  </a:rPr>
                  <a:t> CTP</a:t>
                </a:r>
              </a:p>
            </p:txBody>
          </p:sp>
          <p:grpSp>
            <p:nvGrpSpPr>
              <p:cNvPr id="7" name="Group 662">
                <a:extLst>
                  <a:ext uri="{FF2B5EF4-FFF2-40B4-BE49-F238E27FC236}">
                    <a16:creationId xmlns:a16="http://schemas.microsoft.com/office/drawing/2014/main" id="{27BECB22-2ACD-F448-B02F-F8DB97E9CF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0000" y="2819320"/>
                <a:ext cx="347663" cy="164429"/>
                <a:chOff x="8084132" y="2347198"/>
                <a:chExt cx="347663" cy="164429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78DCDACA-018C-4C7D-9E3A-C5F417040E15}"/>
                    </a:ext>
                  </a:extLst>
                </p:cNvPr>
                <p:cNvCxnSpPr/>
                <p:nvPr/>
              </p:nvCxnSpPr>
              <p:spPr bwMode="auto">
                <a:xfrm>
                  <a:off x="8084132" y="2438897"/>
                  <a:ext cx="158750" cy="0"/>
                </a:xfrm>
                <a:prstGeom prst="line">
                  <a:avLst/>
                </a:prstGeom>
                <a:ln w="381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9" name="Rounded Rectangle 735">
                  <a:extLst>
                    <a:ext uri="{FF2B5EF4-FFF2-40B4-BE49-F238E27FC236}">
                      <a16:creationId xmlns:a16="http://schemas.microsoft.com/office/drawing/2014/main" id="{59C5BEA1-431D-C260-C921-2939031DB753}"/>
                    </a:ext>
                  </a:extLst>
                </p:cNvPr>
                <p:cNvSpPr/>
                <p:nvPr/>
              </p:nvSpPr>
              <p:spPr bwMode="auto">
                <a:xfrm>
                  <a:off x="8249232" y="2347197"/>
                  <a:ext cx="182562" cy="164428"/>
                </a:xfrm>
                <a:prstGeom prst="roundRect">
                  <a:avLst/>
                </a:prstGeom>
                <a:solidFill>
                  <a:srgbClr val="FFC000"/>
                </a:solidFill>
                <a:ln w="12700">
                  <a:solidFill>
                    <a:srgbClr val="99663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613">
                    <a:latin typeface="Futura Std Book" pitchFamily="34" charset="0"/>
                  </a:endParaRPr>
                </a:p>
              </p:txBody>
            </p:sp>
          </p:grpSp>
        </p:grpSp>
        <p:sp>
          <p:nvSpPr>
            <p:cNvPr id="5" name="TextBox 1002">
              <a:extLst>
                <a:ext uri="{FF2B5EF4-FFF2-40B4-BE49-F238E27FC236}">
                  <a16:creationId xmlns:a16="http://schemas.microsoft.com/office/drawing/2014/main" id="{23AB1361-8E8F-1075-636B-80D182FB8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774928"/>
              <a:ext cx="205956" cy="289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af-ZA" sz="717" b="1" dirty="0">
                  <a:latin typeface="Futura Std Book" pitchFamily="34" charset="0"/>
                </a:rPr>
                <a:t>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A95F37-1090-87EB-0D17-7D570B056283}"/>
              </a:ext>
            </a:extLst>
          </p:cNvPr>
          <p:cNvGrpSpPr/>
          <p:nvPr/>
        </p:nvGrpSpPr>
        <p:grpSpPr>
          <a:xfrm>
            <a:off x="3249041" y="3302274"/>
            <a:ext cx="1611478" cy="258380"/>
            <a:chOff x="4052832" y="4534999"/>
            <a:chExt cx="1798670" cy="28839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CA14F6-AA06-8752-7357-0F6B563EE209}"/>
                </a:ext>
              </a:extLst>
            </p:cNvPr>
            <p:cNvCxnSpPr>
              <a:cxnSpLocks/>
            </p:cNvCxnSpPr>
            <p:nvPr/>
          </p:nvCxnSpPr>
          <p:spPr>
            <a:xfrm>
              <a:off x="4052832" y="4709342"/>
              <a:ext cx="1162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4E0CF5-DBA4-7240-9623-9EC3DBB8C159}"/>
                </a:ext>
              </a:extLst>
            </p:cNvPr>
            <p:cNvCxnSpPr/>
            <p:nvPr/>
          </p:nvCxnSpPr>
          <p:spPr>
            <a:xfrm>
              <a:off x="4060538" y="4657410"/>
              <a:ext cx="1162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grpSp>
          <p:nvGrpSpPr>
            <p:cNvPr id="13" name="Group 409">
              <a:extLst>
                <a:ext uri="{FF2B5EF4-FFF2-40B4-BE49-F238E27FC236}">
                  <a16:creationId xmlns:a16="http://schemas.microsoft.com/office/drawing/2014/main" id="{01F353C0-AD86-E6B2-A576-66B37EBD27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9909" y="4534999"/>
              <a:ext cx="1761593" cy="288394"/>
              <a:chOff x="4187337" y="7725696"/>
              <a:chExt cx="3006021" cy="350676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89E713B-EDA7-B909-6FD9-4BD131E5F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9810" y="7952936"/>
                <a:ext cx="0" cy="123436"/>
              </a:xfrm>
              <a:prstGeom prst="line">
                <a:avLst/>
              </a:prstGeom>
              <a:ln w="50800">
                <a:solidFill>
                  <a:srgbClr val="99FF6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923003-BB49-47B2-31E8-7195FA351547}"/>
                  </a:ext>
                </a:extLst>
              </p:cNvPr>
              <p:cNvCxnSpPr/>
              <p:nvPr/>
            </p:nvCxnSpPr>
            <p:spPr>
              <a:xfrm rot="5400000">
                <a:off x="4154328" y="7801178"/>
                <a:ext cx="150964" cy="0"/>
              </a:xfrm>
              <a:prstGeom prst="line">
                <a:avLst/>
              </a:prstGeom>
              <a:ln w="508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E1166D4-D510-84F6-0BE5-D0EC7479AF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7337" y="8048674"/>
                <a:ext cx="3006021" cy="0"/>
              </a:xfrm>
              <a:prstGeom prst="line">
                <a:avLst/>
              </a:prstGeom>
              <a:ln w="50800">
                <a:solidFill>
                  <a:srgbClr val="99FF66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908371-4B17-9E93-27CC-A1F03A35E145}"/>
              </a:ext>
            </a:extLst>
          </p:cNvPr>
          <p:cNvCxnSpPr/>
          <p:nvPr/>
        </p:nvCxnSpPr>
        <p:spPr bwMode="auto">
          <a:xfrm>
            <a:off x="3203121" y="2906782"/>
            <a:ext cx="0" cy="321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BD669C-045E-931A-CB3A-07C509A59D74}"/>
              </a:ext>
            </a:extLst>
          </p:cNvPr>
          <p:cNvCxnSpPr/>
          <p:nvPr/>
        </p:nvCxnSpPr>
        <p:spPr bwMode="auto">
          <a:xfrm>
            <a:off x="2985990" y="2890165"/>
            <a:ext cx="0" cy="64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37AA69F-F9B1-E9A9-F59D-4A026446744C}"/>
              </a:ext>
            </a:extLst>
          </p:cNvPr>
          <p:cNvSpPr>
            <a:spLocks/>
          </p:cNvSpPr>
          <p:nvPr/>
        </p:nvSpPr>
        <p:spPr bwMode="auto">
          <a:xfrm rot="16200000">
            <a:off x="3137760" y="2527914"/>
            <a:ext cx="127399" cy="433151"/>
          </a:xfrm>
          <a:prstGeom prst="rect">
            <a:avLst/>
          </a:prstGeom>
          <a:solidFill>
            <a:srgbClr val="99FF66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1613" dirty="0">
              <a:latin typeface="Futura Std Book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2DE1F2-D150-103D-FD2F-3E4B17A2A324}"/>
              </a:ext>
            </a:extLst>
          </p:cNvPr>
          <p:cNvCxnSpPr/>
          <p:nvPr/>
        </p:nvCxnSpPr>
        <p:spPr bwMode="auto">
          <a:xfrm>
            <a:off x="3200905" y="2812619"/>
            <a:ext cx="0" cy="321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1C100D-B980-DDBF-A574-6B54731BE130}"/>
              </a:ext>
            </a:extLst>
          </p:cNvPr>
          <p:cNvCxnSpPr/>
          <p:nvPr/>
        </p:nvCxnSpPr>
        <p:spPr bwMode="auto">
          <a:xfrm>
            <a:off x="3146623" y="2860253"/>
            <a:ext cx="10413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C439888-F74D-59E7-189D-DEA4A7EEA531}"/>
              </a:ext>
            </a:extLst>
          </p:cNvPr>
          <p:cNvCxnSpPr/>
          <p:nvPr/>
        </p:nvCxnSpPr>
        <p:spPr bwMode="auto">
          <a:xfrm>
            <a:off x="3149947" y="2915644"/>
            <a:ext cx="1041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3" name="TextBox 133">
            <a:extLst>
              <a:ext uri="{FF2B5EF4-FFF2-40B4-BE49-F238E27FC236}">
                <a16:creationId xmlns:a16="http://schemas.microsoft.com/office/drawing/2014/main" id="{407C3F00-2247-56DF-6930-C836FAD2C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50" y="2655165"/>
            <a:ext cx="434208" cy="202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717" dirty="0">
                <a:latin typeface="Futura Std Book" pitchFamily="34" charset="0"/>
              </a:rPr>
              <a:t>ELEP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805B68-88D2-506F-8CEE-FC5C6797F14B}"/>
              </a:ext>
            </a:extLst>
          </p:cNvPr>
          <p:cNvSpPr>
            <a:spLocks/>
          </p:cNvSpPr>
          <p:nvPr/>
        </p:nvSpPr>
        <p:spPr bwMode="auto">
          <a:xfrm rot="16200000">
            <a:off x="3014239" y="2933926"/>
            <a:ext cx="374439" cy="43315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1613" dirty="0">
              <a:solidFill>
                <a:schemeClr val="tx1"/>
              </a:solidFill>
              <a:latin typeface="Futura Std Book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3D9519-8C35-08B9-30BB-E802EB6B95B1}"/>
              </a:ext>
            </a:extLst>
          </p:cNvPr>
          <p:cNvCxnSpPr/>
          <p:nvPr/>
        </p:nvCxnSpPr>
        <p:spPr bwMode="auto">
          <a:xfrm>
            <a:off x="2982668" y="2891272"/>
            <a:ext cx="436475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692383-123D-9A60-1736-B6986F0049F7}"/>
              </a:ext>
            </a:extLst>
          </p:cNvPr>
          <p:cNvCxnSpPr/>
          <p:nvPr/>
        </p:nvCxnSpPr>
        <p:spPr bwMode="auto">
          <a:xfrm>
            <a:off x="3419142" y="2890165"/>
            <a:ext cx="0" cy="64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5E39A6-DA26-8014-6989-2CEA23C53113}"/>
              </a:ext>
            </a:extLst>
          </p:cNvPr>
          <p:cNvCxnSpPr/>
          <p:nvPr/>
        </p:nvCxnSpPr>
        <p:spPr bwMode="auto">
          <a:xfrm>
            <a:off x="2984882" y="2821482"/>
            <a:ext cx="0" cy="6868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CBF252-2E7A-B7D8-7F63-9E25749C486F}"/>
              </a:ext>
            </a:extLst>
          </p:cNvPr>
          <p:cNvCxnSpPr/>
          <p:nvPr/>
        </p:nvCxnSpPr>
        <p:spPr bwMode="auto">
          <a:xfrm>
            <a:off x="3419143" y="2809296"/>
            <a:ext cx="0" cy="6979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0" name="TextBox 704">
            <a:extLst>
              <a:ext uri="{FF2B5EF4-FFF2-40B4-BE49-F238E27FC236}">
                <a16:creationId xmlns:a16="http://schemas.microsoft.com/office/drawing/2014/main" id="{6AE84780-E493-FEE6-0E3C-FC27D5C10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727" y="2957742"/>
            <a:ext cx="4763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dirty="0">
                <a:latin typeface="Futura Std Book" pitchFamily="34" charset="0"/>
              </a:rPr>
              <a:t>ELEP</a:t>
            </a:r>
          </a:p>
          <a:p>
            <a:pPr algn="ctr" eaLnBrk="1" hangingPunct="1"/>
            <a:r>
              <a:rPr lang="en-US" altLang="af-ZA" sz="800" dirty="0">
                <a:latin typeface="Futura Std Book" pitchFamily="34" charset="0"/>
              </a:rPr>
              <a:t> E-MF</a:t>
            </a:r>
          </a:p>
        </p:txBody>
      </p:sp>
      <p:sp>
        <p:nvSpPr>
          <p:cNvPr id="31" name="TextBox 156">
            <a:extLst>
              <a:ext uri="{FF2B5EF4-FFF2-40B4-BE49-F238E27FC236}">
                <a16:creationId xmlns:a16="http://schemas.microsoft.com/office/drawing/2014/main" id="{DEE20FA9-7DEF-6A3C-013B-6F44819E7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066" y="3541536"/>
            <a:ext cx="98825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u="sng" dirty="0">
                <a:latin typeface="Futura Std Book" pitchFamily="34" charset="0"/>
              </a:rPr>
              <a:t>28’’ x 32km</a:t>
            </a:r>
          </a:p>
        </p:txBody>
      </p:sp>
      <p:sp>
        <p:nvSpPr>
          <p:cNvPr id="32" name="TextBox 156">
            <a:extLst>
              <a:ext uri="{FF2B5EF4-FFF2-40B4-BE49-F238E27FC236}">
                <a16:creationId xmlns:a16="http://schemas.microsoft.com/office/drawing/2014/main" id="{7120227E-6260-E679-62C3-EBE17AE54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136" y="3322606"/>
            <a:ext cx="8504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dirty="0">
                <a:highlight>
                  <a:srgbClr val="FFFF00"/>
                </a:highlight>
                <a:latin typeface="Futura Std Book" pitchFamily="34" charset="0"/>
              </a:rPr>
              <a:t>470 MMscfd </a:t>
            </a:r>
          </a:p>
        </p:txBody>
      </p:sp>
      <p:sp>
        <p:nvSpPr>
          <p:cNvPr id="33" name="TextBox 155">
            <a:extLst>
              <a:ext uri="{FF2B5EF4-FFF2-40B4-BE49-F238E27FC236}">
                <a16:creationId xmlns:a16="http://schemas.microsoft.com/office/drawing/2014/main" id="{C351DB46-C753-B18A-9ACB-FB34C22DA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078" y="3109977"/>
            <a:ext cx="78484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u="sng" dirty="0">
                <a:latin typeface="Futura Std Book" pitchFamily="34" charset="0"/>
              </a:rPr>
              <a:t>24” x 8km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927CC2-6446-3D72-0AEF-4CA3BEBE069C}"/>
              </a:ext>
            </a:extLst>
          </p:cNvPr>
          <p:cNvSpPr>
            <a:spLocks/>
          </p:cNvSpPr>
          <p:nvPr/>
        </p:nvSpPr>
        <p:spPr bwMode="auto">
          <a:xfrm rot="16200000">
            <a:off x="1440074" y="2676846"/>
            <a:ext cx="319048" cy="43315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1613" dirty="0">
              <a:solidFill>
                <a:schemeClr val="accent2"/>
              </a:solidFill>
              <a:latin typeface="Futura Std Book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CD5E50-59CD-BF94-907B-72226AC33787}"/>
              </a:ext>
            </a:extLst>
          </p:cNvPr>
          <p:cNvCxnSpPr/>
          <p:nvPr/>
        </p:nvCxnSpPr>
        <p:spPr bwMode="auto">
          <a:xfrm>
            <a:off x="1621189" y="2692919"/>
            <a:ext cx="0" cy="35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3A73E3-6DBC-EA8D-B884-E6F2C1E21118}"/>
              </a:ext>
            </a:extLst>
          </p:cNvPr>
          <p:cNvCxnSpPr/>
          <p:nvPr/>
        </p:nvCxnSpPr>
        <p:spPr bwMode="auto">
          <a:xfrm>
            <a:off x="1388961" y="2666332"/>
            <a:ext cx="0" cy="697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4F9E8E3-629D-CB32-D863-5F5151A52D96}"/>
              </a:ext>
            </a:extLst>
          </p:cNvPr>
          <p:cNvSpPr>
            <a:spLocks/>
          </p:cNvSpPr>
          <p:nvPr/>
        </p:nvSpPr>
        <p:spPr bwMode="auto">
          <a:xfrm rot="16200000">
            <a:off x="1532564" y="2325127"/>
            <a:ext cx="138476" cy="428722"/>
          </a:xfrm>
          <a:prstGeom prst="rect">
            <a:avLst/>
          </a:prstGeom>
          <a:solidFill>
            <a:srgbClr val="99FF66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1613" dirty="0">
              <a:latin typeface="Futura Std Book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6EDEC29-E68B-5A65-14FD-60DD2D8F91EA}"/>
              </a:ext>
            </a:extLst>
          </p:cNvPr>
          <p:cNvCxnSpPr/>
          <p:nvPr/>
        </p:nvCxnSpPr>
        <p:spPr bwMode="auto">
          <a:xfrm>
            <a:off x="1554722" y="2650821"/>
            <a:ext cx="963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AD03297-02F4-666C-31A0-8FC0832A2B08}"/>
              </a:ext>
            </a:extLst>
          </p:cNvPr>
          <p:cNvCxnSpPr/>
          <p:nvPr/>
        </p:nvCxnSpPr>
        <p:spPr bwMode="auto">
          <a:xfrm>
            <a:off x="1556937" y="2690703"/>
            <a:ext cx="963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0" name="TextBox 133">
            <a:extLst>
              <a:ext uri="{FF2B5EF4-FFF2-40B4-BE49-F238E27FC236}">
                <a16:creationId xmlns:a16="http://schemas.microsoft.com/office/drawing/2014/main" id="{F9F08D99-B3ED-82B6-F968-3AF087B98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169" y="2434849"/>
            <a:ext cx="468279" cy="202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717" dirty="0">
                <a:latin typeface="Futura Std Book" pitchFamily="34" charset="0"/>
              </a:rPr>
              <a:t>BBOU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749F12-D25C-D654-6ED8-7725D90C258E}"/>
              </a:ext>
            </a:extLst>
          </p:cNvPr>
          <p:cNvCxnSpPr/>
          <p:nvPr/>
        </p:nvCxnSpPr>
        <p:spPr bwMode="auto">
          <a:xfrm>
            <a:off x="1387442" y="2664115"/>
            <a:ext cx="427615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C92D37B-07C4-65ED-C3C9-08AA6D46D207}"/>
              </a:ext>
            </a:extLst>
          </p:cNvPr>
          <p:cNvCxnSpPr/>
          <p:nvPr/>
        </p:nvCxnSpPr>
        <p:spPr bwMode="auto">
          <a:xfrm>
            <a:off x="1816575" y="2666332"/>
            <a:ext cx="0" cy="697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787B72-ECF6-E69E-5B5D-D90B2CE7862A}"/>
              </a:ext>
            </a:extLst>
          </p:cNvPr>
          <p:cNvCxnSpPr/>
          <p:nvPr/>
        </p:nvCxnSpPr>
        <p:spPr bwMode="auto">
          <a:xfrm>
            <a:off x="1389247" y="2603185"/>
            <a:ext cx="0" cy="6757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F94890B-568E-17D1-5C55-DC605B8AC290}"/>
              </a:ext>
            </a:extLst>
          </p:cNvPr>
          <p:cNvCxnSpPr/>
          <p:nvPr/>
        </p:nvCxnSpPr>
        <p:spPr bwMode="auto">
          <a:xfrm>
            <a:off x="1816860" y="2599864"/>
            <a:ext cx="0" cy="675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A8D9537-4AC1-A04E-0A64-FDA37F533800}"/>
              </a:ext>
            </a:extLst>
          </p:cNvPr>
          <p:cNvCxnSpPr/>
          <p:nvPr/>
        </p:nvCxnSpPr>
        <p:spPr>
          <a:xfrm>
            <a:off x="1607906" y="2605392"/>
            <a:ext cx="0" cy="387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6" name="TextBox 703">
            <a:extLst>
              <a:ext uri="{FF2B5EF4-FFF2-40B4-BE49-F238E27FC236}">
                <a16:creationId xmlns:a16="http://schemas.microsoft.com/office/drawing/2014/main" id="{F9CC3737-49A2-A7B7-EEA2-364257EB6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393" y="2747436"/>
            <a:ext cx="622587" cy="43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af-ZA" sz="800" dirty="0">
                <a:latin typeface="Futura Std Book" pitchFamily="34" charset="0"/>
              </a:rPr>
              <a:t>BBOU</a:t>
            </a:r>
          </a:p>
          <a:p>
            <a:pPr>
              <a:defRPr/>
            </a:pPr>
            <a:r>
              <a:rPr lang="en-US" altLang="af-ZA" sz="800" dirty="0">
                <a:latin typeface="Futura Std Book" pitchFamily="34" charset="0"/>
              </a:rPr>
              <a:t>S-MF</a:t>
            </a:r>
          </a:p>
          <a:p>
            <a:pPr>
              <a:defRPr/>
            </a:pPr>
            <a:r>
              <a:rPr lang="en-US" altLang="af-ZA" sz="627" dirty="0">
                <a:highlight>
                  <a:srgbClr val="FFFF00"/>
                </a:highlight>
                <a:latin typeface="Futura Std Book" pitchFamily="34" charset="0"/>
              </a:rPr>
              <a:t> </a:t>
            </a:r>
          </a:p>
        </p:txBody>
      </p:sp>
      <p:grpSp>
        <p:nvGrpSpPr>
          <p:cNvPr id="47" name="Group 655">
            <a:extLst>
              <a:ext uri="{FF2B5EF4-FFF2-40B4-BE49-F238E27FC236}">
                <a16:creationId xmlns:a16="http://schemas.microsoft.com/office/drawing/2014/main" id="{0641661A-3D31-C809-04D5-EF8C3A4D24C2}"/>
              </a:ext>
            </a:extLst>
          </p:cNvPr>
          <p:cNvGrpSpPr>
            <a:grpSpLocks/>
          </p:cNvGrpSpPr>
          <p:nvPr/>
        </p:nvGrpSpPr>
        <p:grpSpPr bwMode="auto">
          <a:xfrm>
            <a:off x="1733087" y="2566344"/>
            <a:ext cx="669814" cy="216534"/>
            <a:chOff x="7620000" y="2769912"/>
            <a:chExt cx="959851" cy="309033"/>
          </a:xfrm>
        </p:grpSpPr>
        <p:grpSp>
          <p:nvGrpSpPr>
            <p:cNvPr id="48" name="Group 657">
              <a:extLst>
                <a:ext uri="{FF2B5EF4-FFF2-40B4-BE49-F238E27FC236}">
                  <a16:creationId xmlns:a16="http://schemas.microsoft.com/office/drawing/2014/main" id="{116DBBD8-154C-5CC7-F39A-E31DB89E1B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0" y="2769912"/>
              <a:ext cx="959851" cy="309033"/>
              <a:chOff x="7620000" y="2769912"/>
              <a:chExt cx="959851" cy="309033"/>
            </a:xfrm>
          </p:grpSpPr>
          <p:sp>
            <p:nvSpPr>
              <p:cNvPr id="50" name="TextBox 471">
                <a:extLst>
                  <a:ext uri="{FF2B5EF4-FFF2-40B4-BE49-F238E27FC236}">
                    <a16:creationId xmlns:a16="http://schemas.microsoft.com/office/drawing/2014/main" id="{AEC91BAC-1EAB-4445-41B7-4EE5494E67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67064" y="2769912"/>
                <a:ext cx="712787" cy="3090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af-ZA" sz="807" dirty="0">
                    <a:solidFill>
                      <a:srgbClr val="FF0000"/>
                    </a:solidFill>
                    <a:latin typeface="Futura Std Book" pitchFamily="34" charset="0"/>
                    <a:cs typeface="Aharoni" pitchFamily="2" charset="-79"/>
                  </a:rPr>
                  <a:t> CTP</a:t>
                </a:r>
              </a:p>
            </p:txBody>
          </p:sp>
          <p:grpSp>
            <p:nvGrpSpPr>
              <p:cNvPr id="51" name="Group 662">
                <a:extLst>
                  <a:ext uri="{FF2B5EF4-FFF2-40B4-BE49-F238E27FC236}">
                    <a16:creationId xmlns:a16="http://schemas.microsoft.com/office/drawing/2014/main" id="{A8B7F81F-58F2-06F4-DEAD-1A1211D943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0000" y="2819320"/>
                <a:ext cx="347663" cy="164429"/>
                <a:chOff x="8084132" y="2347198"/>
                <a:chExt cx="347663" cy="164429"/>
              </a:xfrm>
            </p:grpSpPr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D697A17D-00E4-EBDC-9C4F-575520353DA7}"/>
                    </a:ext>
                  </a:extLst>
                </p:cNvPr>
                <p:cNvCxnSpPr/>
                <p:nvPr/>
              </p:nvCxnSpPr>
              <p:spPr bwMode="auto">
                <a:xfrm>
                  <a:off x="8084132" y="2438897"/>
                  <a:ext cx="158750" cy="0"/>
                </a:xfrm>
                <a:prstGeom prst="line">
                  <a:avLst/>
                </a:prstGeom>
                <a:ln w="381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53" name="Rounded Rectangle 371">
                  <a:extLst>
                    <a:ext uri="{FF2B5EF4-FFF2-40B4-BE49-F238E27FC236}">
                      <a16:creationId xmlns:a16="http://schemas.microsoft.com/office/drawing/2014/main" id="{44F62D47-147F-B7B1-E433-617F3BE04343}"/>
                    </a:ext>
                  </a:extLst>
                </p:cNvPr>
                <p:cNvSpPr/>
                <p:nvPr/>
              </p:nvSpPr>
              <p:spPr bwMode="auto">
                <a:xfrm>
                  <a:off x="8249232" y="2347197"/>
                  <a:ext cx="182562" cy="164428"/>
                </a:xfrm>
                <a:prstGeom prst="roundRect">
                  <a:avLst/>
                </a:prstGeom>
                <a:solidFill>
                  <a:srgbClr val="FFC000"/>
                </a:solidFill>
                <a:ln w="12700">
                  <a:solidFill>
                    <a:srgbClr val="99663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613">
                    <a:latin typeface="Futura Std Book" pitchFamily="34" charset="0"/>
                  </a:endParaRPr>
                </a:p>
              </p:txBody>
            </p:sp>
          </p:grpSp>
        </p:grpSp>
        <p:sp>
          <p:nvSpPr>
            <p:cNvPr id="49" name="TextBox 1002">
              <a:extLst>
                <a:ext uri="{FF2B5EF4-FFF2-40B4-BE49-F238E27FC236}">
                  <a16:creationId xmlns:a16="http://schemas.microsoft.com/office/drawing/2014/main" id="{78656DAD-470B-ADDE-9666-93913B064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399" y="2779800"/>
              <a:ext cx="205955" cy="289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af-ZA" sz="717" b="1" dirty="0">
                  <a:latin typeface="Futura Std Book" pitchFamily="34" charset="0"/>
                </a:rPr>
                <a:t>M</a:t>
              </a:r>
            </a:p>
          </p:txBody>
        </p:sp>
      </p:grpSp>
      <p:cxnSp>
        <p:nvCxnSpPr>
          <p:cNvPr id="54" name="Straight Arrow Connector 136">
            <a:extLst>
              <a:ext uri="{FF2B5EF4-FFF2-40B4-BE49-F238E27FC236}">
                <a16:creationId xmlns:a16="http://schemas.microsoft.com/office/drawing/2014/main" id="{8ED35164-837E-1EA0-75C9-F9B40117B96A}"/>
              </a:ext>
            </a:extLst>
          </p:cNvPr>
          <p:cNvCxnSpPr>
            <a:cxnSpLocks/>
          </p:cNvCxnSpPr>
          <p:nvPr/>
        </p:nvCxnSpPr>
        <p:spPr bwMode="auto">
          <a:xfrm>
            <a:off x="1990812" y="3119413"/>
            <a:ext cx="972000" cy="0"/>
          </a:xfrm>
          <a:prstGeom prst="straightConnector1">
            <a:avLst/>
          </a:prstGeom>
          <a:ln w="38100">
            <a:solidFill>
              <a:srgbClr val="99FF6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7B99174-A62B-401A-D1DF-4F6F0451B2C5}"/>
              </a:ext>
            </a:extLst>
          </p:cNvPr>
          <p:cNvCxnSpPr/>
          <p:nvPr/>
        </p:nvCxnSpPr>
        <p:spPr bwMode="auto">
          <a:xfrm flipH="1">
            <a:off x="1933600" y="2897853"/>
            <a:ext cx="76439" cy="0"/>
          </a:xfrm>
          <a:prstGeom prst="line">
            <a:avLst/>
          </a:prstGeom>
          <a:ln w="38100">
            <a:solidFill>
              <a:srgbClr val="99FF66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2263714-5C92-3889-A871-D5461CA1DA37}"/>
              </a:ext>
            </a:extLst>
          </p:cNvPr>
          <p:cNvCxnSpPr/>
          <p:nvPr/>
        </p:nvCxnSpPr>
        <p:spPr bwMode="auto">
          <a:xfrm rot="5400000" flipH="1" flipV="1">
            <a:off x="1893720" y="3001987"/>
            <a:ext cx="223777" cy="0"/>
          </a:xfrm>
          <a:prstGeom prst="line">
            <a:avLst/>
          </a:prstGeom>
          <a:ln w="38100">
            <a:solidFill>
              <a:srgbClr val="99FF66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57A5401-B6A1-949F-7359-621A0C9A3A42}"/>
              </a:ext>
            </a:extLst>
          </p:cNvPr>
          <p:cNvCxnSpPr/>
          <p:nvPr/>
        </p:nvCxnSpPr>
        <p:spPr bwMode="auto">
          <a:xfrm flipH="1">
            <a:off x="1825035" y="2897853"/>
            <a:ext cx="63145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D7C7FA-1D4A-2921-43A4-1076E72E095C}"/>
              </a:ext>
            </a:extLst>
          </p:cNvPr>
          <p:cNvCxnSpPr/>
          <p:nvPr/>
        </p:nvCxnSpPr>
        <p:spPr bwMode="auto">
          <a:xfrm rot="5400000" flipH="1">
            <a:off x="1863809" y="2896745"/>
            <a:ext cx="64252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A3AB98A-2E88-764B-981E-464269F28378}"/>
              </a:ext>
            </a:extLst>
          </p:cNvPr>
          <p:cNvCxnSpPr/>
          <p:nvPr/>
        </p:nvCxnSpPr>
        <p:spPr bwMode="auto">
          <a:xfrm rot="5400000" flipH="1">
            <a:off x="1907014" y="2900069"/>
            <a:ext cx="64252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A005C565-494E-B5C6-BD02-45FD2366A979}"/>
              </a:ext>
            </a:extLst>
          </p:cNvPr>
          <p:cNvSpPr/>
          <p:nvPr/>
        </p:nvSpPr>
        <p:spPr>
          <a:xfrm>
            <a:off x="2839927" y="2680059"/>
            <a:ext cx="124313" cy="124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7" dirty="0"/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2F24354-910F-53D2-1782-361A630A4C4B}"/>
              </a:ext>
            </a:extLst>
          </p:cNvPr>
          <p:cNvSpPr/>
          <p:nvPr/>
        </p:nvSpPr>
        <p:spPr>
          <a:xfrm>
            <a:off x="1239596" y="2465385"/>
            <a:ext cx="124313" cy="124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7" dirty="0"/>
              <a:t>1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0EEED2B-772C-6FFF-9433-1C721F0DDA0B}"/>
              </a:ext>
            </a:extLst>
          </p:cNvPr>
          <p:cNvGrpSpPr/>
          <p:nvPr/>
        </p:nvGrpSpPr>
        <p:grpSpPr>
          <a:xfrm>
            <a:off x="3094266" y="2504780"/>
            <a:ext cx="213466" cy="167854"/>
            <a:chOff x="1781818" y="3527862"/>
            <a:chExt cx="238262" cy="187352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14A3095-0CB0-E9F4-F036-2CCAD90D4592}"/>
                </a:ext>
              </a:extLst>
            </p:cNvPr>
            <p:cNvCxnSpPr/>
            <p:nvPr/>
          </p:nvCxnSpPr>
          <p:spPr bwMode="auto">
            <a:xfrm flipV="1">
              <a:off x="1985458" y="3561889"/>
              <a:ext cx="0" cy="15332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491A670-BA07-7FCE-BACF-10360DAD3E57}"/>
                </a:ext>
              </a:extLst>
            </p:cNvPr>
            <p:cNvSpPr/>
            <p:nvPr/>
          </p:nvSpPr>
          <p:spPr bwMode="auto">
            <a:xfrm>
              <a:off x="1960728" y="3527862"/>
              <a:ext cx="59352" cy="6429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13">
                <a:latin typeface="Futura Std Book" pitchFamily="34" charset="0"/>
              </a:endParaRP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3189BA4-C2E9-D87D-03E1-53E13B1221CE}"/>
                </a:ext>
              </a:extLst>
            </p:cNvPr>
            <p:cNvCxnSpPr/>
            <p:nvPr/>
          </p:nvCxnSpPr>
          <p:spPr bwMode="auto">
            <a:xfrm flipV="1">
              <a:off x="1815203" y="3558179"/>
              <a:ext cx="0" cy="15456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A1203CB-C97B-DA41-2069-62DB0DD1C945}"/>
                </a:ext>
              </a:extLst>
            </p:cNvPr>
            <p:cNvSpPr/>
            <p:nvPr/>
          </p:nvSpPr>
          <p:spPr bwMode="auto">
            <a:xfrm>
              <a:off x="1781818" y="3528456"/>
              <a:ext cx="59352" cy="6429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13">
                <a:latin typeface="Futura Std Book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4872289-EBD9-0F05-D90F-E177F9C806FB}"/>
              </a:ext>
            </a:extLst>
          </p:cNvPr>
          <p:cNvGrpSpPr/>
          <p:nvPr/>
        </p:nvGrpSpPr>
        <p:grpSpPr>
          <a:xfrm>
            <a:off x="1412440" y="2287766"/>
            <a:ext cx="375982" cy="176142"/>
            <a:chOff x="381000" y="2830538"/>
            <a:chExt cx="419657" cy="19660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8B798F0-929D-91B3-95CB-028C07DA9FB6}"/>
                </a:ext>
              </a:extLst>
            </p:cNvPr>
            <p:cNvGrpSpPr/>
            <p:nvPr/>
          </p:nvGrpSpPr>
          <p:grpSpPr>
            <a:xfrm>
              <a:off x="381000" y="2830538"/>
              <a:ext cx="64298" cy="196603"/>
              <a:chOff x="559898" y="2830538"/>
              <a:chExt cx="64298" cy="196603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647078C9-0E27-41D3-BBC8-C53CFE58A32A}"/>
                  </a:ext>
                </a:extLst>
              </p:cNvPr>
              <p:cNvCxnSpPr/>
              <p:nvPr/>
            </p:nvCxnSpPr>
            <p:spPr bwMode="auto">
              <a:xfrm flipV="1">
                <a:off x="595756" y="2884944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B99D53E4-9A3F-7D1D-5914-E9C8DD40FAC9}"/>
                  </a:ext>
                </a:extLst>
              </p:cNvPr>
              <p:cNvSpPr/>
              <p:nvPr/>
            </p:nvSpPr>
            <p:spPr bwMode="auto">
              <a:xfrm>
                <a:off x="559898" y="2830538"/>
                <a:ext cx="64298" cy="593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613">
                  <a:latin typeface="Futura Std Book" pitchFamily="34" charset="0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E0660C7-20E6-233C-3C3D-7B240FAED2DF}"/>
                </a:ext>
              </a:extLst>
            </p:cNvPr>
            <p:cNvGrpSpPr/>
            <p:nvPr/>
          </p:nvGrpSpPr>
          <p:grpSpPr>
            <a:xfrm>
              <a:off x="736359" y="2830538"/>
              <a:ext cx="64298" cy="196603"/>
              <a:chOff x="559898" y="2830538"/>
              <a:chExt cx="64298" cy="19660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63E07C7-0073-C4A6-BA34-302FCE094708}"/>
                  </a:ext>
                </a:extLst>
              </p:cNvPr>
              <p:cNvCxnSpPr/>
              <p:nvPr/>
            </p:nvCxnSpPr>
            <p:spPr bwMode="auto">
              <a:xfrm flipV="1">
                <a:off x="595756" y="2884944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AD683CEA-217C-DCA3-58D1-D45D3AB2CE81}"/>
                  </a:ext>
                </a:extLst>
              </p:cNvPr>
              <p:cNvSpPr/>
              <p:nvPr/>
            </p:nvSpPr>
            <p:spPr bwMode="auto">
              <a:xfrm>
                <a:off x="559898" y="2830538"/>
                <a:ext cx="64298" cy="593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613">
                  <a:latin typeface="Futura Std Book" pitchFamily="34" charset="0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476292F-51F1-9CCE-D350-01B7CA3C75D0}"/>
                </a:ext>
              </a:extLst>
            </p:cNvPr>
            <p:cNvGrpSpPr/>
            <p:nvPr/>
          </p:nvGrpSpPr>
          <p:grpSpPr>
            <a:xfrm>
              <a:off x="498009" y="2830538"/>
              <a:ext cx="64298" cy="196603"/>
              <a:chOff x="559898" y="2830538"/>
              <a:chExt cx="64298" cy="196603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94D9D977-487C-B8A4-6EAB-B35F487F1237}"/>
                  </a:ext>
                </a:extLst>
              </p:cNvPr>
              <p:cNvCxnSpPr/>
              <p:nvPr/>
            </p:nvCxnSpPr>
            <p:spPr bwMode="auto">
              <a:xfrm flipV="1">
                <a:off x="595756" y="2884944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CA5742E-5001-224B-2DB4-B07E1498EAAC}"/>
                  </a:ext>
                </a:extLst>
              </p:cNvPr>
              <p:cNvSpPr/>
              <p:nvPr/>
            </p:nvSpPr>
            <p:spPr bwMode="auto">
              <a:xfrm>
                <a:off x="559898" y="2830538"/>
                <a:ext cx="64298" cy="593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613">
                  <a:latin typeface="Futura Std Book" pitchFamily="34" charset="0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F6C3DE1-6C6A-2960-C88E-D5E170C46559}"/>
                </a:ext>
              </a:extLst>
            </p:cNvPr>
            <p:cNvGrpSpPr/>
            <p:nvPr/>
          </p:nvGrpSpPr>
          <p:grpSpPr>
            <a:xfrm>
              <a:off x="610683" y="2830538"/>
              <a:ext cx="64298" cy="196603"/>
              <a:chOff x="559898" y="2830538"/>
              <a:chExt cx="64298" cy="196603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2EF10F4-00C0-642A-59FB-B89C17754232}"/>
                  </a:ext>
                </a:extLst>
              </p:cNvPr>
              <p:cNvCxnSpPr/>
              <p:nvPr/>
            </p:nvCxnSpPr>
            <p:spPr bwMode="auto">
              <a:xfrm flipV="1">
                <a:off x="595756" y="2884944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A3CF26FB-5815-34F2-3FDA-1A23A7A24C52}"/>
                  </a:ext>
                </a:extLst>
              </p:cNvPr>
              <p:cNvSpPr/>
              <p:nvPr/>
            </p:nvSpPr>
            <p:spPr bwMode="auto">
              <a:xfrm>
                <a:off x="559898" y="2830538"/>
                <a:ext cx="64298" cy="593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613">
                  <a:latin typeface="Futura Std Book" pitchFamily="34" charset="0"/>
                </a:endParaRPr>
              </a:p>
            </p:txBody>
          </p:sp>
        </p:grpSp>
      </p:grpSp>
      <p:sp>
        <p:nvSpPr>
          <p:cNvPr id="80" name="TextBox 156">
            <a:extLst>
              <a:ext uri="{FF2B5EF4-FFF2-40B4-BE49-F238E27FC236}">
                <a16:creationId xmlns:a16="http://schemas.microsoft.com/office/drawing/2014/main" id="{23D63861-72CC-D246-0281-49C89B0AE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7084" y="2483983"/>
            <a:ext cx="514473" cy="108879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6384" tIns="8193" rIns="16384" bIns="819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af-ZA" sz="600" dirty="0">
                <a:latin typeface="Futura Std Book" pitchFamily="34" charset="0"/>
              </a:rPr>
              <a:t>90 MMscfd 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DD9676A-4CF3-0842-532F-04D07228CDEA}"/>
              </a:ext>
            </a:extLst>
          </p:cNvPr>
          <p:cNvGrpSpPr/>
          <p:nvPr/>
        </p:nvGrpSpPr>
        <p:grpSpPr>
          <a:xfrm>
            <a:off x="4861151" y="3425246"/>
            <a:ext cx="470946" cy="198668"/>
            <a:chOff x="0" y="1"/>
            <a:chExt cx="2069809" cy="252398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10CE623-EEFD-8298-586F-E3DDCF88AA36}"/>
                </a:ext>
              </a:extLst>
            </p:cNvPr>
            <p:cNvSpPr/>
            <p:nvPr/>
          </p:nvSpPr>
          <p:spPr bwMode="auto">
            <a:xfrm flipH="1">
              <a:off x="445070" y="48370"/>
              <a:ext cx="1582318" cy="15731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0F8BD88-665E-02C4-CAB2-9153DBE4DE69}"/>
                </a:ext>
              </a:extLst>
            </p:cNvPr>
            <p:cNvSpPr/>
            <p:nvPr/>
          </p:nvSpPr>
          <p:spPr bwMode="auto">
            <a:xfrm>
              <a:off x="2042440" y="1"/>
              <a:ext cx="27369" cy="25239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63FFF6E-318C-6065-AF12-2D0EEEBE7318}"/>
                </a:ext>
              </a:extLst>
            </p:cNvPr>
            <p:cNvSpPr/>
            <p:nvPr/>
          </p:nvSpPr>
          <p:spPr bwMode="auto">
            <a:xfrm flipH="1">
              <a:off x="0" y="86115"/>
              <a:ext cx="291916" cy="120411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05B8223-DD40-C1AF-6263-671A7EE0A567}"/>
                </a:ext>
              </a:extLst>
            </p:cNvPr>
            <p:cNvCxnSpPr/>
            <p:nvPr/>
          </p:nvCxnSpPr>
          <p:spPr bwMode="auto">
            <a:xfrm flipH="1">
              <a:off x="293490" y="58236"/>
              <a:ext cx="146292" cy="27879"/>
            </a:xfrm>
            <a:prstGeom prst="lin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8B3735E-6974-D31C-2B2B-08A70189E3E4}"/>
                </a:ext>
              </a:extLst>
            </p:cNvPr>
            <p:cNvCxnSpPr/>
            <p:nvPr/>
          </p:nvCxnSpPr>
          <p:spPr bwMode="auto">
            <a:xfrm flipH="1">
              <a:off x="153174" y="206526"/>
              <a:ext cx="279445" cy="0"/>
            </a:xfrm>
            <a:prstGeom prst="lin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6B51450D-92F8-E357-378C-AC246592DEE1}"/>
              </a:ext>
            </a:extLst>
          </p:cNvPr>
          <p:cNvSpPr txBox="1"/>
          <p:nvPr/>
        </p:nvSpPr>
        <p:spPr>
          <a:xfrm>
            <a:off x="4891401" y="3448896"/>
            <a:ext cx="50206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/>
              <a:t>Pig Receiver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45E3477-53C7-C75A-1D32-908B2BE221E9}"/>
              </a:ext>
            </a:extLst>
          </p:cNvPr>
          <p:cNvCxnSpPr>
            <a:cxnSpLocks/>
          </p:cNvCxnSpPr>
          <p:nvPr/>
        </p:nvCxnSpPr>
        <p:spPr>
          <a:xfrm>
            <a:off x="1181221" y="2959632"/>
            <a:ext cx="180000" cy="0"/>
          </a:xfrm>
          <a:prstGeom prst="line">
            <a:avLst/>
          </a:prstGeom>
          <a:ln w="31750">
            <a:solidFill>
              <a:srgbClr val="99FF6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FF269B3-7EA5-9A38-E195-35062450C3BB}"/>
              </a:ext>
            </a:extLst>
          </p:cNvPr>
          <p:cNvCxnSpPr>
            <a:cxnSpLocks/>
          </p:cNvCxnSpPr>
          <p:nvPr/>
        </p:nvCxnSpPr>
        <p:spPr>
          <a:xfrm>
            <a:off x="883785" y="2191685"/>
            <a:ext cx="112532" cy="300765"/>
          </a:xfrm>
          <a:prstGeom prst="straightConnector1">
            <a:avLst/>
          </a:prstGeom>
          <a:ln w="31750">
            <a:solidFill>
              <a:srgbClr val="99FF66"/>
            </a:solidFill>
            <a:headEnd type="none" w="med" len="med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1" name="TextBox 156">
            <a:extLst>
              <a:ext uri="{FF2B5EF4-FFF2-40B4-BE49-F238E27FC236}">
                <a16:creationId xmlns:a16="http://schemas.microsoft.com/office/drawing/2014/main" id="{D957C5A7-8E3D-4D4A-A4EC-27B7C1250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905" y="2915644"/>
            <a:ext cx="8504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dirty="0">
                <a:highlight>
                  <a:srgbClr val="FFFF00"/>
                </a:highlight>
                <a:latin typeface="Futura Std Book" pitchFamily="34" charset="0"/>
              </a:rPr>
              <a:t>290 MMscfd </a:t>
            </a:r>
          </a:p>
        </p:txBody>
      </p:sp>
      <p:sp>
        <p:nvSpPr>
          <p:cNvPr id="202" name="TextBox 156">
            <a:extLst>
              <a:ext uri="{FF2B5EF4-FFF2-40B4-BE49-F238E27FC236}">
                <a16:creationId xmlns:a16="http://schemas.microsoft.com/office/drawing/2014/main" id="{BAFB54EC-299D-75A8-F623-0F33F9864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633" y="2698939"/>
            <a:ext cx="472783" cy="95411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8288" tIns="9144" rIns="18288" bIns="914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af-ZA" sz="500" dirty="0">
                <a:latin typeface="Futura Std Book" panose="020B0502020204020303"/>
              </a:rPr>
              <a:t>180 MMscfd 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C47D5F3-965C-B1E8-9DEB-1BFC24F03886}"/>
              </a:ext>
            </a:extLst>
          </p:cNvPr>
          <p:cNvSpPr/>
          <p:nvPr/>
        </p:nvSpPr>
        <p:spPr>
          <a:xfrm>
            <a:off x="75028" y="1693761"/>
            <a:ext cx="1753772" cy="5465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</a:rPr>
              <a:t>From OKNU 200 MMscfd</a:t>
            </a:r>
          </a:p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</a:rPr>
              <a:t>(270 </a:t>
            </a:r>
            <a:r>
              <a:rPr lang="en-US" sz="900" dirty="0" err="1">
                <a:solidFill>
                  <a:schemeClr val="tx1"/>
                </a:solidFill>
              </a:rPr>
              <a:t>MMsfd</a:t>
            </a:r>
            <a:r>
              <a:rPr lang="en-US" sz="900" dirty="0">
                <a:solidFill>
                  <a:schemeClr val="tx1"/>
                </a:solidFill>
              </a:rPr>
              <a:t>, if the make–up of 70 MMscfd comes from OKNU </a:t>
            </a:r>
          </a:p>
        </p:txBody>
      </p:sp>
      <p:sp>
        <p:nvSpPr>
          <p:cNvPr id="258" name="TextBox 156">
            <a:extLst>
              <a:ext uri="{FF2B5EF4-FFF2-40B4-BE49-F238E27FC236}">
                <a16:creationId xmlns:a16="http://schemas.microsoft.com/office/drawing/2014/main" id="{F0933B09-64C2-E5E1-DBC2-CAC5C14118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72350" y="4755136"/>
            <a:ext cx="130570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GB" altLang="af-ZA" sz="1200" dirty="0">
                <a:solidFill>
                  <a:srgbClr val="FF0000"/>
                </a:solidFill>
                <a:latin typeface="Futura Std Book" panose="020B0502020204020303"/>
              </a:rPr>
              <a:t>P/L Scope Limit</a:t>
            </a:r>
            <a:endParaRPr lang="en-US" altLang="af-ZA" sz="1200" dirty="0">
              <a:solidFill>
                <a:srgbClr val="FF0000"/>
              </a:solidFill>
              <a:latin typeface="Futura Std Book" panose="020B0502020204020303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4C902E6A-D40C-9C5C-D6E2-5F3EA0433303}"/>
              </a:ext>
            </a:extLst>
          </p:cNvPr>
          <p:cNvSpPr txBox="1"/>
          <p:nvPr/>
        </p:nvSpPr>
        <p:spPr>
          <a:xfrm rot="20413637">
            <a:off x="819701" y="2312871"/>
            <a:ext cx="300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</a:t>
            </a:r>
            <a:endParaRPr lang="en-NG" sz="24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F1A5BAB-C9CD-88FE-9673-C878D3E9E496}"/>
              </a:ext>
            </a:extLst>
          </p:cNvPr>
          <p:cNvSpPr txBox="1"/>
          <p:nvPr/>
        </p:nvSpPr>
        <p:spPr>
          <a:xfrm rot="20292211">
            <a:off x="851494" y="234636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~</a:t>
            </a:r>
            <a:endParaRPr lang="en-NG" sz="2400" dirty="0"/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58AC0F33-7D77-1B0C-A65D-98D063339C53}"/>
              </a:ext>
            </a:extLst>
          </p:cNvPr>
          <p:cNvCxnSpPr>
            <a:cxnSpLocks/>
          </p:cNvCxnSpPr>
          <p:nvPr/>
        </p:nvCxnSpPr>
        <p:spPr>
          <a:xfrm>
            <a:off x="1033980" y="2564104"/>
            <a:ext cx="159596" cy="398604"/>
          </a:xfrm>
          <a:prstGeom prst="straightConnector1">
            <a:avLst/>
          </a:prstGeom>
          <a:ln w="31750">
            <a:solidFill>
              <a:srgbClr val="99FF66"/>
            </a:solidFill>
            <a:headEnd type="none" w="med" len="med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9" name="TextBox 155">
            <a:extLst>
              <a:ext uri="{FF2B5EF4-FFF2-40B4-BE49-F238E27FC236}">
                <a16:creationId xmlns:a16="http://schemas.microsoft.com/office/drawing/2014/main" id="{B83A7DC4-AA6C-D982-4E9E-6730B30ACD33}"/>
              </a:ext>
            </a:extLst>
          </p:cNvPr>
          <p:cNvSpPr txBox="1">
            <a:spLocks noChangeArrowheads="1"/>
          </p:cNvSpPr>
          <p:nvPr/>
        </p:nvSpPr>
        <p:spPr bwMode="auto">
          <a:xfrm rot="3737348">
            <a:off x="529449" y="2594388"/>
            <a:ext cx="78484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u="sng" dirty="0">
                <a:latin typeface="Futura Std Book" pitchFamily="34" charset="0"/>
              </a:rPr>
              <a:t>20” x 85km</a:t>
            </a:r>
          </a:p>
        </p:txBody>
      </p:sp>
      <p:cxnSp>
        <p:nvCxnSpPr>
          <p:cNvPr id="270" name="Connector: Elbow 269">
            <a:extLst>
              <a:ext uri="{FF2B5EF4-FFF2-40B4-BE49-F238E27FC236}">
                <a16:creationId xmlns:a16="http://schemas.microsoft.com/office/drawing/2014/main" id="{8242D826-264E-9A1B-00EF-6B8405FE703F}"/>
              </a:ext>
            </a:extLst>
          </p:cNvPr>
          <p:cNvCxnSpPr>
            <a:cxnSpLocks/>
          </p:cNvCxnSpPr>
          <p:nvPr/>
        </p:nvCxnSpPr>
        <p:spPr>
          <a:xfrm>
            <a:off x="7779541" y="3669107"/>
            <a:ext cx="1017140" cy="467106"/>
          </a:xfrm>
          <a:prstGeom prst="bentConnector3">
            <a:avLst>
              <a:gd name="adj1" fmla="val 1071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Rectangle 270">
            <a:extLst>
              <a:ext uri="{FF2B5EF4-FFF2-40B4-BE49-F238E27FC236}">
                <a16:creationId xmlns:a16="http://schemas.microsoft.com/office/drawing/2014/main" id="{E958E93A-99F4-B624-68EE-EB7EFEE3765E}"/>
              </a:ext>
            </a:extLst>
          </p:cNvPr>
          <p:cNvSpPr/>
          <p:nvPr/>
        </p:nvSpPr>
        <p:spPr>
          <a:xfrm>
            <a:off x="6650418" y="4386492"/>
            <a:ext cx="106218" cy="89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002A93FF-E786-A0C2-98C5-183943D30A9C}"/>
              </a:ext>
            </a:extLst>
          </p:cNvPr>
          <p:cNvGrpSpPr/>
          <p:nvPr/>
        </p:nvGrpSpPr>
        <p:grpSpPr>
          <a:xfrm>
            <a:off x="7818227" y="3626222"/>
            <a:ext cx="98718" cy="94983"/>
            <a:chOff x="5114917" y="2286000"/>
            <a:chExt cx="245015" cy="235744"/>
          </a:xfrm>
        </p:grpSpPr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135D3C4A-A5EB-A4BB-38AA-74727BDEFBE1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690ED89E-0AA0-2763-C0D2-565F11B63F43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7D7B7C9C-B227-1948-3767-76080EA481BB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76" name="Isosceles Triangle 275">
                <a:extLst>
                  <a:ext uri="{FF2B5EF4-FFF2-40B4-BE49-F238E27FC236}">
                    <a16:creationId xmlns:a16="http://schemas.microsoft.com/office/drawing/2014/main" id="{11FF1260-9E2B-781E-7D40-DACC4FCDC1F5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77" name="Isosceles Triangle 276">
                <a:extLst>
                  <a:ext uri="{FF2B5EF4-FFF2-40B4-BE49-F238E27FC236}">
                    <a16:creationId xmlns:a16="http://schemas.microsoft.com/office/drawing/2014/main" id="{F77DA962-E436-9AB4-775C-35663BF1F1B7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7A67932-AFCD-83E7-8160-2E8D46146A55}"/>
              </a:ext>
            </a:extLst>
          </p:cNvPr>
          <p:cNvGrpSpPr/>
          <p:nvPr/>
        </p:nvGrpSpPr>
        <p:grpSpPr>
          <a:xfrm>
            <a:off x="7897288" y="4089294"/>
            <a:ext cx="98718" cy="94983"/>
            <a:chOff x="5114917" y="2286000"/>
            <a:chExt cx="245015" cy="235744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064130E5-E2FD-27A2-27DB-ABBEE7672088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CE369E33-5600-477F-9913-0F597E1CAE0E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31805A3-8CD2-B37E-FCD6-DC1D20BCF6BB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82" name="Isosceles Triangle 281">
                <a:extLst>
                  <a:ext uri="{FF2B5EF4-FFF2-40B4-BE49-F238E27FC236}">
                    <a16:creationId xmlns:a16="http://schemas.microsoft.com/office/drawing/2014/main" id="{C47C9863-4C8C-372C-0D76-05EC77FD26F2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83" name="Isosceles Triangle 282">
                <a:extLst>
                  <a:ext uri="{FF2B5EF4-FFF2-40B4-BE49-F238E27FC236}">
                    <a16:creationId xmlns:a16="http://schemas.microsoft.com/office/drawing/2014/main" id="{6CDB0201-9E39-9B41-8473-1BFC56339004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84" name="Connector: Elbow 283">
            <a:extLst>
              <a:ext uri="{FF2B5EF4-FFF2-40B4-BE49-F238E27FC236}">
                <a16:creationId xmlns:a16="http://schemas.microsoft.com/office/drawing/2014/main" id="{217E11DD-9826-C93F-9177-4750CCA3C13B}"/>
              </a:ext>
            </a:extLst>
          </p:cNvPr>
          <p:cNvCxnSpPr>
            <a:cxnSpLocks/>
          </p:cNvCxnSpPr>
          <p:nvPr/>
        </p:nvCxnSpPr>
        <p:spPr>
          <a:xfrm>
            <a:off x="7783545" y="3996059"/>
            <a:ext cx="540000" cy="432000"/>
          </a:xfrm>
          <a:prstGeom prst="bentConnector3">
            <a:avLst>
              <a:gd name="adj1" fmla="val -347"/>
            </a:avLst>
          </a:prstGeom>
          <a:ln w="254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63DF8F41-B75C-F58D-3079-D794F8C28A4B}"/>
              </a:ext>
            </a:extLst>
          </p:cNvPr>
          <p:cNvGrpSpPr/>
          <p:nvPr/>
        </p:nvGrpSpPr>
        <p:grpSpPr>
          <a:xfrm>
            <a:off x="7897288" y="4375976"/>
            <a:ext cx="98718" cy="94983"/>
            <a:chOff x="5114917" y="2286000"/>
            <a:chExt cx="245015" cy="235744"/>
          </a:xfrm>
        </p:grpSpPr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900E45D2-F042-CFB2-3C68-F71D6F772330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FCACC887-36AB-8B1E-105F-5111F6403C3B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182DAA6B-BAD6-1E10-F9C9-F269F3C9B3F3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89" name="Isosceles Triangle 288">
                <a:extLst>
                  <a:ext uri="{FF2B5EF4-FFF2-40B4-BE49-F238E27FC236}">
                    <a16:creationId xmlns:a16="http://schemas.microsoft.com/office/drawing/2014/main" id="{E21A45C0-D372-FBAC-6260-BACA3AA7E571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90" name="Isosceles Triangle 289">
                <a:extLst>
                  <a:ext uri="{FF2B5EF4-FFF2-40B4-BE49-F238E27FC236}">
                    <a16:creationId xmlns:a16="http://schemas.microsoft.com/office/drawing/2014/main" id="{5858D238-DDA1-61F0-0E50-A187299A8E10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318D1BF-0659-0A29-B938-460DF32ABB8C}"/>
              </a:ext>
            </a:extLst>
          </p:cNvPr>
          <p:cNvGrpSpPr/>
          <p:nvPr/>
        </p:nvGrpSpPr>
        <p:grpSpPr>
          <a:xfrm>
            <a:off x="6022069" y="3538142"/>
            <a:ext cx="100011" cy="92014"/>
            <a:chOff x="5715000" y="4748213"/>
            <a:chExt cx="176211" cy="92014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3E04AB9F-704E-D4A0-9183-6AE16D45C239}"/>
                </a:ext>
              </a:extLst>
            </p:cNvPr>
            <p:cNvSpPr/>
            <p:nvPr/>
          </p:nvSpPr>
          <p:spPr>
            <a:xfrm>
              <a:off x="5719763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66E3F6E1-637C-D7D4-C545-B4C4ECD03C2B}"/>
                </a:ext>
              </a:extLst>
            </p:cNvPr>
            <p:cNvGrpSpPr/>
            <p:nvPr/>
          </p:nvGrpSpPr>
          <p:grpSpPr>
            <a:xfrm>
              <a:off x="5715000" y="4754283"/>
              <a:ext cx="176211" cy="85944"/>
              <a:chOff x="6661011" y="5251855"/>
              <a:chExt cx="131341" cy="64059"/>
            </a:xfrm>
          </p:grpSpPr>
          <p:sp>
            <p:nvSpPr>
              <p:cNvPr id="294" name="Isosceles Triangle 293">
                <a:extLst>
                  <a:ext uri="{FF2B5EF4-FFF2-40B4-BE49-F238E27FC236}">
                    <a16:creationId xmlns:a16="http://schemas.microsoft.com/office/drawing/2014/main" id="{5581EB66-6229-7DC9-24FD-38673CF34804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E5AB61E9-900F-B3D1-2D0E-A96935468B9A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81FEA14E-9E6B-B24D-FD10-74E0E82BBD3C}"/>
              </a:ext>
            </a:extLst>
          </p:cNvPr>
          <p:cNvCxnSpPr>
            <a:cxnSpLocks/>
          </p:cNvCxnSpPr>
          <p:nvPr/>
        </p:nvCxnSpPr>
        <p:spPr>
          <a:xfrm>
            <a:off x="7145860" y="3809615"/>
            <a:ext cx="625021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2448146D-ABF6-2D8B-33C3-50FAC991FEA0}"/>
              </a:ext>
            </a:extLst>
          </p:cNvPr>
          <p:cNvGrpSpPr/>
          <p:nvPr/>
        </p:nvGrpSpPr>
        <p:grpSpPr>
          <a:xfrm>
            <a:off x="7275038" y="3751059"/>
            <a:ext cx="109538" cy="92014"/>
            <a:chOff x="5267327" y="4748213"/>
            <a:chExt cx="176211" cy="92014"/>
          </a:xfrm>
        </p:grpSpPr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15FD6C91-B0A2-B568-1AF4-69E067ACA359}"/>
                </a:ext>
              </a:extLst>
            </p:cNvPr>
            <p:cNvSpPr/>
            <p:nvPr/>
          </p:nvSpPr>
          <p:spPr>
            <a:xfrm>
              <a:off x="5272090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878BA011-70C0-E598-7058-7726953ABF71}"/>
                </a:ext>
              </a:extLst>
            </p:cNvPr>
            <p:cNvGrpSpPr/>
            <p:nvPr/>
          </p:nvGrpSpPr>
          <p:grpSpPr>
            <a:xfrm>
              <a:off x="5267327" y="4754283"/>
              <a:ext cx="176211" cy="85944"/>
              <a:chOff x="6661011" y="5251855"/>
              <a:chExt cx="131341" cy="64059"/>
            </a:xfrm>
          </p:grpSpPr>
          <p:sp>
            <p:nvSpPr>
              <p:cNvPr id="300" name="Isosceles Triangle 299">
                <a:extLst>
                  <a:ext uri="{FF2B5EF4-FFF2-40B4-BE49-F238E27FC236}">
                    <a16:creationId xmlns:a16="http://schemas.microsoft.com/office/drawing/2014/main" id="{2305F598-4841-927A-F370-7FFCC84B0B40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01" name="Isosceles Triangle 300">
                <a:extLst>
                  <a:ext uri="{FF2B5EF4-FFF2-40B4-BE49-F238E27FC236}">
                    <a16:creationId xmlns:a16="http://schemas.microsoft.com/office/drawing/2014/main" id="{7FC9BDEF-D8DE-8C49-5C05-B3FFD826D554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FDF2E2FF-C6D8-EC2F-3FB0-6663EA4E7B7B}"/>
              </a:ext>
            </a:extLst>
          </p:cNvPr>
          <p:cNvGrpSpPr/>
          <p:nvPr/>
        </p:nvGrpSpPr>
        <p:grpSpPr>
          <a:xfrm>
            <a:off x="5477188" y="3711198"/>
            <a:ext cx="514818" cy="186690"/>
            <a:chOff x="4343400" y="4686300"/>
            <a:chExt cx="514818" cy="186690"/>
          </a:xfrm>
        </p:grpSpPr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8F04E534-0143-132F-0295-B1A7D06DAB41}"/>
                </a:ext>
              </a:extLst>
            </p:cNvPr>
            <p:cNvGrpSpPr/>
            <p:nvPr/>
          </p:nvGrpSpPr>
          <p:grpSpPr>
            <a:xfrm>
              <a:off x="4343400" y="4686300"/>
              <a:ext cx="514818" cy="186690"/>
              <a:chOff x="0" y="0"/>
              <a:chExt cx="1225472" cy="434195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49D6C86-0139-3986-8CE4-8D2778BC4EAD}"/>
                  </a:ext>
                </a:extLst>
              </p:cNvPr>
              <p:cNvGrpSpPr/>
              <p:nvPr/>
            </p:nvGrpSpPr>
            <p:grpSpPr>
              <a:xfrm>
                <a:off x="0" y="0"/>
                <a:ext cx="1225472" cy="434195"/>
                <a:chOff x="0" y="0"/>
                <a:chExt cx="1393403" cy="567773"/>
              </a:xfrm>
            </p:grpSpPr>
            <p:sp>
              <p:nvSpPr>
                <p:cNvPr id="307" name="Chord 306">
                  <a:extLst>
                    <a:ext uri="{FF2B5EF4-FFF2-40B4-BE49-F238E27FC236}">
                      <a16:creationId xmlns:a16="http://schemas.microsoft.com/office/drawing/2014/main" id="{F8DE7192-5F03-F45D-44A9-045E044F1FB9}"/>
                    </a:ext>
                  </a:extLst>
                </p:cNvPr>
                <p:cNvSpPr/>
                <p:nvPr/>
              </p:nvSpPr>
              <p:spPr>
                <a:xfrm rot="16200000" flipV="1">
                  <a:off x="-31858" y="31859"/>
                  <a:ext cx="567771" cy="504055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Chord 307">
                  <a:extLst>
                    <a:ext uri="{FF2B5EF4-FFF2-40B4-BE49-F238E27FC236}">
                      <a16:creationId xmlns:a16="http://schemas.microsoft.com/office/drawing/2014/main" id="{FC6AE8DC-5056-125F-6EF9-32007A33CC40}"/>
                    </a:ext>
                  </a:extLst>
                </p:cNvPr>
                <p:cNvSpPr/>
                <p:nvPr/>
              </p:nvSpPr>
              <p:spPr>
                <a:xfrm rot="16200000">
                  <a:off x="874901" y="49270"/>
                  <a:ext cx="567772" cy="469233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38000">
                      <a:schemeClr val="bg1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BD81D201-A0BE-4FBB-B171-9052A8C25F57}"/>
                    </a:ext>
                  </a:extLst>
                </p:cNvPr>
                <p:cNvSpPr/>
                <p:nvPr/>
              </p:nvSpPr>
              <p:spPr>
                <a:xfrm>
                  <a:off x="255082" y="0"/>
                  <a:ext cx="914400" cy="56777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787A3D24-95D5-9511-2D3C-60E3C4D87A34}"/>
                  </a:ext>
                </a:extLst>
              </p:cNvPr>
              <p:cNvSpPr/>
              <p:nvPr/>
            </p:nvSpPr>
            <p:spPr>
              <a:xfrm>
                <a:off x="526211" y="32021"/>
                <a:ext cx="469291" cy="102969"/>
              </a:xfrm>
              <a:prstGeom prst="rect">
                <a:avLst/>
              </a:prstGeom>
              <a:pattFill prst="lgCheck">
                <a:fgClr>
                  <a:schemeClr val="tx1">
                    <a:lumMod val="75000"/>
                    <a:lumOff val="2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5A338944-345B-BC9F-88D9-135494A1E32D}"/>
                </a:ext>
              </a:extLst>
            </p:cNvPr>
            <p:cNvSpPr txBox="1"/>
            <p:nvPr/>
          </p:nvSpPr>
          <p:spPr>
            <a:xfrm>
              <a:off x="4434364" y="4718150"/>
              <a:ext cx="33409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Slug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Catcher</a:t>
              </a:r>
            </a:p>
          </p:txBody>
        </p:sp>
      </p:grp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19D6B6DE-8392-F86C-0FAA-6A33214D3603}"/>
              </a:ext>
            </a:extLst>
          </p:cNvPr>
          <p:cNvCxnSpPr>
            <a:cxnSpLocks/>
          </p:cNvCxnSpPr>
          <p:nvPr/>
        </p:nvCxnSpPr>
        <p:spPr>
          <a:xfrm rot="360000" flipH="1" flipV="1">
            <a:off x="5839591" y="3587211"/>
            <a:ext cx="20781" cy="14400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BEE32718-9C86-9AC6-B1DE-0463DB7C6859}"/>
              </a:ext>
            </a:extLst>
          </p:cNvPr>
          <p:cNvCxnSpPr>
            <a:cxnSpLocks/>
          </p:cNvCxnSpPr>
          <p:nvPr/>
        </p:nvCxnSpPr>
        <p:spPr>
          <a:xfrm>
            <a:off x="5799406" y="3901720"/>
            <a:ext cx="0" cy="339064"/>
          </a:xfrm>
          <a:prstGeom prst="straightConnector1">
            <a:avLst/>
          </a:prstGeom>
          <a:ln w="254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30911EBD-4944-01B6-15D1-D4003575AEF2}"/>
              </a:ext>
            </a:extLst>
          </p:cNvPr>
          <p:cNvGrpSpPr/>
          <p:nvPr/>
        </p:nvGrpSpPr>
        <p:grpSpPr>
          <a:xfrm rot="5280000">
            <a:off x="5758178" y="3986628"/>
            <a:ext cx="100011" cy="92014"/>
            <a:chOff x="5715000" y="4748213"/>
            <a:chExt cx="176211" cy="92014"/>
          </a:xfrm>
        </p:grpSpPr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2C428AC8-408E-2973-6700-918958831A2E}"/>
                </a:ext>
              </a:extLst>
            </p:cNvPr>
            <p:cNvSpPr/>
            <p:nvPr/>
          </p:nvSpPr>
          <p:spPr>
            <a:xfrm>
              <a:off x="5719763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48401F28-83CB-251B-A2A3-DC28A4A29A3D}"/>
                </a:ext>
              </a:extLst>
            </p:cNvPr>
            <p:cNvGrpSpPr/>
            <p:nvPr/>
          </p:nvGrpSpPr>
          <p:grpSpPr>
            <a:xfrm>
              <a:off x="5715000" y="4754283"/>
              <a:ext cx="176211" cy="85944"/>
              <a:chOff x="6661011" y="5251855"/>
              <a:chExt cx="131341" cy="64059"/>
            </a:xfrm>
          </p:grpSpPr>
          <p:sp>
            <p:nvSpPr>
              <p:cNvPr id="315" name="Isosceles Triangle 314">
                <a:extLst>
                  <a:ext uri="{FF2B5EF4-FFF2-40B4-BE49-F238E27FC236}">
                    <a16:creationId xmlns:a16="http://schemas.microsoft.com/office/drawing/2014/main" id="{A4E2ADBB-5345-2906-6CBA-CB2419611BFE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16" name="Isosceles Triangle 315">
                <a:extLst>
                  <a:ext uri="{FF2B5EF4-FFF2-40B4-BE49-F238E27FC236}">
                    <a16:creationId xmlns:a16="http://schemas.microsoft.com/office/drawing/2014/main" id="{C04A4EB9-0AF3-01CB-E909-790FCC8ED827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7" name="Flowchart: Magnetic Disk 316">
            <a:extLst>
              <a:ext uri="{FF2B5EF4-FFF2-40B4-BE49-F238E27FC236}">
                <a16:creationId xmlns:a16="http://schemas.microsoft.com/office/drawing/2014/main" id="{9AB33963-83D4-7226-08EF-2E737237BBF9}"/>
              </a:ext>
            </a:extLst>
          </p:cNvPr>
          <p:cNvSpPr/>
          <p:nvPr/>
        </p:nvSpPr>
        <p:spPr>
          <a:xfrm>
            <a:off x="5647008" y="4215534"/>
            <a:ext cx="334093" cy="200055"/>
          </a:xfrm>
          <a:prstGeom prst="flowChartMagneticDisk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sp>
        <p:nvSpPr>
          <p:cNvPr id="318" name="TextBox 135">
            <a:extLst>
              <a:ext uri="{FF2B5EF4-FFF2-40B4-BE49-F238E27FC236}">
                <a16:creationId xmlns:a16="http://schemas.microsoft.com/office/drawing/2014/main" id="{A2C26F51-E866-AD58-1A76-3ECF611BC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724" y="4409701"/>
            <a:ext cx="1185528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GPP Liquid Processing / Water Disposal System</a:t>
            </a:r>
          </a:p>
        </p:txBody>
      </p:sp>
      <p:sp>
        <p:nvSpPr>
          <p:cNvPr id="319" name="TextBox 103">
            <a:extLst>
              <a:ext uri="{FF2B5EF4-FFF2-40B4-BE49-F238E27FC236}">
                <a16:creationId xmlns:a16="http://schemas.microsoft.com/office/drawing/2014/main" id="{C47CCD6F-5763-F164-7BAC-800F2A67A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1670" y="4047057"/>
            <a:ext cx="355389" cy="19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IPP</a:t>
            </a: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DC073B2F-D1EA-BC3C-68B5-68757346A4CF}"/>
              </a:ext>
            </a:extLst>
          </p:cNvPr>
          <p:cNvCxnSpPr>
            <a:cxnSpLocks/>
          </p:cNvCxnSpPr>
          <p:nvPr/>
        </p:nvCxnSpPr>
        <p:spPr>
          <a:xfrm>
            <a:off x="6978812" y="4020478"/>
            <a:ext cx="10404" cy="488488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Magnetic Disk 320">
            <a:extLst>
              <a:ext uri="{FF2B5EF4-FFF2-40B4-BE49-F238E27FC236}">
                <a16:creationId xmlns:a16="http://schemas.microsoft.com/office/drawing/2014/main" id="{83F1F128-B205-E7A6-4BAD-399D3F2A7178}"/>
              </a:ext>
            </a:extLst>
          </p:cNvPr>
          <p:cNvSpPr/>
          <p:nvPr/>
        </p:nvSpPr>
        <p:spPr>
          <a:xfrm>
            <a:off x="6841059" y="4493628"/>
            <a:ext cx="334093" cy="251481"/>
          </a:xfrm>
          <a:prstGeom prst="flowChartMagneticDisk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B96A9CE-CFEA-2763-01F1-A096C480701F}"/>
              </a:ext>
            </a:extLst>
          </p:cNvPr>
          <p:cNvGrpSpPr/>
          <p:nvPr/>
        </p:nvGrpSpPr>
        <p:grpSpPr>
          <a:xfrm>
            <a:off x="8125828" y="4545375"/>
            <a:ext cx="304800" cy="276999"/>
            <a:chOff x="4876800" y="5752186"/>
            <a:chExt cx="304800" cy="276999"/>
          </a:xfrm>
        </p:grpSpPr>
        <p:sp>
          <p:nvSpPr>
            <p:cNvPr id="323" name="TextBox 52">
              <a:extLst>
                <a:ext uri="{FF2B5EF4-FFF2-40B4-BE49-F238E27FC236}">
                  <a16:creationId xmlns:a16="http://schemas.microsoft.com/office/drawing/2014/main" id="{39743EE5-2F4E-5177-55A5-161A740DB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5752186"/>
              <a:ext cx="304800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endParaRPr>
            </a:p>
          </p:txBody>
        </p:sp>
        <p:pic>
          <p:nvPicPr>
            <p:cNvPr id="324" name="Picture 2" descr="Esperance's jetty seen as 'new beginning' by some, others 'scarred' by loss  of history - ABC News">
              <a:extLst>
                <a:ext uri="{FF2B5EF4-FFF2-40B4-BE49-F238E27FC236}">
                  <a16:creationId xmlns:a16="http://schemas.microsoft.com/office/drawing/2014/main" id="{7627EC17-28BE-4140-4973-4758F44601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895788" y="5762626"/>
              <a:ext cx="261923" cy="25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F85033E3-7A31-E5B9-BD39-662C55DEAE90}"/>
              </a:ext>
            </a:extLst>
          </p:cNvPr>
          <p:cNvGrpSpPr/>
          <p:nvPr/>
        </p:nvGrpSpPr>
        <p:grpSpPr>
          <a:xfrm>
            <a:off x="8735426" y="4864008"/>
            <a:ext cx="304800" cy="279115"/>
            <a:chOff x="4876800" y="5750070"/>
            <a:chExt cx="304800" cy="279115"/>
          </a:xfrm>
        </p:grpSpPr>
        <p:sp>
          <p:nvSpPr>
            <p:cNvPr id="326" name="TextBox 52">
              <a:extLst>
                <a:ext uri="{FF2B5EF4-FFF2-40B4-BE49-F238E27FC236}">
                  <a16:creationId xmlns:a16="http://schemas.microsoft.com/office/drawing/2014/main" id="{0D0A1916-CEF5-03DE-57AC-6F7880718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5752186"/>
              <a:ext cx="304800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endParaRPr>
            </a:p>
          </p:txBody>
        </p:sp>
        <p:pic>
          <p:nvPicPr>
            <p:cNvPr id="327" name="Picture 2" descr="Esperance's jetty seen as 'new beginning' by some, others 'scarred' by loss  of history - ABC News">
              <a:extLst>
                <a:ext uri="{FF2B5EF4-FFF2-40B4-BE49-F238E27FC236}">
                  <a16:creationId xmlns:a16="http://schemas.microsoft.com/office/drawing/2014/main" id="{C241234A-3A1A-D919-248B-5858A35C02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895788" y="5754675"/>
              <a:ext cx="261923" cy="25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AE9F5239-8108-2FB3-E7CC-9C50A24F3BEC}"/>
              </a:ext>
            </a:extLst>
          </p:cNvPr>
          <p:cNvCxnSpPr>
            <a:cxnSpLocks/>
            <a:endCxn id="324" idx="0"/>
          </p:cNvCxnSpPr>
          <p:nvPr/>
        </p:nvCxnSpPr>
        <p:spPr>
          <a:xfrm>
            <a:off x="7216605" y="4682159"/>
            <a:ext cx="932815" cy="0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135">
            <a:extLst>
              <a:ext uri="{FF2B5EF4-FFF2-40B4-BE49-F238E27FC236}">
                <a16:creationId xmlns:a16="http://schemas.microsoft.com/office/drawing/2014/main" id="{6AF6F430-534A-DEA3-187C-53B572063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9981" y="4709180"/>
            <a:ext cx="1114409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 Storage Tanks</a:t>
            </a:r>
          </a:p>
        </p:txBody>
      </p:sp>
      <p:sp>
        <p:nvSpPr>
          <p:cNvPr id="330" name="TextBox 135">
            <a:extLst>
              <a:ext uri="{FF2B5EF4-FFF2-40B4-BE49-F238E27FC236}">
                <a16:creationId xmlns:a16="http://schemas.microsoft.com/office/drawing/2014/main" id="{DE8F7D9F-A6A4-179A-A1FB-68D3B7F9F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384" y="4552102"/>
            <a:ext cx="469398" cy="19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</a:t>
            </a:r>
          </a:p>
        </p:txBody>
      </p:sp>
      <p:sp>
        <p:nvSpPr>
          <p:cNvPr id="331" name="TextBox 135">
            <a:extLst>
              <a:ext uri="{FF2B5EF4-FFF2-40B4-BE49-F238E27FC236}">
                <a16:creationId xmlns:a16="http://schemas.microsoft.com/office/drawing/2014/main" id="{3A6C00AF-23BE-6D76-BEEF-87391C4D0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220" y="4509577"/>
            <a:ext cx="397866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</a:t>
            </a:r>
          </a:p>
        </p:txBody>
      </p:sp>
      <p:sp>
        <p:nvSpPr>
          <p:cNvPr id="332" name="TextBox 188">
            <a:extLst>
              <a:ext uri="{FF2B5EF4-FFF2-40B4-BE49-F238E27FC236}">
                <a16:creationId xmlns:a16="http://schemas.microsoft.com/office/drawing/2014/main" id="{FB71E863-8F41-6B94-B5E6-A04DF00C5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196" y="4767244"/>
            <a:ext cx="9650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 Export  Jetty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 (at </a:t>
            </a:r>
            <a:r>
              <a:rPr kumimoji="0" lang="en-US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Akabel</a:t>
            </a: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)</a:t>
            </a:r>
          </a:p>
        </p:txBody>
      </p:sp>
      <p:sp>
        <p:nvSpPr>
          <p:cNvPr id="333" name="TextBox 188">
            <a:extLst>
              <a:ext uri="{FF2B5EF4-FFF2-40B4-BE49-F238E27FC236}">
                <a16:creationId xmlns:a16="http://schemas.microsoft.com/office/drawing/2014/main" id="{6F5D33AB-9234-9EFD-E8E1-FE910800D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9003" y="4938971"/>
            <a:ext cx="435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Condensate</a:t>
            </a:r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2CFB45EC-241C-B4D6-0DEC-EA1199A9D501}"/>
              </a:ext>
            </a:extLst>
          </p:cNvPr>
          <p:cNvGrpSpPr/>
          <p:nvPr/>
        </p:nvGrpSpPr>
        <p:grpSpPr>
          <a:xfrm>
            <a:off x="5460679" y="3190016"/>
            <a:ext cx="3767544" cy="2259258"/>
            <a:chOff x="6515156" y="3805121"/>
            <a:chExt cx="3948258" cy="2367623"/>
          </a:xfrm>
        </p:grpSpPr>
        <p:sp>
          <p:nvSpPr>
            <p:cNvPr id="335" name="TextBox 103">
              <a:extLst>
                <a:ext uri="{FF2B5EF4-FFF2-40B4-BE49-F238E27FC236}">
                  <a16:creationId xmlns:a16="http://schemas.microsoft.com/office/drawing/2014/main" id="{9A4845FC-0084-6EFB-4BD3-EE7ECC8D0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1824" y="3806173"/>
              <a:ext cx="1996372" cy="205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Gas Processing Facility (at </a:t>
              </a:r>
              <a:r>
                <a:rPr kumimoji="0" lang="en-US" altLang="en-US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Akabel</a:t>
              </a:r>
              <a:r>
                <a:rPr kumimoji="0" lang="en-US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)</a:t>
              </a:r>
            </a:p>
          </p:txBody>
        </p:sp>
        <p:grpSp>
          <p:nvGrpSpPr>
            <p:cNvPr id="336" name="Group 335">
              <a:extLst>
                <a:ext uri="{FF2B5EF4-FFF2-40B4-BE49-F238E27FC236}">
                  <a16:creationId xmlns:a16="http://schemas.microsoft.com/office/drawing/2014/main" id="{78234D4C-5151-597C-3141-956ED89927EC}"/>
                </a:ext>
              </a:extLst>
            </p:cNvPr>
            <p:cNvGrpSpPr/>
            <p:nvPr/>
          </p:nvGrpSpPr>
          <p:grpSpPr>
            <a:xfrm>
              <a:off x="6515156" y="3805121"/>
              <a:ext cx="3948258" cy="2367623"/>
              <a:chOff x="6515156" y="3805121"/>
              <a:chExt cx="3948258" cy="2367623"/>
            </a:xfrm>
          </p:grpSpPr>
          <p:cxnSp>
            <p:nvCxnSpPr>
              <p:cNvPr id="337" name="Straight Arrow Connector 336">
                <a:extLst>
                  <a:ext uri="{FF2B5EF4-FFF2-40B4-BE49-F238E27FC236}">
                    <a16:creationId xmlns:a16="http://schemas.microsoft.com/office/drawing/2014/main" id="{DB5CB2A8-542B-9289-A8C1-C65F26ABA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4489" y="4691447"/>
                <a:ext cx="15350" cy="867715"/>
              </a:xfrm>
              <a:prstGeom prst="straightConnector1">
                <a:avLst/>
              </a:prstGeom>
              <a:ln w="19050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Arrow Connector 337">
                <a:extLst>
                  <a:ext uri="{FF2B5EF4-FFF2-40B4-BE49-F238E27FC236}">
                    <a16:creationId xmlns:a16="http://schemas.microsoft.com/office/drawing/2014/main" id="{09E4E6E4-46F5-62AA-2F1F-60307DC9DE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287" y="5738274"/>
                <a:ext cx="2001997" cy="0"/>
              </a:xfrm>
              <a:prstGeom prst="straightConnector1">
                <a:avLst/>
              </a:prstGeom>
              <a:ln w="19050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9" name="Rectangle 28">
                <a:extLst>
                  <a:ext uri="{FF2B5EF4-FFF2-40B4-BE49-F238E27FC236}">
                    <a16:creationId xmlns:a16="http://schemas.microsoft.com/office/drawing/2014/main" id="{50DCF078-0213-956F-FEB4-B19836E2E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5156" y="3805121"/>
                <a:ext cx="2376362" cy="2365235"/>
              </a:xfrm>
              <a:prstGeom prst="rect">
                <a:avLst/>
              </a:prstGeom>
              <a:noFill/>
              <a:ln w="19050" algn="ctr">
                <a:solidFill>
                  <a:srgbClr val="7030A0"/>
                </a:solidFill>
                <a:prstDash val="sysDot"/>
                <a:round/>
                <a:headEnd/>
                <a:tailEnd/>
              </a:ln>
            </p:spPr>
            <p:txBody>
              <a:bodyPr lIns="36000" r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08901070-6D88-8642-CAF8-3DAEC917AD3A}"/>
                  </a:ext>
                </a:extLst>
              </p:cNvPr>
              <p:cNvSpPr/>
              <p:nvPr/>
            </p:nvSpPr>
            <p:spPr>
              <a:xfrm>
                <a:off x="9246690" y="4066557"/>
                <a:ext cx="816398" cy="474579"/>
              </a:xfrm>
              <a:prstGeom prst="rect">
                <a:avLst/>
              </a:prstGeom>
              <a:noFill/>
              <a:ln w="952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BFPCL Methanol Plant</a:t>
                </a:r>
              </a:p>
            </p:txBody>
          </p:sp>
          <p:cxnSp>
            <p:nvCxnSpPr>
              <p:cNvPr id="341" name="Straight Arrow Connector 340">
                <a:extLst>
                  <a:ext uri="{FF2B5EF4-FFF2-40B4-BE49-F238E27FC236}">
                    <a16:creationId xmlns:a16="http://schemas.microsoft.com/office/drawing/2014/main" id="{D9834F7B-9563-D43D-ED5D-6E7DAA9759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2310" y="4301572"/>
                <a:ext cx="300570" cy="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CA0E351B-B3EB-7DA4-1A06-3F0A95DA0F81}"/>
                  </a:ext>
                </a:extLst>
              </p:cNvPr>
              <p:cNvSpPr txBox="1"/>
              <p:nvPr/>
            </p:nvSpPr>
            <p:spPr bwMode="auto">
              <a:xfrm>
                <a:off x="9993477" y="4682812"/>
                <a:ext cx="304285" cy="290285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3265C17C-D77E-77FD-E25C-51419C67CA23}"/>
                  </a:ext>
                </a:extLst>
              </p:cNvPr>
              <p:cNvSpPr txBox="1"/>
              <p:nvPr/>
            </p:nvSpPr>
            <p:spPr bwMode="auto">
              <a:xfrm>
                <a:off x="10230285" y="4461282"/>
                <a:ext cx="59838" cy="290285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44" name="TextBox 149">
                <a:extLst>
                  <a:ext uri="{FF2B5EF4-FFF2-40B4-BE49-F238E27FC236}">
                    <a16:creationId xmlns:a16="http://schemas.microsoft.com/office/drawing/2014/main" id="{1815924F-238F-1AFC-DA8D-9CDF3E5E80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61187" y="4584377"/>
                <a:ext cx="455587" cy="2580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Gas</a:t>
                </a:r>
              </a:p>
            </p:txBody>
          </p:sp>
          <p:sp>
            <p:nvSpPr>
              <p:cNvPr id="345" name="TextBox 149">
                <a:extLst>
                  <a:ext uri="{FF2B5EF4-FFF2-40B4-BE49-F238E27FC236}">
                    <a16:creationId xmlns:a16="http://schemas.microsoft.com/office/drawing/2014/main" id="{B2BF0ED3-8549-69FD-0873-9A39D6CC1E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65389" y="3995746"/>
                <a:ext cx="455587" cy="2580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Gas</a:t>
                </a:r>
              </a:p>
            </p:txBody>
          </p:sp>
          <p:sp>
            <p:nvSpPr>
              <p:cNvPr id="346" name="TextBox 188">
                <a:extLst>
                  <a:ext uri="{FF2B5EF4-FFF2-40B4-BE49-F238E27FC236}">
                    <a16:creationId xmlns:a16="http://schemas.microsoft.com/office/drawing/2014/main" id="{97A09A8E-45C3-ADCE-99B0-C1CD42157C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05214" y="5817951"/>
                <a:ext cx="1258200" cy="3547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 Export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 Jetty (at </a:t>
                </a:r>
                <a:r>
                  <a:rPr kumimoji="0" lang="en-US" alt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Akabel</a:t>
                </a: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)</a:t>
                </a:r>
              </a:p>
            </p:txBody>
          </p: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421A16B1-D27D-1031-5E7E-B6E8F3CF71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9559" y="5547077"/>
                <a:ext cx="387161" cy="0"/>
              </a:xfrm>
              <a:prstGeom prst="line">
                <a:avLst/>
              </a:prstGeom>
              <a:ln w="63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Arrow Connector 347">
                <a:extLst>
                  <a:ext uri="{FF2B5EF4-FFF2-40B4-BE49-F238E27FC236}">
                    <a16:creationId xmlns:a16="http://schemas.microsoft.com/office/drawing/2014/main" id="{8B0F332F-2D40-E686-0FEE-D69678A2A7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1488" y="4221718"/>
                <a:ext cx="603628" cy="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9" name="Flowchart: Magnetic Disk 348">
                <a:extLst>
                  <a:ext uri="{FF2B5EF4-FFF2-40B4-BE49-F238E27FC236}">
                    <a16:creationId xmlns:a16="http://schemas.microsoft.com/office/drawing/2014/main" id="{FFF4FCAA-206E-6158-AAA0-65041D4EBAB9}"/>
                  </a:ext>
                </a:extLst>
              </p:cNvPr>
              <p:cNvSpPr/>
              <p:nvPr/>
            </p:nvSpPr>
            <p:spPr>
              <a:xfrm>
                <a:off x="7544779" y="5536011"/>
                <a:ext cx="350118" cy="263543"/>
              </a:xfrm>
              <a:prstGeom prst="flowChartMagneticDisk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50" name="TextBox 135">
                <a:extLst>
                  <a:ext uri="{FF2B5EF4-FFF2-40B4-BE49-F238E27FC236}">
                    <a16:creationId xmlns:a16="http://schemas.microsoft.com/office/drawing/2014/main" id="{B4216569-9857-5031-6CEE-D92D8B054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4020" y="5765457"/>
                <a:ext cx="914197" cy="338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9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ts val="9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Storage Tanks</a:t>
                </a:r>
              </a:p>
            </p:txBody>
          </p:sp>
          <p:sp>
            <p:nvSpPr>
              <p:cNvPr id="351" name="TextBox 149">
                <a:extLst>
                  <a:ext uri="{FF2B5EF4-FFF2-40B4-BE49-F238E27FC236}">
                    <a16:creationId xmlns:a16="http://schemas.microsoft.com/office/drawing/2014/main" id="{FC077281-BAED-453C-6B67-C7507174EB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37505" y="5686697"/>
                <a:ext cx="764687" cy="2096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</a:t>
                </a:r>
              </a:p>
            </p:txBody>
          </p:sp>
          <p:sp>
            <p:nvSpPr>
              <p:cNvPr id="352" name="Rounded Rectangle 55">
                <a:extLst>
                  <a:ext uri="{FF2B5EF4-FFF2-40B4-BE49-F238E27FC236}">
                    <a16:creationId xmlns:a16="http://schemas.microsoft.com/office/drawing/2014/main" id="{8764E7C1-D443-26BE-F85F-893A3FA60D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354" y="4062008"/>
                <a:ext cx="735427" cy="616214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Gas</a:t>
                </a:r>
                <a:b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</a:b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Processing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Facility 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(60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barg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)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500 MMscfd</a:t>
                </a:r>
              </a:p>
            </p:txBody>
          </p:sp>
          <p:sp>
            <p:nvSpPr>
              <p:cNvPr id="353" name="TextBox 149">
                <a:extLst>
                  <a:ext uri="{FF2B5EF4-FFF2-40B4-BE49-F238E27FC236}">
                    <a16:creationId xmlns:a16="http://schemas.microsoft.com/office/drawing/2014/main" id="{EC0BEF10-3BFA-F106-E358-CCFBA0C80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58779" y="5046022"/>
                <a:ext cx="832063" cy="1128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Fertilizer </a:t>
                </a:r>
                <a:r>
                  <a:rPr lang="en-US" altLang="en-US" sz="700" dirty="0">
                    <a:solidFill>
                      <a:prstClr val="black"/>
                    </a:solidFill>
                    <a:latin typeface="Futura Std Book" panose="020B0502020204020303"/>
                  </a:rPr>
                  <a:t>/ </a:t>
                </a: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FLNG</a:t>
                </a:r>
              </a:p>
            </p:txBody>
          </p:sp>
        </p:grpSp>
      </p:grpSp>
      <p:sp>
        <p:nvSpPr>
          <p:cNvPr id="354" name="TextBox 135">
            <a:extLst>
              <a:ext uri="{FF2B5EF4-FFF2-40B4-BE49-F238E27FC236}">
                <a16:creationId xmlns:a16="http://schemas.microsoft.com/office/drawing/2014/main" id="{D4959844-D771-F0F1-C063-7E54F9B1B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5889" y="4905146"/>
            <a:ext cx="609600" cy="19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Condensate</a:t>
            </a:r>
          </a:p>
        </p:txBody>
      </p:sp>
      <p:sp>
        <p:nvSpPr>
          <p:cNvPr id="355" name="TextBox 69">
            <a:extLst>
              <a:ext uri="{FF2B5EF4-FFF2-40B4-BE49-F238E27FC236}">
                <a16:creationId xmlns:a16="http://schemas.microsoft.com/office/drawing/2014/main" id="{CE49DADA-341E-649F-E4C5-9E5FE53B5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1895" y="304800"/>
            <a:ext cx="60174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Pipeline Scope Limit Definition &amp; Tie-in Point to GPP Inlet (Slug Catcher)</a:t>
            </a:r>
            <a:endParaRPr kumimoji="0" lang="en-US" altLang="en-US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sp>
        <p:nvSpPr>
          <p:cNvPr id="29" name="TextBox 103">
            <a:extLst>
              <a:ext uri="{FF2B5EF4-FFF2-40B4-BE49-F238E27FC236}">
                <a16:creationId xmlns:a16="http://schemas.microsoft.com/office/drawing/2014/main" id="{FB1B1D42-B615-839B-A268-544A9DBCD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7298" y="4005583"/>
            <a:ext cx="1153232" cy="19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Tie-In Point</a:t>
            </a:r>
          </a:p>
        </p:txBody>
      </p: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FD052401-A3F9-9401-3300-85646A1A0FEF}"/>
              </a:ext>
            </a:extLst>
          </p:cNvPr>
          <p:cNvCxnSpPr>
            <a:cxnSpLocks/>
          </p:cNvCxnSpPr>
          <p:nvPr/>
        </p:nvCxnSpPr>
        <p:spPr>
          <a:xfrm rot="10800000" flipH="1">
            <a:off x="5325202" y="3819483"/>
            <a:ext cx="134577" cy="227574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471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175">
          <a:solidFill>
            <a:schemeClr val="tx1"/>
          </a:solidFill>
          <a:headEnd type="diamond" w="med" len="med"/>
          <a:tailEnd type="none" w="med" len="med"/>
        </a:ln>
      </a:spPr>
      <a:bodyPr/>
      <a:lstStyle/>
      <a:style>
        <a:lnRef idx="1">
          <a:schemeClr val="accent3"/>
        </a:lnRef>
        <a:fillRef idx="0">
          <a:schemeClr val="accent3"/>
        </a:fillRef>
        <a:effectRef idx="0">
          <a:schemeClr val="accent3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175">
          <a:solidFill>
            <a:schemeClr val="tx1"/>
          </a:solidFill>
          <a:headEnd type="diamond" w="med" len="med"/>
          <a:tailEnd type="none" w="med" len="med"/>
        </a:ln>
      </a:spPr>
      <a:bodyPr/>
      <a:lstStyle/>
      <a:style>
        <a:lnRef idx="1">
          <a:schemeClr val="accent3"/>
        </a:lnRef>
        <a:fillRef idx="0">
          <a:schemeClr val="accent3"/>
        </a:fillRef>
        <a:effectRef idx="0">
          <a:schemeClr val="accent3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93557</TotalTime>
  <Words>406</Words>
  <Application>Microsoft Office PowerPoint</Application>
  <PresentationFormat>A4 Paper (210x297 mm)</PresentationFormat>
  <Paragraphs>123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Futura Md</vt:lpstr>
      <vt:lpstr>Futura Std Book</vt:lpstr>
      <vt:lpstr>Wingdings</vt:lpstr>
      <vt:lpstr>Office Theme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</dc:creator>
  <cp:lastModifiedBy>Aloy Duru</cp:lastModifiedBy>
  <cp:revision>2410</cp:revision>
  <cp:lastPrinted>2026-05-25T10:59:48Z</cp:lastPrinted>
  <dcterms:created xsi:type="dcterms:W3CDTF">2013-11-13T15:27:49Z</dcterms:created>
  <dcterms:modified xsi:type="dcterms:W3CDTF">2026-06-25T19:20:28Z</dcterms:modified>
</cp:coreProperties>
</file>